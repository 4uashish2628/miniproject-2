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fce348a7d4426e" /><Relationship Type="http://schemas.openxmlformats.org/officeDocument/2006/relationships/extended-properties" Target="/docProps/app.xml" Id="R540e702f89bf4af0" /><Relationship Type="http://schemas.openxmlformats.org/officeDocument/2006/relationships/officeDocument" Target="/ppt/presentation.xml" Id="Rb82e7659f5144a64" /></Relationships>
</file>

<file path=ppt/presentation.xml><?xml version="1.0" encoding="utf-8"?>
<p:presentation xmlns:p="http://schemas.openxmlformats.org/presentationml/2006/main">
  <p:sldMasterIdLst>
    <p:sldMasterId xmlns:r="http://schemas.openxmlformats.org/officeDocument/2006/relationships" id="2147483648" r:id="R6f84d0e9f4c24c5e"/>
  </p:sldMasterIdLst>
  <p:notesMasterIdLst>
    <p:notesMasterId xmlns:r="http://schemas.openxmlformats.org/officeDocument/2006/relationships" r:id="Rfb2514c49bf34572"/>
  </p:notesMasterIdLst>
  <p:sldIdLst>
    <p:sldId xmlns:r="http://schemas.openxmlformats.org/officeDocument/2006/relationships" id="256" r:id="Rd925749b863049c3"/>
    <p:sldId xmlns:r="http://schemas.openxmlformats.org/officeDocument/2006/relationships" id="257" r:id="R215454f2b4cc473a"/>
    <p:sldId xmlns:r="http://schemas.openxmlformats.org/officeDocument/2006/relationships" id="258" r:id="R12ef61a046a24c19"/>
    <p:sldId xmlns:r="http://schemas.openxmlformats.org/officeDocument/2006/relationships" id="259" r:id="R0865977858bf41b9"/>
    <p:sldId xmlns:r="http://schemas.openxmlformats.org/officeDocument/2006/relationships" id="260" r:id="R154aca64291c433a"/>
    <p:sldId xmlns:r="http://schemas.openxmlformats.org/officeDocument/2006/relationships" id="261" r:id="Rd1f77162ad1542ea"/>
    <p:sldId xmlns:r="http://schemas.openxmlformats.org/officeDocument/2006/relationships" id="262" r:id="R91aeacf529f64e32"/>
    <p:sldId xmlns:r="http://schemas.openxmlformats.org/officeDocument/2006/relationships" id="263" r:id="R83063d6075804a99"/>
    <p:sldId xmlns:r="http://schemas.openxmlformats.org/officeDocument/2006/relationships" id="264" r:id="R911f484a1f08450d"/>
    <p:sldId xmlns:r="http://schemas.openxmlformats.org/officeDocument/2006/relationships" id="265" r:id="R67c8c64134a74962"/>
    <p:sldId xmlns:r="http://schemas.openxmlformats.org/officeDocument/2006/relationships" id="266" r:id="Raeb738dff1f044fc"/>
    <p:sldId xmlns:r="http://schemas.openxmlformats.org/officeDocument/2006/relationships" id="267" r:id="R647e4154d5d3416f"/>
    <p:sldId xmlns:r="http://schemas.openxmlformats.org/officeDocument/2006/relationships" id="268" r:id="R51b13aa312794c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8b3b9b3d174ef1" /><Relationship Type="http://schemas.openxmlformats.org/officeDocument/2006/relationships/slideMaster" Target="/ppt/slideMasters/slideMaster1.xml" Id="R6f84d0e9f4c24c5e" /><Relationship Type="http://schemas.openxmlformats.org/officeDocument/2006/relationships/notesMaster" Target="/ppt/notesMasters/notesMaster1.xml" Id="Rfb2514c49bf34572" /><Relationship Type="http://schemas.openxmlformats.org/officeDocument/2006/relationships/presProps" Target="/ppt/presProps.xml" Id="R2e530d21cce242e0" /><Relationship Type="http://schemas.openxmlformats.org/officeDocument/2006/relationships/tableStyles" Target="/ppt/tableStyles.xml" Id="R54c4e373057d4916" /><Relationship Type="http://schemas.openxmlformats.org/officeDocument/2006/relationships/slide" Target="/ppt/slides/slide1.xml" Id="Rd925749b863049c3" /><Relationship Type="http://schemas.openxmlformats.org/officeDocument/2006/relationships/slide" Target="/ppt/slides/slide2.xml" Id="R215454f2b4cc473a" /><Relationship Type="http://schemas.openxmlformats.org/officeDocument/2006/relationships/slide" Target="/ppt/slides/slide3.xml" Id="R12ef61a046a24c19" /><Relationship Type="http://schemas.openxmlformats.org/officeDocument/2006/relationships/slide" Target="/ppt/slides/slide4.xml" Id="R0865977858bf41b9" /><Relationship Type="http://schemas.openxmlformats.org/officeDocument/2006/relationships/slide" Target="/ppt/slides/slide5.xml" Id="R154aca64291c433a" /><Relationship Type="http://schemas.openxmlformats.org/officeDocument/2006/relationships/slide" Target="/ppt/slides/slide6.xml" Id="Rd1f77162ad1542ea" /><Relationship Type="http://schemas.openxmlformats.org/officeDocument/2006/relationships/slide" Target="/ppt/slides/slide7.xml" Id="R91aeacf529f64e32" /><Relationship Type="http://schemas.openxmlformats.org/officeDocument/2006/relationships/slide" Target="/ppt/slides/slide8.xml" Id="R83063d6075804a99" /><Relationship Type="http://schemas.openxmlformats.org/officeDocument/2006/relationships/slide" Target="/ppt/slides/slide9.xml" Id="R911f484a1f08450d" /><Relationship Type="http://schemas.openxmlformats.org/officeDocument/2006/relationships/slide" Target="/ppt/slides/slide10.xml" Id="R67c8c64134a74962" /><Relationship Type="http://schemas.openxmlformats.org/officeDocument/2006/relationships/slide" Target="/ppt/slides/slide11.xml" Id="Raeb738dff1f044fc" /><Relationship Type="http://schemas.openxmlformats.org/officeDocument/2006/relationships/slide" Target="/ppt/slides/slide12.xml" Id="R647e4154d5d3416f" /><Relationship Type="http://schemas.openxmlformats.org/officeDocument/2006/relationships/slide" Target="/ppt/slides/slide13.xml" Id="R51b13aa312794c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297a92e35448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b2339cb26e4a1a" /><Relationship Type="http://schemas.openxmlformats.org/officeDocument/2006/relationships/notesMaster" Target="/ppt/notesMasters/notesMaster1.xml" Id="R424934feee6c44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b7609c994e40ac" /><Relationship Type="http://schemas.openxmlformats.org/officeDocument/2006/relationships/notesMaster" Target="/ppt/notesMasters/notesMaster1.xml" Id="R99e9620a5e3442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15f50d933c24d61" /><Relationship Type="http://schemas.openxmlformats.org/officeDocument/2006/relationships/notesMaster" Target="/ppt/notesMasters/notesMaster1.xml" Id="R14540d8b8d1847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ecd6cc32474217" /><Relationship Type="http://schemas.openxmlformats.org/officeDocument/2006/relationships/notesMaster" Target="/ppt/notesMasters/notesMaster1.xml" Id="R2781aed9c3144f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bedf7899c674300" /><Relationship Type="http://schemas.openxmlformats.org/officeDocument/2006/relationships/notesMaster" Target="/ppt/notesMasters/notesMaster1.xml" Id="R0312b182bb1343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c4148991024946" /><Relationship Type="http://schemas.openxmlformats.org/officeDocument/2006/relationships/notesMaster" Target="/ppt/notesMasters/notesMaster1.xml" Id="R4fbc67a836d94f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5867fdb2cf426e" /><Relationship Type="http://schemas.openxmlformats.org/officeDocument/2006/relationships/notesMaster" Target="/ppt/notesMasters/notesMaster1.xml" Id="Rd688261cf0f44d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6d344d21a04dd5" /><Relationship Type="http://schemas.openxmlformats.org/officeDocument/2006/relationships/notesMaster" Target="/ppt/notesMasters/notesMaster1.xml" Id="R9d0520e0190e48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7672889e7c94979" /><Relationship Type="http://schemas.openxmlformats.org/officeDocument/2006/relationships/notesMaster" Target="/ppt/notesMasters/notesMaster1.xml" Id="R83cdbe8d88324e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2be4475efc4340" /><Relationship Type="http://schemas.openxmlformats.org/officeDocument/2006/relationships/notesMaster" Target="/ppt/notesMasters/notesMaster1.xml" Id="R7dd46144235148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7493a2571204df5" /><Relationship Type="http://schemas.openxmlformats.org/officeDocument/2006/relationships/notesMaster" Target="/ppt/notesMasters/notesMaster1.xml" Id="Rb378b15176d945e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eadedf06f5d47b2" /><Relationship Type="http://schemas.openxmlformats.org/officeDocument/2006/relationships/notesMaster" Target="/ppt/notesMasters/notesMaster1.xml" Id="R6fda498c8468493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77df9312e204966" /><Relationship Type="http://schemas.openxmlformats.org/officeDocument/2006/relationships/notesMaster" Target="/ppt/notesMasters/notesMaster1.xml" Id="R604c1c213e014f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 the actual student names, roll numbers and supervisor before submission. The deck describes a working implementation and an evaluation plan. Real participant results remain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Pose estimation locates joints. Activity recognition assigns a label to movement. Our scope is deliberately restricted to six controlled activities and one fully visible person.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Bazarevsky et al., BlazePose: On-device Real-time Body Pose Tracking, 2020. https://arxiv.org/abs/2006.10204</a:t>
            </a:r>
          </a:p>
          <a:p xmlns:a="http://schemas.openxmlformats.org/drawingml/2006/main">
            <a:r>
              <a:t>[2] Arrowsmith et al., Physiotherapy Exercise Classification with Single-Camera Pose Detection and Machine Learning, Sensors 23(1), 363, 2023 issue. https://doi.org/10.3390/s23010363</a:t>
            </a:r>
          </a:p>
          <a:p xmlns:a="http://schemas.openxmlformats.org/drawingml/2006/main">
            <a:r>
              <a:t>[3] Google AI Edge Pose Landmarker web guide. https://ai.google.dev/edge/mediapipe/solutions/vision/pose_landmarker/web_js</a:t>
            </a:r>
          </a:p>
          <a:p xmlns:a="http://schemas.openxmlformats.org/drawingml/2006/main">
            <a:r>
              <a:t>The project reuses a pretrained pose detector and studies simpler motion features. It does not claim either paper’s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owns capture, MediaPipe inference and display. Python computes features, predicts and trains models. Video stays in the browser. After asset setup, inference does not require an internet service. The browser detector is synchronous and targets approximately 10 samples per second.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models see the same participant split and accepted windows. Static means window-mean pose geometry, not a single frame. The 18 features include eight joint angles and ten position/trunk measurements. Normalization corrects image aspect ratio, centers on the hips and divides by torso length.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accepted two-second window needs at least 12 valid frames, 85 percent valid coverage, at least 1.8 seconds of valid span and gaps no larger than 0.35 seconds. Core joint visibility must be at least 0.5. The forest vote score is uncalibrated. Unknown is an output state, not a trained class. Three consecutive predictions add roughly one second of confirmation delay.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Counters use live geometry only when the activity is confirmed. Squats require upright, bent and upright states. Jumping jacks require closed, open and closed arms and legs. Threshold hysteresis and a 0.6-second minimum count interval suppress noise. Tracking loss resets partial cycles. Repetition accuracy needs annotated continuous clips and is not included in window classification 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describes a collection target, not data already collected. Six participants, six activities and five eight-second clips produce 180 clips and 24 minutes of activity excluding setup. Use the same participant ID across all sessions. All sessions and views from one person stay in one split. More independent test participants would strengthen the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Random Forest settings: 200 trees, max depth 12, min_samples_leaf 2, balanced class weighting and seed 42. Validation selects a threshold from 0, .45, .55, .65, .75 by macro F1, preferring coverage of at least .7 when available. Test metrics include unknown errors. Always show coverage with accepted-only accuracy. Adjacent windows are correlated. No real participant experiment has been run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from the local PoseLab implementation. Procedural skeletons are labeled simulation and are not empirical activity-recognition evidence. Use the live webcam or a consented local video for the final presentation. Do not present simulated counts as measured human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implementation checks: 18 Python tests and four JavaScript tests passed. Procedural fixtures verify software mechanics only. A separate browser smoke test loaded the official local Lite bundle and detected 33 landmarks in Google’s public example image at https://storage.googleapis.com/mediapipe-assets/pose.jpg. The dashboard demonstrated synthetic recognition and repetition counting. Webcam accuracy on people has not been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that the software is implemented while participant evaluation remains. Camera perspective distorts projected angles. Small local data limits generalization. Unknown rejection cannot guarantee unfamiliar-action detection. The model is not a clinical assessor. Collect the planned data, freeze splits, run the experiment and report results before final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accessed 6 October 2026. The project’s results must be supplied by real measurements. Do not copy research-paper accuracy into the report. Institutional submission deadline: at least three working days before each presentation according to the supplied guidelines; official Table I was not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6c11dad9d346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0326963e4a4429" /><Relationship Type="http://schemas.openxmlformats.org/officeDocument/2006/relationships/slideLayout" Target="/ppt/slideLayouts/slideLayout1.xml" Id="Raec98fe012d642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c98fe012d642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097642500d4a80" /><Relationship Type="http://schemas.openxmlformats.org/officeDocument/2006/relationships/notesSlide" Target="/ppt/notesSlides/notesSlide1.xml" Id="R4e65f91cecfc43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60bc66c027435a" /><Relationship Type="http://schemas.openxmlformats.org/officeDocument/2006/relationships/notesSlide" Target="/ppt/notesSlides/notesSlide2.xml" Id="R9affa60172564b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3374d8ac06040ad" /><Relationship Type="http://schemas.openxmlformats.org/officeDocument/2006/relationships/notesSlide" Target="/ppt/notesSlides/notesSlide3.xml" Id="Rc4a223c62ac6421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550dcd868c24c01" /><Relationship Type="http://schemas.openxmlformats.org/officeDocument/2006/relationships/notesSlide" Target="/ppt/notesSlides/notesSlide4.xml" Id="R2cd92ad49a894a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f26e6ee7a6345f8" /><Relationship Type="http://schemas.openxmlformats.org/officeDocument/2006/relationships/notesSlide" Target="/ppt/notesSlides/notesSlide5.xml" Id="R7b4bccf2eae14d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de0e95a907c452b" /><Relationship Type="http://schemas.openxmlformats.org/officeDocument/2006/relationships/notesSlide" Target="/ppt/notesSlides/notesSlide6.xml" Id="R7317cd2fe4924d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802dd307b40449b" /><Relationship Type="http://schemas.openxmlformats.org/officeDocument/2006/relationships/notesSlide" Target="/ppt/notesSlides/notesSlide7.xml" Id="R51de04243e9240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557638da206464d" /><Relationship Type="http://schemas.openxmlformats.org/officeDocument/2006/relationships/notesSlide" Target="/ppt/notesSlides/notesSlide8.xml" Id="R7b8f5183044d45c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69e0fc3f9e74315" /><Relationship Type="http://schemas.openxmlformats.org/officeDocument/2006/relationships/notesSlide" Target="/ppt/notesSlides/notesSlide9.xml" Id="R8ae125bddc694e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03ddc2840e24666" /><Relationship Type="http://schemas.openxmlformats.org/officeDocument/2006/relationships/image" Target="/ppt/media/image.jpeg" Id="Rf1e7360332754510" /><Relationship Type="http://schemas.openxmlformats.org/officeDocument/2006/relationships/notesSlide" Target="/ppt/notesSlides/notesSlide10.xml" Id="R54584d321d4c4b1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ed1398bffe94633" /><Relationship Type="http://schemas.openxmlformats.org/officeDocument/2006/relationships/notesSlide" Target="/ppt/notesSlides/notesSlide11.xml" Id="R27ff1eae5495431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edc395e8d01430a" /><Relationship Type="http://schemas.openxmlformats.org/officeDocument/2006/relationships/notesSlide" Target="/ppt/notesSlides/notesSlide12.xml" Id="Rff4ef34c0d37415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1a14285cc744866" /><Relationship Type="http://schemas.openxmlformats.org/officeDocument/2006/relationships/notesSlide" Target="/ppt/notesSlides/notesSlide13.xml" Id="Ra1b326a37f1b4e81" /></Relationships>
</file>

<file path=ppt/slides/slide1.xml><?xml version="1.0" encoding="utf-8"?>
<p:sld xmlns:p="http://schemas.openxmlformats.org/presentationml/2006/main">
  <p:cSld>
    <p:bg>
      <p:bgPr>
        <a:solidFill xmlns:a="http://schemas.openxmlformats.org/drawingml/2006/main">
          <a:srgbClr val="182E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1055C06-3EF1-46C7-82CC-2BCA4F5CA554}"/>
              </a:ext>
            </a:extLst>
          </p:cNvPr>
          <p:cNvSpPr>
            <a:spLocks xmlns:a="http://schemas.openxmlformats.org/drawingml/2006/main" noGrp="1"/>
          </p:cNvSpPr>
          <p:nvPr/>
        </p:nvSpPr>
        <p:spPr>
          <a:xfrm xmlns:a="http://schemas.openxmlformats.org/drawingml/2006/main">
            <a:off x="11144250" y="62865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6E998"/>
                </a:solidFill>
                <a:latin typeface="Arial"/>
                <a:ea typeface="Arial"/>
                <a:cs typeface="Arial"/>
              </a:defRPr>
            </a:pPr>
            <a:r>
              <a:rPr sz="1200" b="0">
                <a:solidFill>
                  <a:srgbClr val="D6E998"/>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E88D3F2A-E82B-4D51-AC95-548AD5CB16E0}"/>
              </a:ext>
            </a:extLst>
          </p:cNvPr>
          <p:cNvSpPr>
            <a:spLocks xmlns:a="http://schemas.openxmlformats.org/drawingml/2006/main" noGrp="1"/>
          </p:cNvSpPr>
          <p:nvPr/>
        </p:nvSpPr>
        <p:spPr>
          <a:xfrm xmlns:a="http://schemas.openxmlformats.org/drawingml/2006/main">
            <a:off x="685800" y="66675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6E998"/>
                </a:solidFill>
                <a:latin typeface="Arial"/>
                <a:ea typeface="Arial"/>
                <a:cs typeface="Arial"/>
              </a:defRPr>
            </a:pPr>
            <a:r>
              <a:rPr sz="1725" b="1">
                <a:solidFill>
                  <a:srgbClr val="D6E998"/>
                </a:solidFill>
                <a:latin typeface="Arial"/>
                <a:ea typeface="Arial"/>
                <a:cs typeface="Arial"/>
              </a:rPr>
              <a:t>IIIT DHARWAD</a:t>
            </a:r>
          </a:p>
        </p:txBody>
      </p:sp>
      <p:sp>
        <p:nvSpPr>
          <p:cNvPr id="3" name="">
            <a:extLst xmlns:a="http://schemas.openxmlformats.org/drawingml/2006/main">
              <a:ext uri="{FF2B5EF4-FFF2-40B4-BE49-F238E27FC236}">
                <a16:creationId xmlns:a16="http://schemas.microsoft.com/office/drawing/2014/main" id="{4F952D48-23AA-47FB-88E4-F74413F00421}"/>
              </a:ext>
            </a:extLst>
          </p:cNvPr>
          <p:cNvSpPr>
            <a:spLocks xmlns:a="http://schemas.openxmlformats.org/drawingml/2006/main" noGrp="1"/>
          </p:cNvSpPr>
          <p:nvPr/>
        </p:nvSpPr>
        <p:spPr>
          <a:xfrm xmlns:a="http://schemas.openxmlformats.org/drawingml/2006/main">
            <a:off x="685800" y="1809750"/>
            <a:ext cx="1076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Human Activity Recognition</a:t>
            </a:r>
          </a:p>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Using Pose Estimation</a:t>
            </a:r>
          </a:p>
        </p:txBody>
      </p:sp>
      <p:sp>
        <p:nvSpPr>
          <p:cNvPr id="4" name="">
            <a:extLst xmlns:a="http://schemas.openxmlformats.org/drawingml/2006/main">
              <a:ext uri="{FF2B5EF4-FFF2-40B4-BE49-F238E27FC236}">
                <a16:creationId xmlns:a16="http://schemas.microsoft.com/office/drawing/2014/main" id="{876DEDFC-C2E6-4C20-87A1-75F85CB4F574}"/>
              </a:ext>
            </a:extLst>
          </p:cNvPr>
          <p:cNvSpPr>
            <a:spLocks xmlns:a="http://schemas.openxmlformats.org/drawingml/2006/main" noGrp="1"/>
          </p:cNvSpPr>
          <p:nvPr/>
        </p:nvSpPr>
        <p:spPr>
          <a:xfrm xmlns:a="http://schemas.openxmlformats.org/drawingml/2006/main">
            <a:off x="685800" y="4029075"/>
            <a:ext cx="904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D6E998"/>
                </a:solidFill>
                <a:latin typeface="Arial"/>
                <a:ea typeface="Arial"/>
                <a:cs typeface="Arial"/>
              </a:defRPr>
            </a:pPr>
            <a:r>
              <a:rPr sz="2850" b="0">
                <a:solidFill>
                  <a:srgbClr val="D6E998"/>
                </a:solidFill>
                <a:latin typeface="Arial"/>
                <a:ea typeface="Arial"/>
                <a:cs typeface="Arial"/>
              </a:rPr>
              <a:t>PoseLab</a:t>
            </a:r>
          </a:p>
        </p:txBody>
      </p:sp>
      <p:sp>
        <p:nvSpPr>
          <p:cNvPr id="5" name="">
            <a:extLst xmlns:a="http://schemas.openxmlformats.org/drawingml/2006/main">
              <a:ext uri="{FF2B5EF4-FFF2-40B4-BE49-F238E27FC236}">
                <a16:creationId xmlns:a16="http://schemas.microsoft.com/office/drawing/2014/main" id="{FF5DAE13-AA46-41A0-AB20-FFB6EDF4659F}"/>
              </a:ext>
            </a:extLst>
          </p:cNvPr>
          <p:cNvSpPr>
            <a:spLocks xmlns:a="http://schemas.openxmlformats.org/drawingml/2006/main" noGrp="1"/>
          </p:cNvSpPr>
          <p:nvPr/>
        </p:nvSpPr>
        <p:spPr>
          <a:xfrm xmlns:a="http://schemas.openxmlformats.org/drawingml/2006/main">
            <a:off x="685800" y="5334000"/>
            <a:ext cx="952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3DFDB"/>
                </a:solidFill>
                <a:latin typeface="Arial"/>
                <a:ea typeface="Arial"/>
                <a:cs typeface="Arial"/>
              </a:defRPr>
            </a:pPr>
            <a:r>
              <a:rPr sz="1800" b="0">
                <a:solidFill>
                  <a:srgbClr val="D3DFDB"/>
                </a:solidFill>
                <a:latin typeface="Arial"/>
                <a:ea typeface="Arial"/>
                <a:cs typeface="Arial"/>
              </a:rPr>
              <a:t>Mini Project II   /   Seventh semester</a:t>
            </a:r>
          </a:p>
          <a:p xmlns:a="http://schemas.openxmlformats.org/drawingml/2006/main">
            <a:pPr>
              <a:defRPr sz="1800" b="0">
                <a:solidFill>
                  <a:srgbClr val="D3DFDB"/>
                </a:solidFill>
                <a:latin typeface="Arial"/>
                <a:ea typeface="Arial"/>
                <a:cs typeface="Arial"/>
              </a:defRPr>
            </a:pPr>
            <a:r>
              <a:rPr sz="1800" b="0">
                <a:solidFill>
                  <a:srgbClr val="D3DFDB"/>
                </a:solidFill>
                <a:latin typeface="Arial"/>
                <a:ea typeface="Arial"/>
                <a:cs typeface="Arial"/>
              </a:rPr>
              <a:t>August to November 2026</a:t>
            </a:r>
          </a:p>
        </p:txBody>
      </p:sp>
    </p:spTree>
    <p:extLst>
      <p:ext uri="{BB962C8B-B14F-4D97-AF65-F5344CB8AC3E}">
        <p14:creationId xmlns:p14="http://schemas.microsoft.com/office/powerpoint/2010/main" val="1889306630"/>
      </p:ext>
    </p:extLst>
  </p:cSld>
</p:sld>
</file>

<file path=ppt/slides/slide2.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C860A20-C9B3-4505-B136-C65582D595F6}"/>
              </a:ext>
            </a:extLst>
          </p:cNvPr>
          <p:cNvSpPr>
            <a:spLocks xmlns:a="http://schemas.openxmlformats.org/drawingml/2006/main" noGrp="1"/>
          </p:cNvSpPr>
          <p:nvPr/>
        </p:nvSpPr>
        <p:spPr>
          <a:xfrm xmlns:a="http://schemas.openxmlformats.org/drawingml/2006/main">
            <a:off x="647700" y="4572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E35"/>
                </a:solidFill>
                <a:latin typeface="Arial"/>
                <a:ea typeface="Arial"/>
                <a:cs typeface="Arial"/>
              </a:defRPr>
            </a:pPr>
            <a:r>
              <a:rPr sz="3300" b="1">
                <a:solidFill>
                  <a:srgbClr val="182E35"/>
                </a:solidFill>
                <a:latin typeface="Arial"/>
                <a:ea typeface="Arial"/>
                <a:cs typeface="Arial"/>
              </a:rPr>
              <a:t>Project scope</a:t>
            </a:r>
          </a:p>
        </p:txBody>
      </p:sp>
      <p:sp>
        <p:nvSpPr>
          <p:cNvPr id="2" name="">
            <a:extLst xmlns:a="http://schemas.openxmlformats.org/drawingml/2006/main">
              <a:ext uri="{FF2B5EF4-FFF2-40B4-BE49-F238E27FC236}">
                <a16:creationId xmlns:a16="http://schemas.microsoft.com/office/drawing/2014/main" id="{4C4268F7-A45F-4772-BAE3-43CDA80BC5A9}"/>
              </a:ext>
            </a:extLst>
          </p:cNvPr>
          <p:cNvSpPr>
            <a:spLocks xmlns:a="http://schemas.openxmlformats.org/drawingml/2006/main" noGrp="1"/>
          </p:cNvSpPr>
          <p:nvPr/>
        </p:nvSpPr>
        <p:spPr>
          <a:xfrm xmlns:a="http://schemas.openxmlformats.org/drawingml/2006/main">
            <a:off x="11144250" y="62865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96D"/>
                </a:solidFill>
                <a:latin typeface="Arial"/>
                <a:ea typeface="Arial"/>
                <a:cs typeface="Arial"/>
              </a:defRPr>
            </a:pPr>
            <a:r>
              <a:rPr sz="1200" b="0">
                <a:solidFill>
                  <a:srgbClr val="53696D"/>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AF3D5667-0817-466D-BBA6-43E11CCAAFF0}"/>
              </a:ext>
            </a:extLst>
          </p:cNvPr>
          <p:cNvSpPr>
            <a:spLocks xmlns:a="http://schemas.openxmlformats.org/drawingml/2006/main" noGrp="1"/>
          </p:cNvSpPr>
          <p:nvPr/>
        </p:nvSpPr>
        <p:spPr>
          <a:xfrm xmlns:a="http://schemas.openxmlformats.org/drawingml/2006/main">
            <a:off x="685800" y="14954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B6654"/>
                </a:solidFill>
                <a:latin typeface="Arial"/>
                <a:ea typeface="Arial"/>
                <a:cs typeface="Arial"/>
              </a:defRPr>
            </a:pPr>
            <a:r>
              <a:rPr sz="2550" b="1">
                <a:solidFill>
                  <a:srgbClr val="2B6654"/>
                </a:solidFill>
                <a:latin typeface="Arial"/>
                <a:ea typeface="Arial"/>
                <a:cs typeface="Arial"/>
              </a:rPr>
              <a:t>Six activities from an ordinary camera</a:t>
            </a:r>
          </a:p>
        </p:txBody>
      </p:sp>
      <p:sp>
        <p:nvSpPr>
          <p:cNvPr id="4" name="">
            <a:extLst xmlns:a="http://schemas.openxmlformats.org/drawingml/2006/main">
              <a:ext uri="{FF2B5EF4-FFF2-40B4-BE49-F238E27FC236}">
                <a16:creationId xmlns:a16="http://schemas.microsoft.com/office/drawing/2014/main" id="{89FD805B-5173-46F8-83B2-2F80860E81D4}"/>
              </a:ext>
            </a:extLst>
          </p:cNvPr>
          <p:cNvSpPr>
            <a:spLocks xmlns:a="http://schemas.openxmlformats.org/drawingml/2006/main" noGrp="1"/>
          </p:cNvSpPr>
          <p:nvPr/>
        </p:nvSpPr>
        <p:spPr>
          <a:xfrm xmlns:a="http://schemas.openxmlformats.org/drawingml/2006/main">
            <a:off x="685800" y="2571750"/>
            <a:ext cx="5238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82E35"/>
                </a:solidFill>
                <a:latin typeface="Arial"/>
                <a:ea typeface="Arial"/>
                <a:cs typeface="Arial"/>
              </a:defRPr>
            </a:pPr>
            <a:r>
              <a:rPr sz="2550" b="0">
                <a:solidFill>
                  <a:srgbClr val="182E35"/>
                </a:solidFill>
                <a:latin typeface="Arial"/>
                <a:ea typeface="Arial"/>
                <a:cs typeface="Arial"/>
              </a:rPr>
              <a:t>Standing</a:t>
            </a:r>
          </a:p>
          <a:p xmlns:a="http://schemas.openxmlformats.org/drawingml/2006/main">
            <a:pPr>
              <a:defRPr sz="2550" b="0">
                <a:solidFill>
                  <a:srgbClr val="182E35"/>
                </a:solidFill>
                <a:latin typeface="Arial"/>
                <a:ea typeface="Arial"/>
                <a:cs typeface="Arial"/>
              </a:defRPr>
            </a:pPr>
            <a:r>
              <a:rPr sz="2550" b="0">
                <a:solidFill>
                  <a:srgbClr val="182E35"/>
                </a:solidFill>
                <a:latin typeface="Arial"/>
                <a:ea typeface="Arial"/>
                <a:cs typeface="Arial"/>
              </a:rPr>
              <a:t>Sitting</a:t>
            </a:r>
          </a:p>
          <a:p xmlns:a="http://schemas.openxmlformats.org/drawingml/2006/main">
            <a:pPr>
              <a:defRPr sz="2550" b="0">
                <a:solidFill>
                  <a:srgbClr val="182E35"/>
                </a:solidFill>
                <a:latin typeface="Arial"/>
                <a:ea typeface="Arial"/>
                <a:cs typeface="Arial"/>
              </a:defRPr>
            </a:pPr>
            <a:r>
              <a:rPr sz="2550" b="0">
                <a:solidFill>
                  <a:srgbClr val="182E35"/>
                </a:solidFill>
                <a:latin typeface="Arial"/>
                <a:ea typeface="Arial"/>
                <a:cs typeface="Arial"/>
              </a:rPr>
              <a:t>Marching in place</a:t>
            </a:r>
          </a:p>
        </p:txBody>
      </p:sp>
      <p:sp>
        <p:nvSpPr>
          <p:cNvPr id="5" name="">
            <a:extLst xmlns:a="http://schemas.openxmlformats.org/drawingml/2006/main">
              <a:ext uri="{FF2B5EF4-FFF2-40B4-BE49-F238E27FC236}">
                <a16:creationId xmlns:a16="http://schemas.microsoft.com/office/drawing/2014/main" id="{09E28B87-591F-4D37-ACAD-C14F909C83D8}"/>
              </a:ext>
            </a:extLst>
          </p:cNvPr>
          <p:cNvSpPr>
            <a:spLocks xmlns:a="http://schemas.openxmlformats.org/drawingml/2006/main" noGrp="1"/>
          </p:cNvSpPr>
          <p:nvPr/>
        </p:nvSpPr>
        <p:spPr>
          <a:xfrm xmlns:a="http://schemas.openxmlformats.org/drawingml/2006/main">
            <a:off x="6515100" y="2571750"/>
            <a:ext cx="4857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82E35"/>
                </a:solidFill>
                <a:latin typeface="Arial"/>
                <a:ea typeface="Arial"/>
                <a:cs typeface="Arial"/>
              </a:defRPr>
            </a:pPr>
            <a:r>
              <a:rPr sz="2550" b="0">
                <a:solidFill>
                  <a:srgbClr val="182E35"/>
                </a:solidFill>
                <a:latin typeface="Arial"/>
                <a:ea typeface="Arial"/>
                <a:cs typeface="Arial"/>
              </a:rPr>
              <a:t>Squats</a:t>
            </a:r>
          </a:p>
          <a:p xmlns:a="http://schemas.openxmlformats.org/drawingml/2006/main">
            <a:pPr>
              <a:defRPr sz="2550" b="0">
                <a:solidFill>
                  <a:srgbClr val="182E35"/>
                </a:solidFill>
                <a:latin typeface="Arial"/>
                <a:ea typeface="Arial"/>
                <a:cs typeface="Arial"/>
              </a:defRPr>
            </a:pPr>
            <a:r>
              <a:rPr sz="2550" b="0">
                <a:solidFill>
                  <a:srgbClr val="182E35"/>
                </a:solidFill>
                <a:latin typeface="Arial"/>
                <a:ea typeface="Arial"/>
                <a:cs typeface="Arial"/>
              </a:rPr>
              <a:t>Jumping jacks</a:t>
            </a:r>
          </a:p>
          <a:p xmlns:a="http://schemas.openxmlformats.org/drawingml/2006/main">
            <a:pPr>
              <a:defRPr sz="2550" b="0">
                <a:solidFill>
                  <a:srgbClr val="182E35"/>
                </a:solidFill>
                <a:latin typeface="Arial"/>
                <a:ea typeface="Arial"/>
                <a:cs typeface="Arial"/>
              </a:defRPr>
            </a:pPr>
            <a:r>
              <a:rPr sz="2550" b="0">
                <a:solidFill>
                  <a:srgbClr val="182E35"/>
                </a:solidFill>
                <a:latin typeface="Arial"/>
                <a:ea typeface="Arial"/>
                <a:cs typeface="Arial"/>
              </a:rPr>
              <a:t>Waving</a:t>
            </a:r>
          </a:p>
        </p:txBody>
      </p:sp>
      <p:sp>
        <p:nvSpPr>
          <p:cNvPr id="6" name="">
            <a:extLst xmlns:a="http://schemas.openxmlformats.org/drawingml/2006/main">
              <a:ext uri="{FF2B5EF4-FFF2-40B4-BE49-F238E27FC236}">
                <a16:creationId xmlns:a16="http://schemas.microsoft.com/office/drawing/2014/main" id="{974F452C-0E1E-470A-BA7A-3E52199CB853}"/>
              </a:ext>
            </a:extLst>
          </p:cNvPr>
          <p:cNvSpPr>
            <a:spLocks xmlns:a="http://schemas.openxmlformats.org/drawingml/2006/main" noGrp="1"/>
          </p:cNvSpPr>
          <p:nvPr/>
        </p:nvSpPr>
        <p:spPr>
          <a:xfrm xmlns:a="http://schemas.openxmlformats.org/drawingml/2006/main">
            <a:off x="685800" y="5476875"/>
            <a:ext cx="10810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96D"/>
                </a:solidFill>
                <a:latin typeface="Arial"/>
                <a:ea typeface="Arial"/>
                <a:cs typeface="Arial"/>
              </a:defRPr>
            </a:pPr>
            <a:r>
              <a:rPr sz="1950" b="0">
                <a:solidFill>
                  <a:srgbClr val="53696D"/>
                </a:solidFill>
                <a:latin typeface="Arial"/>
                <a:ea typeface="Arial"/>
                <a:cs typeface="Arial"/>
              </a:rPr>
              <a:t>Single person. Fixed camera. Full body in view.</a:t>
            </a:r>
          </a:p>
        </p:txBody>
      </p:sp>
    </p:spTree>
    <p:extLst>
      <p:ext uri="{BB962C8B-B14F-4D97-AF65-F5344CB8AC3E}">
        <p14:creationId xmlns:p14="http://schemas.microsoft.com/office/powerpoint/2010/main" val="2024890834"/>
      </p:ext>
    </p:extLst>
  </p:cSld>
</p:sld>
</file>

<file path=ppt/slides/slide3.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D17CD77-1F81-4209-97E4-CDE48AFE7444}"/>
              </a:ext>
            </a:extLst>
          </p:cNvPr>
          <p:cNvSpPr>
            <a:spLocks xmlns:a="http://schemas.openxmlformats.org/drawingml/2006/main" noGrp="1"/>
          </p:cNvSpPr>
          <p:nvPr/>
        </p:nvSpPr>
        <p:spPr>
          <a:xfrm xmlns:a="http://schemas.openxmlformats.org/drawingml/2006/main">
            <a:off x="647700" y="4572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E35"/>
                </a:solidFill>
                <a:latin typeface="Arial"/>
                <a:ea typeface="Arial"/>
                <a:cs typeface="Arial"/>
              </a:defRPr>
            </a:pPr>
            <a:r>
              <a:rPr sz="3300" b="1">
                <a:solidFill>
                  <a:srgbClr val="182E35"/>
                </a:solidFill>
                <a:latin typeface="Arial"/>
                <a:ea typeface="Arial"/>
                <a:cs typeface="Arial"/>
              </a:rPr>
              <a:t>Research foundation</a:t>
            </a:r>
          </a:p>
        </p:txBody>
      </p:sp>
      <p:sp>
        <p:nvSpPr>
          <p:cNvPr id="2" name="">
            <a:extLst xmlns:a="http://schemas.openxmlformats.org/drawingml/2006/main">
              <a:ext uri="{FF2B5EF4-FFF2-40B4-BE49-F238E27FC236}">
                <a16:creationId xmlns:a16="http://schemas.microsoft.com/office/drawing/2014/main" id="{841450B5-A9F6-4584-96F8-81DEB17746E4}"/>
              </a:ext>
            </a:extLst>
          </p:cNvPr>
          <p:cNvSpPr>
            <a:spLocks xmlns:a="http://schemas.openxmlformats.org/drawingml/2006/main" noGrp="1"/>
          </p:cNvSpPr>
          <p:nvPr/>
        </p:nvSpPr>
        <p:spPr>
          <a:xfrm xmlns:a="http://schemas.openxmlformats.org/drawingml/2006/main">
            <a:off x="11144250" y="62865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96D"/>
                </a:solidFill>
                <a:latin typeface="Arial"/>
                <a:ea typeface="Arial"/>
                <a:cs typeface="Arial"/>
              </a:defRPr>
            </a:pPr>
            <a:r>
              <a:rPr sz="1200" b="0">
                <a:solidFill>
                  <a:srgbClr val="53696D"/>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1C5A60DD-127A-408F-BAFD-BD011D33A7D2}"/>
              </a:ext>
            </a:extLst>
          </p:cNvPr>
          <p:cNvSpPr>
            <a:spLocks xmlns:a="http://schemas.openxmlformats.org/drawingml/2006/main" noGrp="1"/>
          </p:cNvSpPr>
          <p:nvPr/>
        </p:nvSpPr>
        <p:spPr>
          <a:xfrm xmlns:a="http://schemas.openxmlformats.org/drawingml/2006/main">
            <a:off x="685800" y="15716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B6654"/>
                </a:solidFill>
                <a:latin typeface="Arial"/>
                <a:ea typeface="Arial"/>
                <a:cs typeface="Arial"/>
              </a:defRPr>
            </a:pPr>
            <a:r>
              <a:rPr sz="1950" b="1">
                <a:solidFill>
                  <a:srgbClr val="2B6654"/>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659F78A7-3DCF-43C9-88EB-716C3708E76B}"/>
              </a:ext>
            </a:extLst>
          </p:cNvPr>
          <p:cNvSpPr>
            <a:spLocks xmlns:a="http://schemas.openxmlformats.org/drawingml/2006/main" noGrp="1"/>
          </p:cNvSpPr>
          <p:nvPr/>
        </p:nvSpPr>
        <p:spPr>
          <a:xfrm xmlns:a="http://schemas.openxmlformats.org/drawingml/2006/main">
            <a:off x="1428750" y="1571625"/>
            <a:ext cx="962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2E35"/>
                </a:solidFill>
                <a:latin typeface="Arial"/>
                <a:ea typeface="Arial"/>
                <a:cs typeface="Arial"/>
              </a:defRPr>
            </a:pPr>
            <a:r>
              <a:rPr sz="2175" b="1">
                <a:solidFill>
                  <a:srgbClr val="182E35"/>
                </a:solidFill>
                <a:latin typeface="Arial"/>
                <a:ea typeface="Arial"/>
                <a:cs typeface="Arial"/>
              </a:rPr>
              <a:t>BlazePose and MediaPipe</a:t>
            </a:r>
          </a:p>
        </p:txBody>
      </p:sp>
      <p:sp>
        <p:nvSpPr>
          <p:cNvPr id="5" name="">
            <a:extLst xmlns:a="http://schemas.openxmlformats.org/drawingml/2006/main">
              <a:ext uri="{FF2B5EF4-FFF2-40B4-BE49-F238E27FC236}">
                <a16:creationId xmlns:a16="http://schemas.microsoft.com/office/drawing/2014/main" id="{F65128BD-69C0-441E-A95A-E4AA95CFEE6F}"/>
              </a:ext>
            </a:extLst>
          </p:cNvPr>
          <p:cNvSpPr>
            <a:spLocks xmlns:a="http://schemas.openxmlformats.org/drawingml/2006/main" noGrp="1"/>
          </p:cNvSpPr>
          <p:nvPr/>
        </p:nvSpPr>
        <p:spPr>
          <a:xfrm xmlns:a="http://schemas.openxmlformats.org/drawingml/2006/main">
            <a:off x="1428750" y="2028825"/>
            <a:ext cx="952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96D"/>
                </a:solidFill>
                <a:latin typeface="Arial"/>
                <a:ea typeface="Arial"/>
                <a:cs typeface="Arial"/>
              </a:defRPr>
            </a:pPr>
            <a:r>
              <a:rPr sz="1875" b="0">
                <a:solidFill>
                  <a:srgbClr val="53696D"/>
                </a:solidFill>
                <a:latin typeface="Arial"/>
                <a:ea typeface="Arial"/>
                <a:cs typeface="Arial"/>
              </a:rPr>
              <a:t>A pretrained detector estimates 33 body landmarks.</a:t>
            </a:r>
          </a:p>
        </p:txBody>
      </p:sp>
      <p:sp>
        <p:nvSpPr>
          <p:cNvPr id="6" name="">
            <a:extLst xmlns:a="http://schemas.openxmlformats.org/drawingml/2006/main">
              <a:ext uri="{FF2B5EF4-FFF2-40B4-BE49-F238E27FC236}">
                <a16:creationId xmlns:a16="http://schemas.microsoft.com/office/drawing/2014/main" id="{0ABC643B-BB69-4402-8484-13EBA6D8950B}"/>
              </a:ext>
            </a:extLst>
          </p:cNvPr>
          <p:cNvSpPr>
            <a:spLocks xmlns:a="http://schemas.openxmlformats.org/drawingml/2006/main" noGrp="1"/>
          </p:cNvSpPr>
          <p:nvPr/>
        </p:nvSpPr>
        <p:spPr>
          <a:xfrm xmlns:a="http://schemas.openxmlformats.org/drawingml/2006/main">
            <a:off x="685800" y="2952750"/>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B6654"/>
                </a:solidFill>
                <a:latin typeface="Arial"/>
                <a:ea typeface="Arial"/>
                <a:cs typeface="Arial"/>
              </a:defRPr>
            </a:pPr>
            <a:r>
              <a:rPr sz="1950" b="1">
                <a:solidFill>
                  <a:srgbClr val="2B6654"/>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BEC6D6BE-1244-4EA4-A663-A2A6DE2FDBC4}"/>
              </a:ext>
            </a:extLst>
          </p:cNvPr>
          <p:cNvSpPr>
            <a:spLocks xmlns:a="http://schemas.openxmlformats.org/drawingml/2006/main" noGrp="1"/>
          </p:cNvSpPr>
          <p:nvPr/>
        </p:nvSpPr>
        <p:spPr>
          <a:xfrm xmlns:a="http://schemas.openxmlformats.org/drawingml/2006/main">
            <a:off x="1428750" y="2952750"/>
            <a:ext cx="962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2E35"/>
                </a:solidFill>
                <a:latin typeface="Arial"/>
                <a:ea typeface="Arial"/>
                <a:cs typeface="Arial"/>
              </a:defRPr>
            </a:pPr>
            <a:r>
              <a:rPr sz="2175" b="1">
                <a:solidFill>
                  <a:srgbClr val="182E35"/>
                </a:solidFill>
                <a:latin typeface="Arial"/>
                <a:ea typeface="Arial"/>
                <a:cs typeface="Arial"/>
              </a:rPr>
              <a:t>Landmark sequence classification</a:t>
            </a:r>
          </a:p>
        </p:txBody>
      </p:sp>
      <p:sp>
        <p:nvSpPr>
          <p:cNvPr id="8" name="">
            <a:extLst xmlns:a="http://schemas.openxmlformats.org/drawingml/2006/main">
              <a:ext uri="{FF2B5EF4-FFF2-40B4-BE49-F238E27FC236}">
                <a16:creationId xmlns:a16="http://schemas.microsoft.com/office/drawing/2014/main" id="{ACC61FB3-5F2F-4456-9A8B-FDA99DDA9C67}"/>
              </a:ext>
            </a:extLst>
          </p:cNvPr>
          <p:cNvSpPr>
            <a:spLocks xmlns:a="http://schemas.openxmlformats.org/drawingml/2006/main" noGrp="1"/>
          </p:cNvSpPr>
          <p:nvPr/>
        </p:nvSpPr>
        <p:spPr>
          <a:xfrm xmlns:a="http://schemas.openxmlformats.org/drawingml/2006/main">
            <a:off x="1428750" y="3409950"/>
            <a:ext cx="952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96D"/>
                </a:solidFill>
                <a:latin typeface="Arial"/>
                <a:ea typeface="Arial"/>
                <a:cs typeface="Arial"/>
              </a:defRPr>
            </a:pPr>
            <a:r>
              <a:rPr sz="1875" b="0">
                <a:solidFill>
                  <a:srgbClr val="53696D"/>
                </a:solidFill>
                <a:latin typeface="Arial"/>
                <a:ea typeface="Arial"/>
                <a:cs typeface="Arial"/>
              </a:rPr>
              <a:t>Prior work motivates recognizing exercise from keypoint time series.</a:t>
            </a:r>
          </a:p>
        </p:txBody>
      </p:sp>
      <p:sp>
        <p:nvSpPr>
          <p:cNvPr id="9" name="">
            <a:extLst xmlns:a="http://schemas.openxmlformats.org/drawingml/2006/main">
              <a:ext uri="{FF2B5EF4-FFF2-40B4-BE49-F238E27FC236}">
                <a16:creationId xmlns:a16="http://schemas.microsoft.com/office/drawing/2014/main" id="{AA495856-C536-454F-81FB-5AE049CC7351}"/>
              </a:ext>
            </a:extLst>
          </p:cNvPr>
          <p:cNvSpPr>
            <a:spLocks xmlns:a="http://schemas.openxmlformats.org/drawingml/2006/main" noGrp="1"/>
          </p:cNvSpPr>
          <p:nvPr/>
        </p:nvSpPr>
        <p:spPr>
          <a:xfrm xmlns:a="http://schemas.openxmlformats.org/drawingml/2006/main">
            <a:off x="685800" y="43338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B6654"/>
                </a:solidFill>
                <a:latin typeface="Arial"/>
                <a:ea typeface="Arial"/>
                <a:cs typeface="Arial"/>
              </a:defRPr>
            </a:pPr>
            <a:r>
              <a:rPr sz="1950" b="1">
                <a:solidFill>
                  <a:srgbClr val="2B6654"/>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377BDCFE-5C8F-49A9-AA1F-58DEFF07507C}"/>
              </a:ext>
            </a:extLst>
          </p:cNvPr>
          <p:cNvSpPr>
            <a:spLocks xmlns:a="http://schemas.openxmlformats.org/drawingml/2006/main" noGrp="1"/>
          </p:cNvSpPr>
          <p:nvPr/>
        </p:nvSpPr>
        <p:spPr>
          <a:xfrm xmlns:a="http://schemas.openxmlformats.org/drawingml/2006/main">
            <a:off x="1428750" y="4333875"/>
            <a:ext cx="962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2E35"/>
                </a:solidFill>
                <a:latin typeface="Arial"/>
                <a:ea typeface="Arial"/>
                <a:cs typeface="Arial"/>
              </a:defRPr>
            </a:pPr>
            <a:r>
              <a:rPr sz="2175" b="1">
                <a:solidFill>
                  <a:srgbClr val="182E35"/>
                </a:solidFill>
                <a:latin typeface="Arial"/>
                <a:ea typeface="Arial"/>
                <a:cs typeface="Arial"/>
              </a:rPr>
              <a:t>Our study</a:t>
            </a:r>
          </a:p>
        </p:txBody>
      </p:sp>
      <p:sp>
        <p:nvSpPr>
          <p:cNvPr id="11" name="">
            <a:extLst xmlns:a="http://schemas.openxmlformats.org/drawingml/2006/main">
              <a:ext uri="{FF2B5EF4-FFF2-40B4-BE49-F238E27FC236}">
                <a16:creationId xmlns:a16="http://schemas.microsoft.com/office/drawing/2014/main" id="{7EC02CAD-D961-4906-B8BB-7EF8600510AA}"/>
              </a:ext>
            </a:extLst>
          </p:cNvPr>
          <p:cNvSpPr>
            <a:spLocks xmlns:a="http://schemas.openxmlformats.org/drawingml/2006/main" noGrp="1"/>
          </p:cNvSpPr>
          <p:nvPr/>
        </p:nvSpPr>
        <p:spPr>
          <a:xfrm xmlns:a="http://schemas.openxmlformats.org/drawingml/2006/main">
            <a:off x="1428750" y="4791075"/>
            <a:ext cx="952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96D"/>
                </a:solidFill>
                <a:latin typeface="Arial"/>
                <a:ea typeface="Arial"/>
                <a:cs typeface="Arial"/>
              </a:defRPr>
            </a:pPr>
            <a:r>
              <a:rPr sz="1875" b="0">
                <a:solidFill>
                  <a:srgbClr val="53696D"/>
                </a:solidFill>
                <a:latin typeface="Arial"/>
                <a:ea typeface="Arial"/>
                <a:cs typeface="Arial"/>
              </a:rPr>
              <a:t>Compare mean pose features with pose and motion features on unseen people.</a:t>
            </a:r>
          </a:p>
        </p:txBody>
      </p:sp>
    </p:spTree>
    <p:extLst>
      <p:ext uri="{BB962C8B-B14F-4D97-AF65-F5344CB8AC3E}">
        <p14:creationId xmlns:p14="http://schemas.microsoft.com/office/powerpoint/2010/main" val="515867692"/>
      </p:ext>
    </p:extLst>
  </p:cSld>
</p:sld>
</file>

<file path=ppt/slides/slide4.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07A91CD-83C6-4D00-A2D1-C3431658D250}"/>
              </a:ext>
            </a:extLst>
          </p:cNvPr>
          <p:cNvSpPr>
            <a:spLocks xmlns:a="http://schemas.openxmlformats.org/drawingml/2006/main" noGrp="1"/>
          </p:cNvSpPr>
          <p:nvPr/>
        </p:nvSpPr>
        <p:spPr>
          <a:xfrm xmlns:a="http://schemas.openxmlformats.org/drawingml/2006/main">
            <a:off x="647700" y="4572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E35"/>
                </a:solidFill>
                <a:latin typeface="Arial"/>
                <a:ea typeface="Arial"/>
                <a:cs typeface="Arial"/>
              </a:defRPr>
            </a:pPr>
            <a:r>
              <a:rPr sz="3300" b="1">
                <a:solidFill>
                  <a:srgbClr val="182E35"/>
                </a:solidFill>
                <a:latin typeface="Arial"/>
                <a:ea typeface="Arial"/>
                <a:cs typeface="Arial"/>
              </a:rPr>
              <a:t>Processing pipeline</a:t>
            </a:r>
          </a:p>
        </p:txBody>
      </p:sp>
      <p:sp>
        <p:nvSpPr>
          <p:cNvPr id="2" name="">
            <a:extLst xmlns:a="http://schemas.openxmlformats.org/drawingml/2006/main">
              <a:ext uri="{FF2B5EF4-FFF2-40B4-BE49-F238E27FC236}">
                <a16:creationId xmlns:a16="http://schemas.microsoft.com/office/drawing/2014/main" id="{A0780C8A-CBA3-487A-BB87-00747643FF95}"/>
              </a:ext>
            </a:extLst>
          </p:cNvPr>
          <p:cNvSpPr>
            <a:spLocks xmlns:a="http://schemas.openxmlformats.org/drawingml/2006/main" noGrp="1"/>
          </p:cNvSpPr>
          <p:nvPr/>
        </p:nvSpPr>
        <p:spPr>
          <a:xfrm xmlns:a="http://schemas.openxmlformats.org/drawingml/2006/main">
            <a:off x="11144250" y="62865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96D"/>
                </a:solidFill>
                <a:latin typeface="Arial"/>
                <a:ea typeface="Arial"/>
                <a:cs typeface="Arial"/>
              </a:defRPr>
            </a:pPr>
            <a:r>
              <a:rPr sz="1200" b="0">
                <a:solidFill>
                  <a:srgbClr val="53696D"/>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6D3B6AA5-B1C1-4875-99B4-D0CB7818500A}"/>
              </a:ext>
            </a:extLst>
          </p:cNvPr>
          <p:cNvSpPr>
            <a:spLocks xmlns:a="http://schemas.openxmlformats.org/drawingml/2006/main" noGrp="1"/>
          </p:cNvSpPr>
          <p:nvPr/>
        </p:nvSpPr>
        <p:spPr>
          <a:xfrm xmlns:a="http://schemas.openxmlformats.org/drawingml/2006/main">
            <a:off x="685800" y="15716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B6654"/>
                </a:solidFill>
                <a:latin typeface="Arial"/>
                <a:ea typeface="Arial"/>
                <a:cs typeface="Arial"/>
              </a:defRPr>
            </a:pPr>
            <a:r>
              <a:rPr sz="2175" b="1">
                <a:solidFill>
                  <a:srgbClr val="2B6654"/>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6D22F3EC-EC12-41EC-B780-5936B3E7380E}"/>
              </a:ext>
            </a:extLst>
          </p:cNvPr>
          <p:cNvSpPr>
            <a:spLocks xmlns:a="http://schemas.openxmlformats.org/drawingml/2006/main" noGrp="1"/>
          </p:cNvSpPr>
          <p:nvPr/>
        </p:nvSpPr>
        <p:spPr>
          <a:xfrm xmlns:a="http://schemas.openxmlformats.org/drawingml/2006/main">
            <a:off x="1666875" y="1571625"/>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2E35"/>
                </a:solidFill>
                <a:latin typeface="Arial"/>
                <a:ea typeface="Arial"/>
                <a:cs typeface="Arial"/>
              </a:defRPr>
            </a:pPr>
            <a:r>
              <a:rPr sz="2250" b="1">
                <a:solidFill>
                  <a:srgbClr val="182E35"/>
                </a:solidFill>
                <a:latin typeface="Arial"/>
                <a:ea typeface="Arial"/>
                <a:cs typeface="Arial"/>
              </a:rPr>
              <a:t>Capture</a:t>
            </a:r>
          </a:p>
        </p:txBody>
      </p:sp>
      <p:sp>
        <p:nvSpPr>
          <p:cNvPr id="5" name="">
            <a:extLst xmlns:a="http://schemas.openxmlformats.org/drawingml/2006/main">
              <a:ext uri="{FF2B5EF4-FFF2-40B4-BE49-F238E27FC236}">
                <a16:creationId xmlns:a16="http://schemas.microsoft.com/office/drawing/2014/main" id="{C294A8B1-2710-4931-99B4-3412B0945771}"/>
              </a:ext>
            </a:extLst>
          </p:cNvPr>
          <p:cNvSpPr>
            <a:spLocks xmlns:a="http://schemas.openxmlformats.org/drawingml/2006/main" noGrp="1"/>
          </p:cNvSpPr>
          <p:nvPr/>
        </p:nvSpPr>
        <p:spPr>
          <a:xfrm xmlns:a="http://schemas.openxmlformats.org/drawingml/2006/main">
            <a:off x="5410200" y="1571625"/>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96D"/>
                </a:solidFill>
                <a:latin typeface="Arial"/>
                <a:ea typeface="Arial"/>
                <a:cs typeface="Arial"/>
              </a:defRPr>
            </a:pPr>
            <a:r>
              <a:rPr sz="2025" b="0">
                <a:solidFill>
                  <a:srgbClr val="53696D"/>
                </a:solidFill>
                <a:latin typeface="Arial"/>
                <a:ea typeface="Arial"/>
                <a:cs typeface="Arial"/>
              </a:rPr>
              <a:t>Webcam or local video</a:t>
            </a:r>
          </a:p>
        </p:txBody>
      </p:sp>
      <p:sp>
        <p:nvSpPr>
          <p:cNvPr id="6" name="">
            <a:extLst xmlns:a="http://schemas.openxmlformats.org/drawingml/2006/main">
              <a:ext uri="{FF2B5EF4-FFF2-40B4-BE49-F238E27FC236}">
                <a16:creationId xmlns:a16="http://schemas.microsoft.com/office/drawing/2014/main" id="{91A887EF-1AFC-491B-9F59-DE30ECB5493C}"/>
              </a:ext>
            </a:extLst>
          </p:cNvPr>
          <p:cNvSpPr>
            <a:spLocks xmlns:a="http://schemas.openxmlformats.org/drawingml/2006/main" noGrp="1"/>
          </p:cNvSpPr>
          <p:nvPr/>
        </p:nvSpPr>
        <p:spPr>
          <a:xfrm xmlns:a="http://schemas.openxmlformats.org/drawingml/2006/main">
            <a:off x="685800" y="24098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B6654"/>
                </a:solidFill>
                <a:latin typeface="Arial"/>
                <a:ea typeface="Arial"/>
                <a:cs typeface="Arial"/>
              </a:defRPr>
            </a:pPr>
            <a:r>
              <a:rPr sz="2175" b="1">
                <a:solidFill>
                  <a:srgbClr val="2B6654"/>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2D4EF380-C74C-456E-BEC8-1C88837E2812}"/>
              </a:ext>
            </a:extLst>
          </p:cNvPr>
          <p:cNvSpPr>
            <a:spLocks xmlns:a="http://schemas.openxmlformats.org/drawingml/2006/main" noGrp="1"/>
          </p:cNvSpPr>
          <p:nvPr/>
        </p:nvSpPr>
        <p:spPr>
          <a:xfrm xmlns:a="http://schemas.openxmlformats.org/drawingml/2006/main">
            <a:off x="1666875" y="2409825"/>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2E35"/>
                </a:solidFill>
                <a:latin typeface="Arial"/>
                <a:ea typeface="Arial"/>
                <a:cs typeface="Arial"/>
              </a:defRPr>
            </a:pPr>
            <a:r>
              <a:rPr sz="2250" b="1">
                <a:solidFill>
                  <a:srgbClr val="182E35"/>
                </a:solidFill>
                <a:latin typeface="Arial"/>
                <a:ea typeface="Arial"/>
                <a:cs typeface="Arial"/>
              </a:rPr>
              <a:t>Estimate pose</a:t>
            </a:r>
          </a:p>
        </p:txBody>
      </p:sp>
      <p:sp>
        <p:nvSpPr>
          <p:cNvPr id="8" name="">
            <a:extLst xmlns:a="http://schemas.openxmlformats.org/drawingml/2006/main">
              <a:ext uri="{FF2B5EF4-FFF2-40B4-BE49-F238E27FC236}">
                <a16:creationId xmlns:a16="http://schemas.microsoft.com/office/drawing/2014/main" id="{DA425A4D-BB16-4FE2-B166-08B399D80BB7}"/>
              </a:ext>
            </a:extLst>
          </p:cNvPr>
          <p:cNvSpPr>
            <a:spLocks xmlns:a="http://schemas.openxmlformats.org/drawingml/2006/main" noGrp="1"/>
          </p:cNvSpPr>
          <p:nvPr/>
        </p:nvSpPr>
        <p:spPr>
          <a:xfrm xmlns:a="http://schemas.openxmlformats.org/drawingml/2006/main">
            <a:off x="5410200" y="2409825"/>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96D"/>
                </a:solidFill>
                <a:latin typeface="Arial"/>
                <a:ea typeface="Arial"/>
                <a:cs typeface="Arial"/>
              </a:defRPr>
            </a:pPr>
            <a:r>
              <a:rPr sz="2025" b="0">
                <a:solidFill>
                  <a:srgbClr val="53696D"/>
                </a:solidFill>
                <a:latin typeface="Arial"/>
                <a:ea typeface="Arial"/>
                <a:cs typeface="Arial"/>
              </a:rPr>
              <a:t>33 landmarks from MediaPipe</a:t>
            </a:r>
          </a:p>
        </p:txBody>
      </p:sp>
      <p:sp>
        <p:nvSpPr>
          <p:cNvPr id="9" name="">
            <a:extLst xmlns:a="http://schemas.openxmlformats.org/drawingml/2006/main">
              <a:ext uri="{FF2B5EF4-FFF2-40B4-BE49-F238E27FC236}">
                <a16:creationId xmlns:a16="http://schemas.microsoft.com/office/drawing/2014/main" id="{A44927D1-8A8C-4819-9ED4-A096B6C12F0E}"/>
              </a:ext>
            </a:extLst>
          </p:cNvPr>
          <p:cNvSpPr>
            <a:spLocks xmlns:a="http://schemas.openxmlformats.org/drawingml/2006/main" noGrp="1"/>
          </p:cNvSpPr>
          <p:nvPr/>
        </p:nvSpPr>
        <p:spPr>
          <a:xfrm xmlns:a="http://schemas.openxmlformats.org/drawingml/2006/main">
            <a:off x="685800" y="32480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B6654"/>
                </a:solidFill>
                <a:latin typeface="Arial"/>
                <a:ea typeface="Arial"/>
                <a:cs typeface="Arial"/>
              </a:defRPr>
            </a:pPr>
            <a:r>
              <a:rPr sz="2175" b="1">
                <a:solidFill>
                  <a:srgbClr val="2B6654"/>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6D01C3F8-179F-4674-9E7E-B1E3AA949F7E}"/>
              </a:ext>
            </a:extLst>
          </p:cNvPr>
          <p:cNvSpPr>
            <a:spLocks xmlns:a="http://schemas.openxmlformats.org/drawingml/2006/main" noGrp="1"/>
          </p:cNvSpPr>
          <p:nvPr/>
        </p:nvSpPr>
        <p:spPr>
          <a:xfrm xmlns:a="http://schemas.openxmlformats.org/drawingml/2006/main">
            <a:off x="1666875" y="3248025"/>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2E35"/>
                </a:solidFill>
                <a:latin typeface="Arial"/>
                <a:ea typeface="Arial"/>
                <a:cs typeface="Arial"/>
              </a:defRPr>
            </a:pPr>
            <a:r>
              <a:rPr sz="2250" b="1">
                <a:solidFill>
                  <a:srgbClr val="182E35"/>
                </a:solidFill>
                <a:latin typeface="Arial"/>
                <a:ea typeface="Arial"/>
                <a:cs typeface="Arial"/>
              </a:rPr>
              <a:t>Extract features</a:t>
            </a:r>
          </a:p>
        </p:txBody>
      </p:sp>
      <p:sp>
        <p:nvSpPr>
          <p:cNvPr id="11" name="">
            <a:extLst xmlns:a="http://schemas.openxmlformats.org/drawingml/2006/main">
              <a:ext uri="{FF2B5EF4-FFF2-40B4-BE49-F238E27FC236}">
                <a16:creationId xmlns:a16="http://schemas.microsoft.com/office/drawing/2014/main" id="{6CA994FD-50AF-419A-A682-905E6D393063}"/>
              </a:ext>
            </a:extLst>
          </p:cNvPr>
          <p:cNvSpPr>
            <a:spLocks xmlns:a="http://schemas.openxmlformats.org/drawingml/2006/main" noGrp="1"/>
          </p:cNvSpPr>
          <p:nvPr/>
        </p:nvSpPr>
        <p:spPr>
          <a:xfrm xmlns:a="http://schemas.openxmlformats.org/drawingml/2006/main">
            <a:off x="5410200" y="3248025"/>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96D"/>
                </a:solidFill>
                <a:latin typeface="Arial"/>
                <a:ea typeface="Arial"/>
                <a:cs typeface="Arial"/>
              </a:defRPr>
            </a:pPr>
            <a:r>
              <a:rPr sz="2025" b="0">
                <a:solidFill>
                  <a:srgbClr val="53696D"/>
                </a:solidFill>
                <a:latin typeface="Arial"/>
                <a:ea typeface="Arial"/>
                <a:cs typeface="Arial"/>
              </a:rPr>
              <a:t>Geometry over two seconds</a:t>
            </a:r>
          </a:p>
        </p:txBody>
      </p:sp>
      <p:sp>
        <p:nvSpPr>
          <p:cNvPr id="12" name="">
            <a:extLst xmlns:a="http://schemas.openxmlformats.org/drawingml/2006/main">
              <a:ext uri="{FF2B5EF4-FFF2-40B4-BE49-F238E27FC236}">
                <a16:creationId xmlns:a16="http://schemas.microsoft.com/office/drawing/2014/main" id="{6B253D6B-E3BA-4AFF-8D69-7A80E2CB02E2}"/>
              </a:ext>
            </a:extLst>
          </p:cNvPr>
          <p:cNvSpPr>
            <a:spLocks xmlns:a="http://schemas.openxmlformats.org/drawingml/2006/main" noGrp="1"/>
          </p:cNvSpPr>
          <p:nvPr/>
        </p:nvSpPr>
        <p:spPr>
          <a:xfrm xmlns:a="http://schemas.openxmlformats.org/drawingml/2006/main">
            <a:off x="685800" y="40862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B6654"/>
                </a:solidFill>
                <a:latin typeface="Arial"/>
                <a:ea typeface="Arial"/>
                <a:cs typeface="Arial"/>
              </a:defRPr>
            </a:pPr>
            <a:r>
              <a:rPr sz="2175" b="1">
                <a:solidFill>
                  <a:srgbClr val="2B6654"/>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4CD2CDAD-33EB-4F6E-98A1-4612C3D2001B}"/>
              </a:ext>
            </a:extLst>
          </p:cNvPr>
          <p:cNvSpPr>
            <a:spLocks xmlns:a="http://schemas.openxmlformats.org/drawingml/2006/main" noGrp="1"/>
          </p:cNvSpPr>
          <p:nvPr/>
        </p:nvSpPr>
        <p:spPr>
          <a:xfrm xmlns:a="http://schemas.openxmlformats.org/drawingml/2006/main">
            <a:off x="1666875" y="4086225"/>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2E35"/>
                </a:solidFill>
                <a:latin typeface="Arial"/>
                <a:ea typeface="Arial"/>
                <a:cs typeface="Arial"/>
              </a:defRPr>
            </a:pPr>
            <a:r>
              <a:rPr sz="2250" b="1">
                <a:solidFill>
                  <a:srgbClr val="182E35"/>
                </a:solidFill>
                <a:latin typeface="Arial"/>
                <a:ea typeface="Arial"/>
                <a:cs typeface="Arial"/>
              </a:rPr>
              <a:t>Classify</a:t>
            </a:r>
          </a:p>
        </p:txBody>
      </p:sp>
      <p:sp>
        <p:nvSpPr>
          <p:cNvPr id="14" name="">
            <a:extLst xmlns:a="http://schemas.openxmlformats.org/drawingml/2006/main">
              <a:ext uri="{FF2B5EF4-FFF2-40B4-BE49-F238E27FC236}">
                <a16:creationId xmlns:a16="http://schemas.microsoft.com/office/drawing/2014/main" id="{9FFDC1AF-4F0E-4F0E-97A2-A7B16B87DAD5}"/>
              </a:ext>
            </a:extLst>
          </p:cNvPr>
          <p:cNvSpPr>
            <a:spLocks xmlns:a="http://schemas.openxmlformats.org/drawingml/2006/main" noGrp="1"/>
          </p:cNvSpPr>
          <p:nvPr/>
        </p:nvSpPr>
        <p:spPr>
          <a:xfrm xmlns:a="http://schemas.openxmlformats.org/drawingml/2006/main">
            <a:off x="5410200" y="4086225"/>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96D"/>
                </a:solidFill>
                <a:latin typeface="Arial"/>
                <a:ea typeface="Arial"/>
                <a:cs typeface="Arial"/>
              </a:defRPr>
            </a:pPr>
            <a:r>
              <a:rPr sz="2025" b="0">
                <a:solidFill>
                  <a:srgbClr val="53696D"/>
                </a:solidFill>
                <a:latin typeface="Arial"/>
                <a:ea typeface="Arial"/>
                <a:cs typeface="Arial"/>
              </a:rPr>
              <a:t>Rule baseline or Random Forest</a:t>
            </a:r>
          </a:p>
        </p:txBody>
      </p:sp>
      <p:sp>
        <p:nvSpPr>
          <p:cNvPr id="15" name="">
            <a:extLst xmlns:a="http://schemas.openxmlformats.org/drawingml/2006/main">
              <a:ext uri="{FF2B5EF4-FFF2-40B4-BE49-F238E27FC236}">
                <a16:creationId xmlns:a16="http://schemas.microsoft.com/office/drawing/2014/main" id="{1391B24E-1E4B-4356-B2C8-6F2B1756C2F6}"/>
              </a:ext>
            </a:extLst>
          </p:cNvPr>
          <p:cNvSpPr>
            <a:spLocks xmlns:a="http://schemas.openxmlformats.org/drawingml/2006/main" noGrp="1"/>
          </p:cNvSpPr>
          <p:nvPr/>
        </p:nvSpPr>
        <p:spPr>
          <a:xfrm xmlns:a="http://schemas.openxmlformats.org/drawingml/2006/main">
            <a:off x="685800" y="49244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B6654"/>
                </a:solidFill>
                <a:latin typeface="Arial"/>
                <a:ea typeface="Arial"/>
                <a:cs typeface="Arial"/>
              </a:defRPr>
            </a:pPr>
            <a:r>
              <a:rPr sz="2175" b="1">
                <a:solidFill>
                  <a:srgbClr val="2B6654"/>
                </a:solidFill>
                <a:latin typeface="Arial"/>
                <a:ea typeface="Arial"/>
                <a:cs typeface="Arial"/>
              </a:rPr>
              <a:t>05</a:t>
            </a:r>
          </a:p>
        </p:txBody>
      </p:sp>
      <p:sp>
        <p:nvSpPr>
          <p:cNvPr id="16" name="">
            <a:extLst xmlns:a="http://schemas.openxmlformats.org/drawingml/2006/main">
              <a:ext uri="{FF2B5EF4-FFF2-40B4-BE49-F238E27FC236}">
                <a16:creationId xmlns:a16="http://schemas.microsoft.com/office/drawing/2014/main" id="{F37F7B03-4EC5-47CE-980B-2C8DABDDA801}"/>
              </a:ext>
            </a:extLst>
          </p:cNvPr>
          <p:cNvSpPr>
            <a:spLocks xmlns:a="http://schemas.openxmlformats.org/drawingml/2006/main" noGrp="1"/>
          </p:cNvSpPr>
          <p:nvPr/>
        </p:nvSpPr>
        <p:spPr>
          <a:xfrm xmlns:a="http://schemas.openxmlformats.org/drawingml/2006/main">
            <a:off x="1666875" y="4924425"/>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2E35"/>
                </a:solidFill>
                <a:latin typeface="Arial"/>
                <a:ea typeface="Arial"/>
                <a:cs typeface="Arial"/>
              </a:defRPr>
            </a:pPr>
            <a:r>
              <a:rPr sz="2250" b="1">
                <a:solidFill>
                  <a:srgbClr val="182E35"/>
                </a:solidFill>
                <a:latin typeface="Arial"/>
                <a:ea typeface="Arial"/>
                <a:cs typeface="Arial"/>
              </a:rPr>
              <a:t>Display</a:t>
            </a:r>
          </a:p>
        </p:txBody>
      </p:sp>
      <p:sp>
        <p:nvSpPr>
          <p:cNvPr id="17" name="">
            <a:extLst xmlns:a="http://schemas.openxmlformats.org/drawingml/2006/main">
              <a:ext uri="{FF2B5EF4-FFF2-40B4-BE49-F238E27FC236}">
                <a16:creationId xmlns:a16="http://schemas.microsoft.com/office/drawing/2014/main" id="{2D7CFD1F-B8D7-4361-9D83-B089C068FEBD}"/>
              </a:ext>
            </a:extLst>
          </p:cNvPr>
          <p:cNvSpPr>
            <a:spLocks xmlns:a="http://schemas.openxmlformats.org/drawingml/2006/main" noGrp="1"/>
          </p:cNvSpPr>
          <p:nvPr/>
        </p:nvSpPr>
        <p:spPr>
          <a:xfrm xmlns:a="http://schemas.openxmlformats.org/drawingml/2006/main">
            <a:off x="5410200" y="4924425"/>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96D"/>
                </a:solidFill>
                <a:latin typeface="Arial"/>
                <a:ea typeface="Arial"/>
                <a:cs typeface="Arial"/>
              </a:defRPr>
            </a:pPr>
            <a:r>
              <a:rPr sz="2025" b="0">
                <a:solidFill>
                  <a:srgbClr val="53696D"/>
                </a:solidFill>
                <a:latin typeface="Arial"/>
                <a:ea typeface="Arial"/>
                <a:cs typeface="Arial"/>
              </a:rPr>
              <a:t>Confirmed activity and full-cycle counts</a:t>
            </a:r>
          </a:p>
        </p:txBody>
      </p:sp>
    </p:spTree>
    <p:extLst>
      <p:ext uri="{BB962C8B-B14F-4D97-AF65-F5344CB8AC3E}">
        <p14:creationId xmlns:p14="http://schemas.microsoft.com/office/powerpoint/2010/main" val="1367901806"/>
      </p:ext>
    </p:extLst>
  </p:cSld>
</p:sld>
</file>

<file path=ppt/slides/slide5.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961B268-B560-4F10-8879-3E82F99E8FA8}"/>
              </a:ext>
            </a:extLst>
          </p:cNvPr>
          <p:cNvSpPr>
            <a:spLocks xmlns:a="http://schemas.openxmlformats.org/drawingml/2006/main" noGrp="1"/>
          </p:cNvSpPr>
          <p:nvPr/>
        </p:nvSpPr>
        <p:spPr>
          <a:xfrm xmlns:a="http://schemas.openxmlformats.org/drawingml/2006/main">
            <a:off x="647700" y="4572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E35"/>
                </a:solidFill>
                <a:latin typeface="Arial"/>
                <a:ea typeface="Arial"/>
                <a:cs typeface="Arial"/>
              </a:defRPr>
            </a:pPr>
            <a:r>
              <a:rPr sz="3300" b="1">
                <a:solidFill>
                  <a:srgbClr val="182E35"/>
                </a:solidFill>
                <a:latin typeface="Arial"/>
                <a:ea typeface="Arial"/>
                <a:cs typeface="Arial"/>
              </a:rPr>
              <a:t>Feature comparison</a:t>
            </a:r>
          </a:p>
        </p:txBody>
      </p:sp>
      <p:sp>
        <p:nvSpPr>
          <p:cNvPr id="2" name="">
            <a:extLst xmlns:a="http://schemas.openxmlformats.org/drawingml/2006/main">
              <a:ext uri="{FF2B5EF4-FFF2-40B4-BE49-F238E27FC236}">
                <a16:creationId xmlns:a16="http://schemas.microsoft.com/office/drawing/2014/main" id="{7066B066-271C-4303-968D-801C57B117AD}"/>
              </a:ext>
            </a:extLst>
          </p:cNvPr>
          <p:cNvSpPr>
            <a:spLocks xmlns:a="http://schemas.openxmlformats.org/drawingml/2006/main" noGrp="1"/>
          </p:cNvSpPr>
          <p:nvPr/>
        </p:nvSpPr>
        <p:spPr>
          <a:xfrm xmlns:a="http://schemas.openxmlformats.org/drawingml/2006/main">
            <a:off x="11144250" y="62865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96D"/>
                </a:solidFill>
                <a:latin typeface="Arial"/>
                <a:ea typeface="Arial"/>
                <a:cs typeface="Arial"/>
              </a:defRPr>
            </a:pPr>
            <a:r>
              <a:rPr sz="1200" b="0">
                <a:solidFill>
                  <a:srgbClr val="53696D"/>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34873093-4403-4781-8660-07DE687ADE44}"/>
              </a:ext>
            </a:extLst>
          </p:cNvPr>
          <p:cNvSpPr>
            <a:spLocks xmlns:a="http://schemas.openxmlformats.org/drawingml/2006/main" noGrp="1"/>
          </p:cNvSpPr>
          <p:nvPr/>
        </p:nvSpPr>
        <p:spPr>
          <a:xfrm xmlns:a="http://schemas.openxmlformats.org/drawingml/2006/main">
            <a:off x="685800" y="1666875"/>
            <a:ext cx="4667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400" b="1">
                <a:solidFill>
                  <a:srgbClr val="2B6654"/>
                </a:solidFill>
                <a:latin typeface="Arial"/>
                <a:ea typeface="Arial"/>
                <a:cs typeface="Arial"/>
              </a:defRPr>
            </a:pPr>
            <a:r>
              <a:rPr sz="8400" b="1">
                <a:solidFill>
                  <a:srgbClr val="2B6654"/>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15C1AB1F-4FEC-4FF9-9FBA-0EFB919B8D7E}"/>
              </a:ext>
            </a:extLst>
          </p:cNvPr>
          <p:cNvSpPr>
            <a:spLocks xmlns:a="http://schemas.openxmlformats.org/drawingml/2006/main" noGrp="1"/>
          </p:cNvSpPr>
          <p:nvPr/>
        </p:nvSpPr>
        <p:spPr>
          <a:xfrm xmlns:a="http://schemas.openxmlformats.org/drawingml/2006/main">
            <a:off x="685800" y="3333750"/>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82E35"/>
                </a:solidFill>
                <a:latin typeface="Arial"/>
                <a:ea typeface="Arial"/>
                <a:cs typeface="Arial"/>
              </a:defRPr>
            </a:pPr>
            <a:r>
              <a:rPr sz="2550" b="1">
                <a:solidFill>
                  <a:srgbClr val="182E35"/>
                </a:solidFill>
                <a:latin typeface="Arial"/>
                <a:ea typeface="Arial"/>
                <a:cs typeface="Arial"/>
              </a:rPr>
              <a:t>Mean pose features</a:t>
            </a:r>
          </a:p>
        </p:txBody>
      </p:sp>
      <p:sp>
        <p:nvSpPr>
          <p:cNvPr id="5" name="">
            <a:extLst xmlns:a="http://schemas.openxmlformats.org/drawingml/2006/main">
              <a:ext uri="{FF2B5EF4-FFF2-40B4-BE49-F238E27FC236}">
                <a16:creationId xmlns:a16="http://schemas.microsoft.com/office/drawing/2014/main" id="{D4501404-9A22-4217-8839-AAD369952AE4}"/>
              </a:ext>
            </a:extLst>
          </p:cNvPr>
          <p:cNvSpPr>
            <a:spLocks xmlns:a="http://schemas.openxmlformats.org/drawingml/2006/main" noGrp="1"/>
          </p:cNvSpPr>
          <p:nvPr/>
        </p:nvSpPr>
        <p:spPr>
          <a:xfrm xmlns:a="http://schemas.openxmlformats.org/drawingml/2006/main">
            <a:off x="685800" y="409575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3696D"/>
                </a:solidFill>
                <a:latin typeface="Arial"/>
                <a:ea typeface="Arial"/>
                <a:cs typeface="Arial"/>
              </a:defRPr>
            </a:pPr>
            <a:r>
              <a:rPr sz="2175" b="0">
                <a:solidFill>
                  <a:srgbClr val="53696D"/>
                </a:solidFill>
                <a:latin typeface="Arial"/>
                <a:ea typeface="Arial"/>
                <a:cs typeface="Arial"/>
              </a:rPr>
              <a:t>Joint angles and normalized</a:t>
            </a:r>
          </a:p>
          <a:p xmlns:a="http://schemas.openxmlformats.org/drawingml/2006/main">
            <a:pPr>
              <a:defRPr sz="2175" b="0">
                <a:solidFill>
                  <a:srgbClr val="53696D"/>
                </a:solidFill>
                <a:latin typeface="Arial"/>
                <a:ea typeface="Arial"/>
                <a:cs typeface="Arial"/>
              </a:defRPr>
            </a:pPr>
            <a:r>
              <a:rPr sz="2175" b="0">
                <a:solidFill>
                  <a:srgbClr val="53696D"/>
                </a:solidFill>
                <a:latin typeface="Arial"/>
                <a:ea typeface="Arial"/>
                <a:cs typeface="Arial"/>
              </a:rPr>
              <a:t>body measurements</a:t>
            </a:r>
          </a:p>
        </p:txBody>
      </p:sp>
      <p:sp>
        <p:nvSpPr>
          <p:cNvPr id="6" name="">
            <a:extLst xmlns:a="http://schemas.openxmlformats.org/drawingml/2006/main">
              <a:ext uri="{FF2B5EF4-FFF2-40B4-BE49-F238E27FC236}">
                <a16:creationId xmlns:a16="http://schemas.microsoft.com/office/drawing/2014/main" id="{DDBF3236-5B00-4B9C-BDDA-E25FA01B2408}"/>
              </a:ext>
            </a:extLst>
          </p:cNvPr>
          <p:cNvSpPr>
            <a:spLocks xmlns:a="http://schemas.openxmlformats.org/drawingml/2006/main" noGrp="1"/>
          </p:cNvSpPr>
          <p:nvPr/>
        </p:nvSpPr>
        <p:spPr>
          <a:xfrm xmlns:a="http://schemas.openxmlformats.org/drawingml/2006/main">
            <a:off x="6572250" y="1666875"/>
            <a:ext cx="4667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400" b="1">
                <a:solidFill>
                  <a:srgbClr val="2B6654"/>
                </a:solidFill>
                <a:latin typeface="Arial"/>
                <a:ea typeface="Arial"/>
                <a:cs typeface="Arial"/>
              </a:defRPr>
            </a:pPr>
            <a:r>
              <a:rPr sz="8400" b="1">
                <a:solidFill>
                  <a:srgbClr val="2B6654"/>
                </a:solidFill>
                <a:latin typeface="Arial"/>
                <a:ea typeface="Arial"/>
                <a:cs typeface="Arial"/>
              </a:rPr>
              <a:t>72</a:t>
            </a:r>
          </a:p>
        </p:txBody>
      </p:sp>
      <p:sp>
        <p:nvSpPr>
          <p:cNvPr id="7" name="">
            <a:extLst xmlns:a="http://schemas.openxmlformats.org/drawingml/2006/main">
              <a:ext uri="{FF2B5EF4-FFF2-40B4-BE49-F238E27FC236}">
                <a16:creationId xmlns:a16="http://schemas.microsoft.com/office/drawing/2014/main" id="{815F5A33-765C-484E-8002-3B24DB2B399D}"/>
              </a:ext>
            </a:extLst>
          </p:cNvPr>
          <p:cNvSpPr>
            <a:spLocks xmlns:a="http://schemas.openxmlformats.org/drawingml/2006/main" noGrp="1"/>
          </p:cNvSpPr>
          <p:nvPr/>
        </p:nvSpPr>
        <p:spPr>
          <a:xfrm xmlns:a="http://schemas.openxmlformats.org/drawingml/2006/main">
            <a:off x="6572250" y="3333750"/>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82E35"/>
                </a:solidFill>
                <a:latin typeface="Arial"/>
                <a:ea typeface="Arial"/>
                <a:cs typeface="Arial"/>
              </a:defRPr>
            </a:pPr>
            <a:r>
              <a:rPr sz="2550" b="1">
                <a:solidFill>
                  <a:srgbClr val="182E35"/>
                </a:solidFill>
                <a:latin typeface="Arial"/>
                <a:ea typeface="Arial"/>
                <a:cs typeface="Arial"/>
              </a:rPr>
              <a:t>Pose and motion features</a:t>
            </a:r>
          </a:p>
        </p:txBody>
      </p:sp>
      <p:sp>
        <p:nvSpPr>
          <p:cNvPr id="8" name="">
            <a:extLst xmlns:a="http://schemas.openxmlformats.org/drawingml/2006/main">
              <a:ext uri="{FF2B5EF4-FFF2-40B4-BE49-F238E27FC236}">
                <a16:creationId xmlns:a16="http://schemas.microsoft.com/office/drawing/2014/main" id="{9A81F220-9752-4BB3-948E-BD0D74BF77C2}"/>
              </a:ext>
            </a:extLst>
          </p:cNvPr>
          <p:cNvSpPr>
            <a:spLocks xmlns:a="http://schemas.openxmlformats.org/drawingml/2006/main" noGrp="1"/>
          </p:cNvSpPr>
          <p:nvPr/>
        </p:nvSpPr>
        <p:spPr>
          <a:xfrm xmlns:a="http://schemas.openxmlformats.org/drawingml/2006/main">
            <a:off x="6572250" y="409575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3696D"/>
                </a:solidFill>
                <a:latin typeface="Arial"/>
                <a:ea typeface="Arial"/>
                <a:cs typeface="Arial"/>
              </a:defRPr>
            </a:pPr>
            <a:r>
              <a:rPr sz="2175" b="0">
                <a:solidFill>
                  <a:srgbClr val="53696D"/>
                </a:solidFill>
                <a:latin typeface="Arial"/>
                <a:ea typeface="Arial"/>
                <a:cs typeface="Arial"/>
              </a:rPr>
              <a:t>Mean, standard deviation,</a:t>
            </a:r>
          </a:p>
          <a:p xmlns:a="http://schemas.openxmlformats.org/drawingml/2006/main">
            <a:pPr>
              <a:defRPr sz="2175" b="0">
                <a:solidFill>
                  <a:srgbClr val="53696D"/>
                </a:solidFill>
                <a:latin typeface="Arial"/>
                <a:ea typeface="Arial"/>
                <a:cs typeface="Arial"/>
              </a:defRPr>
            </a:pPr>
            <a:r>
              <a:rPr sz="2175" b="0">
                <a:solidFill>
                  <a:srgbClr val="53696D"/>
                </a:solidFill>
                <a:latin typeface="Arial"/>
                <a:ea typeface="Arial"/>
                <a:cs typeface="Arial"/>
              </a:rPr>
              <a:t>range and absolute speed</a:t>
            </a:r>
          </a:p>
        </p:txBody>
      </p:sp>
      <p:sp>
        <p:nvSpPr>
          <p:cNvPr id="9" name="">
            <a:extLst xmlns:a="http://schemas.openxmlformats.org/drawingml/2006/main">
              <a:ext uri="{FF2B5EF4-FFF2-40B4-BE49-F238E27FC236}">
                <a16:creationId xmlns:a16="http://schemas.microsoft.com/office/drawing/2014/main" id="{973110BC-703E-48D8-82A5-E225372823ED}"/>
              </a:ext>
            </a:extLst>
          </p:cNvPr>
          <p:cNvSpPr>
            <a:spLocks xmlns:a="http://schemas.openxmlformats.org/drawingml/2006/main" noGrp="1"/>
          </p:cNvSpPr>
          <p:nvPr/>
        </p:nvSpPr>
        <p:spPr>
          <a:xfrm xmlns:a="http://schemas.openxmlformats.org/drawingml/2006/main">
            <a:off x="685800" y="557212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2E35"/>
                </a:solidFill>
                <a:latin typeface="Arial"/>
                <a:ea typeface="Arial"/>
                <a:cs typeface="Arial"/>
              </a:defRPr>
            </a:pPr>
            <a:r>
              <a:rPr sz="2025" b="0">
                <a:solidFill>
                  <a:srgbClr val="182E35"/>
                </a:solidFill>
                <a:latin typeface="Arial"/>
                <a:ea typeface="Arial"/>
                <a:cs typeface="Arial"/>
              </a:rPr>
              <a:t>Research question: do motion statistics improve macro F1?</a:t>
            </a:r>
          </a:p>
        </p:txBody>
      </p:sp>
    </p:spTree>
    <p:extLst>
      <p:ext uri="{BB962C8B-B14F-4D97-AF65-F5344CB8AC3E}">
        <p14:creationId xmlns:p14="http://schemas.microsoft.com/office/powerpoint/2010/main" val="1148837654"/>
      </p:ext>
    </p:extLst>
  </p:cSld>
</p:sld>
</file>

<file path=ppt/slides/slide6.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31B7F45-8963-455D-9202-2C659BFB9C50}"/>
              </a:ext>
            </a:extLst>
          </p:cNvPr>
          <p:cNvSpPr>
            <a:spLocks xmlns:a="http://schemas.openxmlformats.org/drawingml/2006/main" noGrp="1"/>
          </p:cNvSpPr>
          <p:nvPr/>
        </p:nvSpPr>
        <p:spPr>
          <a:xfrm xmlns:a="http://schemas.openxmlformats.org/drawingml/2006/main">
            <a:off x="647700" y="4572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E35"/>
                </a:solidFill>
                <a:latin typeface="Arial"/>
                <a:ea typeface="Arial"/>
                <a:cs typeface="Arial"/>
              </a:defRPr>
            </a:pPr>
            <a:r>
              <a:rPr sz="3300" b="1">
                <a:solidFill>
                  <a:srgbClr val="182E35"/>
                </a:solidFill>
                <a:latin typeface="Arial"/>
                <a:ea typeface="Arial"/>
                <a:cs typeface="Arial"/>
              </a:rPr>
              <a:t>Tracking quality and label confirmation</a:t>
            </a:r>
          </a:p>
        </p:txBody>
      </p:sp>
      <p:sp>
        <p:nvSpPr>
          <p:cNvPr id="2" name="">
            <a:extLst xmlns:a="http://schemas.openxmlformats.org/drawingml/2006/main">
              <a:ext uri="{FF2B5EF4-FFF2-40B4-BE49-F238E27FC236}">
                <a16:creationId xmlns:a16="http://schemas.microsoft.com/office/drawing/2014/main" id="{0406F769-039E-4629-9794-27ACA7D021A5}"/>
              </a:ext>
            </a:extLst>
          </p:cNvPr>
          <p:cNvSpPr>
            <a:spLocks xmlns:a="http://schemas.openxmlformats.org/drawingml/2006/main" noGrp="1"/>
          </p:cNvSpPr>
          <p:nvPr/>
        </p:nvSpPr>
        <p:spPr>
          <a:xfrm xmlns:a="http://schemas.openxmlformats.org/drawingml/2006/main">
            <a:off x="11144250" y="62865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96D"/>
                </a:solidFill>
                <a:latin typeface="Arial"/>
                <a:ea typeface="Arial"/>
                <a:cs typeface="Arial"/>
              </a:defRPr>
            </a:pPr>
            <a:r>
              <a:rPr sz="1200" b="0">
                <a:solidFill>
                  <a:srgbClr val="53696D"/>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4F3FDFD7-6C83-4A18-BED7-69F8E89717FE}"/>
              </a:ext>
            </a:extLst>
          </p:cNvPr>
          <p:cNvSpPr>
            <a:spLocks xmlns:a="http://schemas.openxmlformats.org/drawingml/2006/main" noGrp="1"/>
          </p:cNvSpPr>
          <p:nvPr/>
        </p:nvSpPr>
        <p:spPr>
          <a:xfrm xmlns:a="http://schemas.openxmlformats.org/drawingml/2006/main">
            <a:off x="685800" y="15716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B6654"/>
                </a:solidFill>
                <a:latin typeface="Arial"/>
                <a:ea typeface="Arial"/>
                <a:cs typeface="Arial"/>
              </a:defRPr>
            </a:pPr>
            <a:r>
              <a:rPr sz="1950" b="1">
                <a:solidFill>
                  <a:srgbClr val="2B6654"/>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18414F05-B3DE-4F53-8720-83FA44398C66}"/>
              </a:ext>
            </a:extLst>
          </p:cNvPr>
          <p:cNvSpPr>
            <a:spLocks xmlns:a="http://schemas.openxmlformats.org/drawingml/2006/main" noGrp="1"/>
          </p:cNvSpPr>
          <p:nvPr/>
        </p:nvSpPr>
        <p:spPr>
          <a:xfrm xmlns:a="http://schemas.openxmlformats.org/drawingml/2006/main">
            <a:off x="1428750" y="1571625"/>
            <a:ext cx="962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2E35"/>
                </a:solidFill>
                <a:latin typeface="Arial"/>
                <a:ea typeface="Arial"/>
                <a:cs typeface="Arial"/>
              </a:defRPr>
            </a:pPr>
            <a:r>
              <a:rPr sz="2175" b="1">
                <a:solidFill>
                  <a:srgbClr val="182E35"/>
                </a:solidFill>
                <a:latin typeface="Arial"/>
                <a:ea typeface="Arial"/>
                <a:cs typeface="Arial"/>
              </a:rPr>
              <a:t>Quality checks</a:t>
            </a:r>
          </a:p>
        </p:txBody>
      </p:sp>
      <p:sp>
        <p:nvSpPr>
          <p:cNvPr id="5" name="">
            <a:extLst xmlns:a="http://schemas.openxmlformats.org/drawingml/2006/main">
              <a:ext uri="{FF2B5EF4-FFF2-40B4-BE49-F238E27FC236}">
                <a16:creationId xmlns:a16="http://schemas.microsoft.com/office/drawing/2014/main" id="{7D907952-9B11-488A-BA01-2BE456F1851A}"/>
              </a:ext>
            </a:extLst>
          </p:cNvPr>
          <p:cNvSpPr>
            <a:spLocks xmlns:a="http://schemas.openxmlformats.org/drawingml/2006/main" noGrp="1"/>
          </p:cNvSpPr>
          <p:nvPr/>
        </p:nvSpPr>
        <p:spPr>
          <a:xfrm xmlns:a="http://schemas.openxmlformats.org/drawingml/2006/main">
            <a:off x="1428750" y="2028825"/>
            <a:ext cx="952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96D"/>
                </a:solidFill>
                <a:latin typeface="Arial"/>
                <a:ea typeface="Arial"/>
                <a:cs typeface="Arial"/>
              </a:defRPr>
            </a:pPr>
            <a:r>
              <a:rPr sz="1875" b="0">
                <a:solidFill>
                  <a:srgbClr val="53696D"/>
                </a:solidFill>
                <a:latin typeface="Arial"/>
                <a:ea typeface="Arial"/>
                <a:cs typeface="Arial"/>
              </a:rPr>
              <a:t>Reject cropped limbs, low visibility, degenerate geometry and tracking gaps.</a:t>
            </a:r>
          </a:p>
        </p:txBody>
      </p:sp>
      <p:sp>
        <p:nvSpPr>
          <p:cNvPr id="6" name="">
            <a:extLst xmlns:a="http://schemas.openxmlformats.org/drawingml/2006/main">
              <a:ext uri="{FF2B5EF4-FFF2-40B4-BE49-F238E27FC236}">
                <a16:creationId xmlns:a16="http://schemas.microsoft.com/office/drawing/2014/main" id="{FB1198A7-1D9F-4E69-820C-97F72D530065}"/>
              </a:ext>
            </a:extLst>
          </p:cNvPr>
          <p:cNvSpPr>
            <a:spLocks xmlns:a="http://schemas.openxmlformats.org/drawingml/2006/main" noGrp="1"/>
          </p:cNvSpPr>
          <p:nvPr/>
        </p:nvSpPr>
        <p:spPr>
          <a:xfrm xmlns:a="http://schemas.openxmlformats.org/drawingml/2006/main">
            <a:off x="685800" y="2952750"/>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B6654"/>
                </a:solidFill>
                <a:latin typeface="Arial"/>
                <a:ea typeface="Arial"/>
                <a:cs typeface="Arial"/>
              </a:defRPr>
            </a:pPr>
            <a:r>
              <a:rPr sz="1950" b="1">
                <a:solidFill>
                  <a:srgbClr val="2B6654"/>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49C4435C-9DE0-4844-B27F-EA69AD1384F0}"/>
              </a:ext>
            </a:extLst>
          </p:cNvPr>
          <p:cNvSpPr>
            <a:spLocks xmlns:a="http://schemas.openxmlformats.org/drawingml/2006/main" noGrp="1"/>
          </p:cNvSpPr>
          <p:nvPr/>
        </p:nvSpPr>
        <p:spPr>
          <a:xfrm xmlns:a="http://schemas.openxmlformats.org/drawingml/2006/main">
            <a:off x="1428750" y="2952750"/>
            <a:ext cx="962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2E35"/>
                </a:solidFill>
                <a:latin typeface="Arial"/>
                <a:ea typeface="Arial"/>
                <a:cs typeface="Arial"/>
              </a:defRPr>
            </a:pPr>
            <a:r>
              <a:rPr sz="2175" b="1">
                <a:solidFill>
                  <a:srgbClr val="182E35"/>
                </a:solidFill>
                <a:latin typeface="Arial"/>
                <a:ea typeface="Arial"/>
                <a:cs typeface="Arial"/>
              </a:rPr>
              <a:t>Model abstention</a:t>
            </a:r>
          </a:p>
        </p:txBody>
      </p:sp>
      <p:sp>
        <p:nvSpPr>
          <p:cNvPr id="8" name="">
            <a:extLst xmlns:a="http://schemas.openxmlformats.org/drawingml/2006/main">
              <a:ext uri="{FF2B5EF4-FFF2-40B4-BE49-F238E27FC236}">
                <a16:creationId xmlns:a16="http://schemas.microsoft.com/office/drawing/2014/main" id="{12D56D19-9C6F-4EF7-A564-93843BA0D3E0}"/>
              </a:ext>
            </a:extLst>
          </p:cNvPr>
          <p:cNvSpPr>
            <a:spLocks xmlns:a="http://schemas.openxmlformats.org/drawingml/2006/main" noGrp="1"/>
          </p:cNvSpPr>
          <p:nvPr/>
        </p:nvSpPr>
        <p:spPr>
          <a:xfrm xmlns:a="http://schemas.openxmlformats.org/drawingml/2006/main">
            <a:off x="1428750" y="3409950"/>
            <a:ext cx="952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96D"/>
                </a:solidFill>
                <a:latin typeface="Arial"/>
                <a:ea typeface="Arial"/>
                <a:cs typeface="Arial"/>
              </a:defRPr>
            </a:pPr>
            <a:r>
              <a:rPr sz="1875" b="0">
                <a:solidFill>
                  <a:srgbClr val="53696D"/>
                </a:solidFill>
                <a:latin typeface="Arial"/>
                <a:ea typeface="Arial"/>
                <a:cs typeface="Arial"/>
              </a:rPr>
              <a:t>A validation-selected threshold can reject low forest vote scores.</a:t>
            </a:r>
          </a:p>
        </p:txBody>
      </p:sp>
      <p:sp>
        <p:nvSpPr>
          <p:cNvPr id="9" name="">
            <a:extLst xmlns:a="http://schemas.openxmlformats.org/drawingml/2006/main">
              <a:ext uri="{FF2B5EF4-FFF2-40B4-BE49-F238E27FC236}">
                <a16:creationId xmlns:a16="http://schemas.microsoft.com/office/drawing/2014/main" id="{14910567-0D41-42DB-BDAD-A72D9B7677C9}"/>
              </a:ext>
            </a:extLst>
          </p:cNvPr>
          <p:cNvSpPr>
            <a:spLocks xmlns:a="http://schemas.openxmlformats.org/drawingml/2006/main" noGrp="1"/>
          </p:cNvSpPr>
          <p:nvPr/>
        </p:nvSpPr>
        <p:spPr>
          <a:xfrm xmlns:a="http://schemas.openxmlformats.org/drawingml/2006/main">
            <a:off x="685800" y="43338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B6654"/>
                </a:solidFill>
                <a:latin typeface="Arial"/>
                <a:ea typeface="Arial"/>
                <a:cs typeface="Arial"/>
              </a:defRPr>
            </a:pPr>
            <a:r>
              <a:rPr sz="1950" b="1">
                <a:solidFill>
                  <a:srgbClr val="2B6654"/>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BA59973D-7288-44C2-9459-AEA38655ABE1}"/>
              </a:ext>
            </a:extLst>
          </p:cNvPr>
          <p:cNvSpPr>
            <a:spLocks xmlns:a="http://schemas.openxmlformats.org/drawingml/2006/main" noGrp="1"/>
          </p:cNvSpPr>
          <p:nvPr/>
        </p:nvSpPr>
        <p:spPr>
          <a:xfrm xmlns:a="http://schemas.openxmlformats.org/drawingml/2006/main">
            <a:off x="1428750" y="4333875"/>
            <a:ext cx="962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2E35"/>
                </a:solidFill>
                <a:latin typeface="Arial"/>
                <a:ea typeface="Arial"/>
                <a:cs typeface="Arial"/>
              </a:defRPr>
            </a:pPr>
            <a:r>
              <a:rPr sz="2175" b="1">
                <a:solidFill>
                  <a:srgbClr val="182E35"/>
                </a:solidFill>
                <a:latin typeface="Arial"/>
                <a:ea typeface="Arial"/>
                <a:cs typeface="Arial"/>
              </a:rPr>
              <a:t>Consecutive labels</a:t>
            </a:r>
          </a:p>
        </p:txBody>
      </p:sp>
      <p:sp>
        <p:nvSpPr>
          <p:cNvPr id="11" name="">
            <a:extLst xmlns:a="http://schemas.openxmlformats.org/drawingml/2006/main">
              <a:ext uri="{FF2B5EF4-FFF2-40B4-BE49-F238E27FC236}">
                <a16:creationId xmlns:a16="http://schemas.microsoft.com/office/drawing/2014/main" id="{66EE12FA-EF3C-4E4B-A567-CA69C969FBC8}"/>
              </a:ext>
            </a:extLst>
          </p:cNvPr>
          <p:cNvSpPr>
            <a:spLocks xmlns:a="http://schemas.openxmlformats.org/drawingml/2006/main" noGrp="1"/>
          </p:cNvSpPr>
          <p:nvPr/>
        </p:nvSpPr>
        <p:spPr>
          <a:xfrm xmlns:a="http://schemas.openxmlformats.org/drawingml/2006/main">
            <a:off x="1428750" y="4791075"/>
            <a:ext cx="952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96D"/>
                </a:solidFill>
                <a:latin typeface="Arial"/>
                <a:ea typeface="Arial"/>
                <a:cs typeface="Arial"/>
              </a:defRPr>
            </a:pPr>
            <a:r>
              <a:rPr sz="1875" b="0">
                <a:solidFill>
                  <a:srgbClr val="53696D"/>
                </a:solidFill>
                <a:latin typeface="Arial"/>
                <a:ea typeface="Arial"/>
                <a:cs typeface="Arial"/>
              </a:rPr>
              <a:t>Three matching predictions confirm an activity. Unknown clears the state.</a:t>
            </a:r>
          </a:p>
        </p:txBody>
      </p:sp>
    </p:spTree>
    <p:extLst>
      <p:ext uri="{BB962C8B-B14F-4D97-AF65-F5344CB8AC3E}">
        <p14:creationId xmlns:p14="http://schemas.microsoft.com/office/powerpoint/2010/main" val="222430769"/>
      </p:ext>
    </p:extLst>
  </p:cSld>
</p:sld>
</file>

<file path=ppt/slides/slide7.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CFA8B7-0AFF-4CBF-B9B4-671846E25FA8}"/>
              </a:ext>
            </a:extLst>
          </p:cNvPr>
          <p:cNvSpPr>
            <a:spLocks xmlns:a="http://schemas.openxmlformats.org/drawingml/2006/main" noGrp="1"/>
          </p:cNvSpPr>
          <p:nvPr/>
        </p:nvSpPr>
        <p:spPr>
          <a:xfrm xmlns:a="http://schemas.openxmlformats.org/drawingml/2006/main">
            <a:off x="647700" y="4572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E35"/>
                </a:solidFill>
                <a:latin typeface="Arial"/>
                <a:ea typeface="Arial"/>
                <a:cs typeface="Arial"/>
              </a:defRPr>
            </a:pPr>
            <a:r>
              <a:rPr sz="3300" b="1">
                <a:solidFill>
                  <a:srgbClr val="182E35"/>
                </a:solidFill>
                <a:latin typeface="Arial"/>
                <a:ea typeface="Arial"/>
                <a:cs typeface="Arial"/>
              </a:rPr>
              <a:t>Repetition counting</a:t>
            </a:r>
          </a:p>
        </p:txBody>
      </p:sp>
      <p:sp>
        <p:nvSpPr>
          <p:cNvPr id="2" name="">
            <a:extLst xmlns:a="http://schemas.openxmlformats.org/drawingml/2006/main">
              <a:ext uri="{FF2B5EF4-FFF2-40B4-BE49-F238E27FC236}">
                <a16:creationId xmlns:a16="http://schemas.microsoft.com/office/drawing/2014/main" id="{8198C034-DB67-434C-B2C2-B7993E54247D}"/>
              </a:ext>
            </a:extLst>
          </p:cNvPr>
          <p:cNvSpPr>
            <a:spLocks xmlns:a="http://schemas.openxmlformats.org/drawingml/2006/main" noGrp="1"/>
          </p:cNvSpPr>
          <p:nvPr/>
        </p:nvSpPr>
        <p:spPr>
          <a:xfrm xmlns:a="http://schemas.openxmlformats.org/drawingml/2006/main">
            <a:off x="11144250" y="62865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96D"/>
                </a:solidFill>
                <a:latin typeface="Arial"/>
                <a:ea typeface="Arial"/>
                <a:cs typeface="Arial"/>
              </a:defRPr>
            </a:pPr>
            <a:r>
              <a:rPr sz="1200" b="0">
                <a:solidFill>
                  <a:srgbClr val="53696D"/>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74F5F170-BB2D-4514-8088-41D9ECB58466}"/>
              </a:ext>
            </a:extLst>
          </p:cNvPr>
          <p:cNvSpPr>
            <a:spLocks xmlns:a="http://schemas.openxmlformats.org/drawingml/2006/main" noGrp="1"/>
          </p:cNvSpPr>
          <p:nvPr/>
        </p:nvSpPr>
        <p:spPr>
          <a:xfrm xmlns:a="http://schemas.openxmlformats.org/drawingml/2006/main">
            <a:off x="685800" y="157162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B6654"/>
                </a:solidFill>
                <a:latin typeface="Arial"/>
                <a:ea typeface="Arial"/>
                <a:cs typeface="Arial"/>
              </a:defRPr>
            </a:pPr>
            <a:r>
              <a:rPr sz="2625" b="1">
                <a:solidFill>
                  <a:srgbClr val="2B6654"/>
                </a:solidFill>
                <a:latin typeface="Arial"/>
                <a:ea typeface="Arial"/>
                <a:cs typeface="Arial"/>
              </a:rPr>
              <a:t>Squats</a:t>
            </a:r>
          </a:p>
        </p:txBody>
      </p:sp>
      <p:sp>
        <p:nvSpPr>
          <p:cNvPr id="4" name="">
            <a:extLst xmlns:a="http://schemas.openxmlformats.org/drawingml/2006/main">
              <a:ext uri="{FF2B5EF4-FFF2-40B4-BE49-F238E27FC236}">
                <a16:creationId xmlns:a16="http://schemas.microsoft.com/office/drawing/2014/main" id="{09E09832-7CB5-4146-98B7-C99AD709073A}"/>
              </a:ext>
            </a:extLst>
          </p:cNvPr>
          <p:cNvSpPr>
            <a:spLocks xmlns:a="http://schemas.openxmlformats.org/drawingml/2006/main" noGrp="1"/>
          </p:cNvSpPr>
          <p:nvPr/>
        </p:nvSpPr>
        <p:spPr>
          <a:xfrm xmlns:a="http://schemas.openxmlformats.org/drawingml/2006/main">
            <a:off x="685800" y="2476500"/>
            <a:ext cx="1038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2E35"/>
                </a:solidFill>
                <a:latin typeface="Arial"/>
                <a:ea typeface="Arial"/>
                <a:cs typeface="Arial"/>
              </a:defRPr>
            </a:pPr>
            <a:r>
              <a:rPr sz="2325" b="0">
                <a:solidFill>
                  <a:srgbClr val="182E35"/>
                </a:solidFill>
                <a:latin typeface="Arial"/>
                <a:ea typeface="Arial"/>
                <a:cs typeface="Arial"/>
              </a:rPr>
              <a:t>1   Upright pose arms the counter</a:t>
            </a:r>
          </a:p>
          <a:p xmlns:a="http://schemas.openxmlformats.org/drawingml/2006/main">
            <a:pPr>
              <a:defRPr sz="2325" b="0">
                <a:solidFill>
                  <a:srgbClr val="182E35"/>
                </a:solidFill>
                <a:latin typeface="Arial"/>
                <a:ea typeface="Arial"/>
                <a:cs typeface="Arial"/>
              </a:defRPr>
            </a:pPr>
            <a:r>
              <a:rPr sz="2325" b="0">
                <a:solidFill>
                  <a:srgbClr val="182E35"/>
                </a:solidFill>
                <a:latin typeface="Arial"/>
                <a:ea typeface="Arial"/>
                <a:cs typeface="Arial"/>
              </a:rPr>
              <a:t>2   Both knees bend</a:t>
            </a:r>
          </a:p>
          <a:p xmlns:a="http://schemas.openxmlformats.org/drawingml/2006/main">
            <a:pPr>
              <a:defRPr sz="2325" b="0">
                <a:solidFill>
                  <a:srgbClr val="182E35"/>
                </a:solidFill>
                <a:latin typeface="Arial"/>
                <a:ea typeface="Arial"/>
                <a:cs typeface="Arial"/>
              </a:defRPr>
            </a:pPr>
            <a:r>
              <a:rPr sz="2325" b="0">
                <a:solidFill>
                  <a:srgbClr val="182E35"/>
                </a:solidFill>
                <a:latin typeface="Arial"/>
                <a:ea typeface="Arial"/>
                <a:cs typeface="Arial"/>
              </a:rPr>
              <a:t>3   Return upright completes a rep</a:t>
            </a:r>
          </a:p>
        </p:txBody>
      </p:sp>
      <p:sp>
        <p:nvSpPr>
          <p:cNvPr id="5" name="">
            <a:extLst xmlns:a="http://schemas.openxmlformats.org/drawingml/2006/main">
              <a:ext uri="{FF2B5EF4-FFF2-40B4-BE49-F238E27FC236}">
                <a16:creationId xmlns:a16="http://schemas.microsoft.com/office/drawing/2014/main" id="{FB191A3F-5EB1-4359-8873-EB785A3AF0AB}"/>
              </a:ext>
            </a:extLst>
          </p:cNvPr>
          <p:cNvSpPr>
            <a:spLocks xmlns:a="http://schemas.openxmlformats.org/drawingml/2006/main" noGrp="1"/>
          </p:cNvSpPr>
          <p:nvPr/>
        </p:nvSpPr>
        <p:spPr>
          <a:xfrm xmlns:a="http://schemas.openxmlformats.org/drawingml/2006/main">
            <a:off x="685800" y="41433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B6654"/>
                </a:solidFill>
                <a:latin typeface="Arial"/>
                <a:ea typeface="Arial"/>
                <a:cs typeface="Arial"/>
              </a:defRPr>
            </a:pPr>
            <a:r>
              <a:rPr sz="2625" b="1">
                <a:solidFill>
                  <a:srgbClr val="2B6654"/>
                </a:solidFill>
                <a:latin typeface="Arial"/>
                <a:ea typeface="Arial"/>
                <a:cs typeface="Arial"/>
              </a:rPr>
              <a:t>Jumping jacks</a:t>
            </a:r>
          </a:p>
        </p:txBody>
      </p:sp>
      <p:sp>
        <p:nvSpPr>
          <p:cNvPr id="6" name="">
            <a:extLst xmlns:a="http://schemas.openxmlformats.org/drawingml/2006/main">
              <a:ext uri="{FF2B5EF4-FFF2-40B4-BE49-F238E27FC236}">
                <a16:creationId xmlns:a16="http://schemas.microsoft.com/office/drawing/2014/main" id="{CC1AE009-DDA1-48DC-A098-BBF56D881B28}"/>
              </a:ext>
            </a:extLst>
          </p:cNvPr>
          <p:cNvSpPr>
            <a:spLocks xmlns:a="http://schemas.openxmlformats.org/drawingml/2006/main" noGrp="1"/>
          </p:cNvSpPr>
          <p:nvPr/>
        </p:nvSpPr>
        <p:spPr>
          <a:xfrm xmlns:a="http://schemas.openxmlformats.org/drawingml/2006/main">
            <a:off x="685800" y="5000625"/>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2E35"/>
                </a:solidFill>
                <a:latin typeface="Arial"/>
                <a:ea typeface="Arial"/>
                <a:cs typeface="Arial"/>
              </a:defRPr>
            </a:pPr>
            <a:r>
              <a:rPr sz="2325" b="0">
                <a:solidFill>
                  <a:srgbClr val="182E35"/>
                </a:solidFill>
                <a:latin typeface="Arial"/>
                <a:ea typeface="Arial"/>
                <a:cs typeface="Arial"/>
              </a:rPr>
              <a:t>Closed stance, open stance, then closed again</a:t>
            </a:r>
          </a:p>
        </p:txBody>
      </p:sp>
      <p:sp>
        <p:nvSpPr>
          <p:cNvPr id="7" name="">
            <a:extLst xmlns:a="http://schemas.openxmlformats.org/drawingml/2006/main">
              <a:ext uri="{FF2B5EF4-FFF2-40B4-BE49-F238E27FC236}">
                <a16:creationId xmlns:a16="http://schemas.microsoft.com/office/drawing/2014/main" id="{36B1B0E2-7F45-40B2-9209-E96B54B77941}"/>
              </a:ext>
            </a:extLst>
          </p:cNvPr>
          <p:cNvSpPr>
            <a:spLocks xmlns:a="http://schemas.openxmlformats.org/drawingml/2006/main" noGrp="1"/>
          </p:cNvSpPr>
          <p:nvPr/>
        </p:nvSpPr>
        <p:spPr>
          <a:xfrm xmlns:a="http://schemas.openxmlformats.org/drawingml/2006/main">
            <a:off x="685800" y="57435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96D"/>
                </a:solidFill>
                <a:latin typeface="Arial"/>
                <a:ea typeface="Arial"/>
                <a:cs typeface="Arial"/>
              </a:defRPr>
            </a:pPr>
            <a:r>
              <a:rPr sz="1875" b="0">
                <a:solidFill>
                  <a:srgbClr val="53696D"/>
                </a:solidFill>
                <a:latin typeface="Arial"/>
                <a:ea typeface="Arial"/>
                <a:cs typeface="Arial"/>
              </a:rPr>
              <a:t>Tracking loss discards a partial cycle.</a:t>
            </a:r>
          </a:p>
        </p:txBody>
      </p:sp>
    </p:spTree>
    <p:extLst>
      <p:ext uri="{BB962C8B-B14F-4D97-AF65-F5344CB8AC3E}">
        <p14:creationId xmlns:p14="http://schemas.microsoft.com/office/powerpoint/2010/main" val="1629879375"/>
      </p:ext>
    </p:extLst>
  </p:cSld>
</p:sld>
</file>

<file path=ppt/slides/slide8.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6F9BAE7-786C-4763-8266-8299580F4043}"/>
              </a:ext>
            </a:extLst>
          </p:cNvPr>
          <p:cNvSpPr>
            <a:spLocks xmlns:a="http://schemas.openxmlformats.org/drawingml/2006/main" noGrp="1"/>
          </p:cNvSpPr>
          <p:nvPr/>
        </p:nvSpPr>
        <p:spPr>
          <a:xfrm xmlns:a="http://schemas.openxmlformats.org/drawingml/2006/main">
            <a:off x="647700" y="4572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E35"/>
                </a:solidFill>
                <a:latin typeface="Arial"/>
                <a:ea typeface="Arial"/>
                <a:cs typeface="Arial"/>
              </a:defRPr>
            </a:pPr>
            <a:r>
              <a:rPr sz="3300" b="1">
                <a:solidFill>
                  <a:srgbClr val="182E35"/>
                </a:solidFill>
                <a:latin typeface="Arial"/>
                <a:ea typeface="Arial"/>
                <a:cs typeface="Arial"/>
              </a:rPr>
              <a:t>Planned participant dataset</a:t>
            </a:r>
          </a:p>
        </p:txBody>
      </p:sp>
      <p:sp>
        <p:nvSpPr>
          <p:cNvPr id="2" name="">
            <a:extLst xmlns:a="http://schemas.openxmlformats.org/drawingml/2006/main">
              <a:ext uri="{FF2B5EF4-FFF2-40B4-BE49-F238E27FC236}">
                <a16:creationId xmlns:a16="http://schemas.microsoft.com/office/drawing/2014/main" id="{F8738168-6E42-4B0C-B02A-DB2739A8362D}"/>
              </a:ext>
            </a:extLst>
          </p:cNvPr>
          <p:cNvSpPr>
            <a:spLocks xmlns:a="http://schemas.openxmlformats.org/drawingml/2006/main" noGrp="1"/>
          </p:cNvSpPr>
          <p:nvPr/>
        </p:nvSpPr>
        <p:spPr>
          <a:xfrm xmlns:a="http://schemas.openxmlformats.org/drawingml/2006/main">
            <a:off x="11144250" y="62865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96D"/>
                </a:solidFill>
                <a:latin typeface="Arial"/>
                <a:ea typeface="Arial"/>
                <a:cs typeface="Arial"/>
              </a:defRPr>
            </a:pPr>
            <a:r>
              <a:rPr sz="1200" b="0">
                <a:solidFill>
                  <a:srgbClr val="53696D"/>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AFCB2BC4-DAAF-4790-982C-7B4CC2ADC5BF}"/>
              </a:ext>
            </a:extLst>
          </p:cNvPr>
          <p:cNvSpPr>
            <a:spLocks xmlns:a="http://schemas.openxmlformats.org/drawingml/2006/main" noGrp="1"/>
          </p:cNvSpPr>
          <p:nvPr/>
        </p:nvSpPr>
        <p:spPr>
          <a:xfrm xmlns:a="http://schemas.openxmlformats.org/drawingml/2006/main">
            <a:off x="685800" y="16192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2B6654"/>
                </a:solidFill>
                <a:latin typeface="Arial"/>
                <a:ea typeface="Arial"/>
                <a:cs typeface="Arial"/>
              </a:defRPr>
            </a:pPr>
            <a:r>
              <a:rPr sz="5400" b="1">
                <a:solidFill>
                  <a:srgbClr val="2B6654"/>
                </a:solidFill>
                <a:latin typeface="Arial"/>
                <a:ea typeface="Arial"/>
                <a:cs typeface="Arial"/>
              </a:rPr>
              <a:t>180 planned clips</a:t>
            </a:r>
          </a:p>
        </p:txBody>
      </p:sp>
      <p:sp>
        <p:nvSpPr>
          <p:cNvPr id="4" name="">
            <a:extLst xmlns:a="http://schemas.openxmlformats.org/drawingml/2006/main">
              <a:ext uri="{FF2B5EF4-FFF2-40B4-BE49-F238E27FC236}">
                <a16:creationId xmlns:a16="http://schemas.microsoft.com/office/drawing/2014/main" id="{20A801F8-1703-405B-A223-542D5C87BD4B}"/>
              </a:ext>
            </a:extLst>
          </p:cNvPr>
          <p:cNvSpPr>
            <a:spLocks xmlns:a="http://schemas.openxmlformats.org/drawingml/2006/main" noGrp="1"/>
          </p:cNvSpPr>
          <p:nvPr/>
        </p:nvSpPr>
        <p:spPr>
          <a:xfrm xmlns:a="http://schemas.openxmlformats.org/drawingml/2006/main">
            <a:off x="685800" y="29051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82E35"/>
                </a:solidFill>
                <a:latin typeface="Arial"/>
                <a:ea typeface="Arial"/>
                <a:cs typeface="Arial"/>
              </a:defRPr>
            </a:pPr>
            <a:r>
              <a:rPr sz="2700" b="0">
                <a:solidFill>
                  <a:srgbClr val="182E35"/>
                </a:solidFill>
                <a:latin typeface="Arial"/>
                <a:ea typeface="Arial"/>
                <a:cs typeface="Arial"/>
              </a:rPr>
              <a:t>6 participants × 6 activities × 5 clips</a:t>
            </a:r>
          </a:p>
        </p:txBody>
      </p:sp>
      <p:sp>
        <p:nvSpPr>
          <p:cNvPr id="5" name="">
            <a:extLst xmlns:a="http://schemas.openxmlformats.org/drawingml/2006/main">
              <a:ext uri="{FF2B5EF4-FFF2-40B4-BE49-F238E27FC236}">
                <a16:creationId xmlns:a16="http://schemas.microsoft.com/office/drawing/2014/main" id="{ABF3520F-5E31-4791-979B-DEF10C8D413D}"/>
              </a:ext>
            </a:extLst>
          </p:cNvPr>
          <p:cNvSpPr>
            <a:spLocks xmlns:a="http://schemas.openxmlformats.org/drawingml/2006/main" noGrp="1"/>
          </p:cNvSpPr>
          <p:nvPr/>
        </p:nvSpPr>
        <p:spPr>
          <a:xfrm xmlns:a="http://schemas.openxmlformats.org/drawingml/2006/main">
            <a:off x="685800" y="4048125"/>
            <a:ext cx="5905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E35"/>
                </a:solidFill>
                <a:latin typeface="Arial"/>
                <a:ea typeface="Arial"/>
                <a:cs typeface="Arial"/>
              </a:defRPr>
            </a:pPr>
            <a:r>
              <a:rPr sz="2250" b="0">
                <a:solidFill>
                  <a:srgbClr val="182E35"/>
                </a:solidFill>
                <a:latin typeface="Arial"/>
                <a:ea typeface="Arial"/>
                <a:cs typeface="Arial"/>
              </a:rPr>
              <a:t>Training: P01–P04</a:t>
            </a:r>
          </a:p>
          <a:p xmlns:a="http://schemas.openxmlformats.org/drawingml/2006/main">
            <a:pPr>
              <a:defRPr sz="2250" b="0">
                <a:solidFill>
                  <a:srgbClr val="182E35"/>
                </a:solidFill>
                <a:latin typeface="Arial"/>
                <a:ea typeface="Arial"/>
                <a:cs typeface="Arial"/>
              </a:defRPr>
            </a:pPr>
            <a:r>
              <a:rPr sz="2250" b="0">
                <a:solidFill>
                  <a:srgbClr val="182E35"/>
                </a:solidFill>
                <a:latin typeface="Arial"/>
                <a:ea typeface="Arial"/>
                <a:cs typeface="Arial"/>
              </a:rPr>
              <a:t>Validation: P05</a:t>
            </a:r>
          </a:p>
          <a:p xmlns:a="http://schemas.openxmlformats.org/drawingml/2006/main">
            <a:pPr>
              <a:defRPr sz="2250" b="0">
                <a:solidFill>
                  <a:srgbClr val="182E35"/>
                </a:solidFill>
                <a:latin typeface="Arial"/>
                <a:ea typeface="Arial"/>
                <a:cs typeface="Arial"/>
              </a:defRPr>
            </a:pPr>
            <a:r>
              <a:rPr sz="2250" b="0">
                <a:solidFill>
                  <a:srgbClr val="182E35"/>
                </a:solidFill>
                <a:latin typeface="Arial"/>
                <a:ea typeface="Arial"/>
                <a:cs typeface="Arial"/>
              </a:rPr>
              <a:t>Testing: P06</a:t>
            </a:r>
          </a:p>
        </p:txBody>
      </p:sp>
      <p:sp>
        <p:nvSpPr>
          <p:cNvPr id="6" name="">
            <a:extLst xmlns:a="http://schemas.openxmlformats.org/drawingml/2006/main">
              <a:ext uri="{FF2B5EF4-FFF2-40B4-BE49-F238E27FC236}">
                <a16:creationId xmlns:a16="http://schemas.microsoft.com/office/drawing/2014/main" id="{7A3EFF7A-E058-472D-814B-094C80DD7946}"/>
              </a:ext>
            </a:extLst>
          </p:cNvPr>
          <p:cNvSpPr>
            <a:spLocks xmlns:a="http://schemas.openxmlformats.org/drawingml/2006/main" noGrp="1"/>
          </p:cNvSpPr>
          <p:nvPr/>
        </p:nvSpPr>
        <p:spPr>
          <a:xfrm xmlns:a="http://schemas.openxmlformats.org/drawingml/2006/main">
            <a:off x="6896100" y="4048125"/>
            <a:ext cx="4476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96D"/>
                </a:solidFill>
                <a:latin typeface="Arial"/>
                <a:ea typeface="Arial"/>
                <a:cs typeface="Arial"/>
              </a:defRPr>
            </a:pPr>
            <a:r>
              <a:rPr sz="2025" b="0">
                <a:solidFill>
                  <a:srgbClr val="53696D"/>
                </a:solidFill>
                <a:latin typeface="Arial"/>
                <a:ea typeface="Arial"/>
                <a:cs typeface="Arial"/>
              </a:rPr>
              <a:t>Permission before recording</a:t>
            </a:r>
          </a:p>
          <a:p xmlns:a="http://schemas.openxmlformats.org/drawingml/2006/main">
            <a:pPr>
              <a:defRPr sz="2025" b="0">
                <a:solidFill>
                  <a:srgbClr val="53696D"/>
                </a:solidFill>
                <a:latin typeface="Arial"/>
                <a:ea typeface="Arial"/>
                <a:cs typeface="Arial"/>
              </a:defRPr>
            </a:pPr>
            <a:r>
              <a:rPr sz="2025" b="0">
                <a:solidFill>
                  <a:srgbClr val="53696D"/>
                </a:solidFill>
                <a:latin typeface="Arial"/>
                <a:ea typeface="Arial"/>
                <a:cs typeface="Arial"/>
              </a:rPr>
              <a:t>One activity per clip</a:t>
            </a:r>
          </a:p>
          <a:p xmlns:a="http://schemas.openxmlformats.org/drawingml/2006/main">
            <a:pPr>
              <a:defRPr sz="2025" b="0">
                <a:solidFill>
                  <a:srgbClr val="53696D"/>
                </a:solidFill>
                <a:latin typeface="Arial"/>
                <a:ea typeface="Arial"/>
                <a:cs typeface="Arial"/>
              </a:defRPr>
            </a:pPr>
            <a:r>
              <a:rPr sz="2025" b="0">
                <a:solidFill>
                  <a:srgbClr val="53696D"/>
                </a:solidFill>
                <a:latin typeface="Arial"/>
                <a:ea typeface="Arial"/>
                <a:cs typeface="Arial"/>
              </a:rPr>
              <a:t>Stable participant IDs</a:t>
            </a:r>
          </a:p>
        </p:txBody>
      </p:sp>
    </p:spTree>
    <p:extLst>
      <p:ext uri="{BB962C8B-B14F-4D97-AF65-F5344CB8AC3E}">
        <p14:creationId xmlns:p14="http://schemas.microsoft.com/office/powerpoint/2010/main" val="1991513396"/>
      </p:ext>
    </p:extLst>
  </p:cSld>
</p:sld>
</file>

<file path=ppt/slides/slide9.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5A2D42F-EEB3-42CC-BDFB-0BE2C0C656AB}"/>
              </a:ext>
            </a:extLst>
          </p:cNvPr>
          <p:cNvSpPr>
            <a:spLocks xmlns:a="http://schemas.openxmlformats.org/drawingml/2006/main" noGrp="1"/>
          </p:cNvSpPr>
          <p:nvPr/>
        </p:nvSpPr>
        <p:spPr>
          <a:xfrm xmlns:a="http://schemas.openxmlformats.org/drawingml/2006/main">
            <a:off x="647700" y="4572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E35"/>
                </a:solidFill>
                <a:latin typeface="Arial"/>
                <a:ea typeface="Arial"/>
                <a:cs typeface="Arial"/>
              </a:defRPr>
            </a:pPr>
            <a:r>
              <a:rPr sz="3300" b="1">
                <a:solidFill>
                  <a:srgbClr val="182E35"/>
                </a:solidFill>
                <a:latin typeface="Arial"/>
                <a:ea typeface="Arial"/>
                <a:cs typeface="Arial"/>
              </a:rPr>
              <a:t>Evaluation design</a:t>
            </a:r>
          </a:p>
        </p:txBody>
      </p:sp>
      <p:sp>
        <p:nvSpPr>
          <p:cNvPr id="2" name="">
            <a:extLst xmlns:a="http://schemas.openxmlformats.org/drawingml/2006/main">
              <a:ext uri="{FF2B5EF4-FFF2-40B4-BE49-F238E27FC236}">
                <a16:creationId xmlns:a16="http://schemas.microsoft.com/office/drawing/2014/main" id="{3E44EBAA-6090-4B0F-B945-339C63F755CE}"/>
              </a:ext>
            </a:extLst>
          </p:cNvPr>
          <p:cNvSpPr>
            <a:spLocks xmlns:a="http://schemas.openxmlformats.org/drawingml/2006/main" noGrp="1"/>
          </p:cNvSpPr>
          <p:nvPr/>
        </p:nvSpPr>
        <p:spPr>
          <a:xfrm xmlns:a="http://schemas.openxmlformats.org/drawingml/2006/main">
            <a:off x="11144250" y="62865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96D"/>
                </a:solidFill>
                <a:latin typeface="Arial"/>
                <a:ea typeface="Arial"/>
                <a:cs typeface="Arial"/>
              </a:defRPr>
            </a:pPr>
            <a:r>
              <a:rPr sz="1200" b="0">
                <a:solidFill>
                  <a:srgbClr val="53696D"/>
                </a:solidFill>
                <a:latin typeface="Arial"/>
                <a:ea typeface="Arial"/>
                <a:cs typeface="Arial"/>
              </a:rPr>
              <a:t>09</a:t>
            </a:r>
          </a:p>
        </p:txBody>
      </p:sp>
      <p:graphicFrame>
        <p:nvGraphicFramePr>
          <p:cNvPr id="7" name=""/>
          <p:cNvGraphicFramePr/>
          <p:nvPr/>
        </p:nvGraphicFramePr>
        <p:xfrm>
          <a:off xmlns:a="http://schemas.openxmlformats.org/drawingml/2006/main" x="685800" y="1666875"/>
          <a:ext xmlns:a="http://schemas.openxmlformats.org/drawingml/2006/main" cx="10820400" cy="3143250"/>
        </p:xfrm>
        <a:graphic xmlns:a="http://schemas.openxmlformats.org/drawingml/2006/main">
          <a:graphicData uri="http://schemas.openxmlformats.org/drawingml/2006/table">
            <a:tbl>
              <a:tblPr/>
              <a:tblGrid>
                <a:gridCol w="4905375"/>
                <a:gridCol w="1381125"/>
                <a:gridCol w="4533900"/>
              </a:tblGrid>
              <a:tr h="628650">
                <a:tc>
                  <a:txBody>
                    <a:bodyPr/>
                    <a:lstStyle/>
                    <a:p>
                      <a:r>
                        <a:rPr sz="1875" b="1">
                          <a:solidFill>
                            <a:srgbClr val="FFFFFF"/>
                          </a:solidFill>
                          <a:latin typeface="Arial"/>
                          <a:ea typeface="Arial"/>
                          <a:cs typeface="Arial"/>
                        </a:rPr>
                        <a:t>Variant</a:t>
                      </a:r>
                    </a:p>
                  </a:txBody>
                  <a:tcPr marL="142875" marR="142875" marT="133350" marB="133350">
                    <a:solidFill>
                      <a:srgbClr val="2B6654"/>
                    </a:solidFill>
                  </a:tcPr>
                </a:tc>
                <a:tc>
                  <a:txBody>
                    <a:bodyPr/>
                    <a:lstStyle/>
                    <a:p>
                      <a:r>
                        <a:rPr sz="1875" b="1">
                          <a:solidFill>
                            <a:srgbClr val="FFFFFF"/>
                          </a:solidFill>
                          <a:latin typeface="Arial"/>
                          <a:ea typeface="Arial"/>
                          <a:cs typeface="Arial"/>
                        </a:rPr>
                        <a:t>Features</a:t>
                      </a:r>
                    </a:p>
                  </a:txBody>
                  <a:tcPr marL="142875" marR="142875" marT="133350" marB="133350">
                    <a:solidFill>
                      <a:srgbClr val="2B6654"/>
                    </a:solidFill>
                  </a:tcPr>
                </a:tc>
                <a:tc>
                  <a:txBody>
                    <a:bodyPr/>
                    <a:lstStyle/>
                    <a:p>
                      <a:r>
                        <a:rPr sz="1875" b="1">
                          <a:solidFill>
                            <a:srgbClr val="FFFFFF"/>
                          </a:solidFill>
                          <a:latin typeface="Arial"/>
                          <a:ea typeface="Arial"/>
                          <a:cs typeface="Arial"/>
                        </a:rPr>
                        <a:t>Activity rejection</a:t>
                      </a:r>
                    </a:p>
                  </a:txBody>
                  <a:tcPr marL="142875" marR="142875" marT="133350" marB="133350">
                    <a:solidFill>
                      <a:srgbClr val="2B6654"/>
                    </a:solidFill>
                  </a:tcPr>
                </a:tc>
              </a:tr>
              <a:tr h="628650">
                <a:tc>
                  <a:txBody>
                    <a:bodyPr/>
                    <a:lstStyle/>
                    <a:p>
                      <a:r>
                        <a:rPr sz="1875">
                          <a:solidFill>
                            <a:srgbClr val="182E35"/>
                          </a:solidFill>
                          <a:latin typeface="Arial"/>
                          <a:ea typeface="Arial"/>
                          <a:cs typeface="Arial"/>
                        </a:rPr>
                        <a:t>Mean pose</a:t>
                      </a:r>
                    </a:p>
                  </a:txBody>
                  <a:tcPr marL="142875" marR="142875" marT="133350" marB="133350"/>
                </a:tc>
                <a:tc>
                  <a:txBody>
                    <a:bodyPr/>
                    <a:lstStyle/>
                    <a:p>
                      <a:r>
                        <a:rPr sz="1875">
                          <a:solidFill>
                            <a:srgbClr val="182E35"/>
                          </a:solidFill>
                          <a:latin typeface="Arial"/>
                          <a:ea typeface="Arial"/>
                          <a:cs typeface="Arial"/>
                        </a:rPr>
                        <a:t>18</a:t>
                      </a:r>
                    </a:p>
                  </a:txBody>
                  <a:tcPr marL="142875" marR="142875" marT="133350" marB="133350"/>
                </a:tc>
                <a:tc>
                  <a:txBody>
                    <a:bodyPr/>
                    <a:lstStyle/>
                    <a:p>
                      <a:r>
                        <a:rPr sz="1875">
                          <a:solidFill>
                            <a:srgbClr val="182E35"/>
                          </a:solidFill>
                          <a:latin typeface="Arial"/>
                          <a:ea typeface="Arial"/>
                          <a:cs typeface="Arial"/>
                        </a:rPr>
                        <a:t>Quality only</a:t>
                      </a:r>
                    </a:p>
                  </a:txBody>
                  <a:tcPr marL="142875" marR="142875" marT="133350" marB="133350"/>
                </a:tc>
              </a:tr>
              <a:tr h="628650">
                <a:tc>
                  <a:txBody>
                    <a:bodyPr/>
                    <a:lstStyle/>
                    <a:p>
                      <a:r>
                        <a:rPr sz="1875">
                          <a:solidFill>
                            <a:srgbClr val="182E35"/>
                          </a:solidFill>
                          <a:latin typeface="Arial"/>
                          <a:ea typeface="Arial"/>
                          <a:cs typeface="Arial"/>
                        </a:rPr>
                        <a:t>Pose and motion</a:t>
                      </a:r>
                    </a:p>
                  </a:txBody>
                  <a:tcPr marL="142875" marR="142875" marT="133350" marB="133350"/>
                </a:tc>
                <a:tc>
                  <a:txBody>
                    <a:bodyPr/>
                    <a:lstStyle/>
                    <a:p>
                      <a:r>
                        <a:rPr sz="1875">
                          <a:solidFill>
                            <a:srgbClr val="182E35"/>
                          </a:solidFill>
                          <a:latin typeface="Arial"/>
                          <a:ea typeface="Arial"/>
                          <a:cs typeface="Arial"/>
                        </a:rPr>
                        <a:t>72</a:t>
                      </a:r>
                    </a:p>
                  </a:txBody>
                  <a:tcPr marL="142875" marR="142875" marT="133350" marB="133350"/>
                </a:tc>
                <a:tc>
                  <a:txBody>
                    <a:bodyPr/>
                    <a:lstStyle/>
                    <a:p>
                      <a:r>
                        <a:rPr sz="1875">
                          <a:solidFill>
                            <a:srgbClr val="182E35"/>
                          </a:solidFill>
                          <a:latin typeface="Arial"/>
                          <a:ea typeface="Arial"/>
                          <a:cs typeface="Arial"/>
                        </a:rPr>
                        <a:t>Quality only</a:t>
                      </a:r>
                    </a:p>
                  </a:txBody>
                  <a:tcPr marL="142875" marR="142875" marT="133350" marB="133350"/>
                </a:tc>
              </a:tr>
              <a:tr h="628650">
                <a:tc>
                  <a:txBody>
                    <a:bodyPr/>
                    <a:lstStyle/>
                    <a:p>
                      <a:r>
                        <a:rPr sz="1875">
                          <a:solidFill>
                            <a:srgbClr val="182E35"/>
                          </a:solidFill>
                          <a:latin typeface="Arial"/>
                          <a:ea typeface="Arial"/>
                          <a:cs typeface="Arial"/>
                        </a:rPr>
                        <a:t>Mean pose with threshold</a:t>
                      </a:r>
                    </a:p>
                  </a:txBody>
                  <a:tcPr marL="142875" marR="142875" marT="133350" marB="133350"/>
                </a:tc>
                <a:tc>
                  <a:txBody>
                    <a:bodyPr/>
                    <a:lstStyle/>
                    <a:p>
                      <a:r>
                        <a:rPr sz="1875">
                          <a:solidFill>
                            <a:srgbClr val="182E35"/>
                          </a:solidFill>
                          <a:latin typeface="Arial"/>
                          <a:ea typeface="Arial"/>
                          <a:cs typeface="Arial"/>
                        </a:rPr>
                        <a:t>18</a:t>
                      </a:r>
                    </a:p>
                  </a:txBody>
                  <a:tcPr marL="142875" marR="142875" marT="133350" marB="133350"/>
                </a:tc>
                <a:tc>
                  <a:txBody>
                    <a:bodyPr/>
                    <a:lstStyle/>
                    <a:p>
                      <a:r>
                        <a:rPr sz="1875">
                          <a:solidFill>
                            <a:srgbClr val="182E35"/>
                          </a:solidFill>
                          <a:latin typeface="Arial"/>
                          <a:ea typeface="Arial"/>
                          <a:cs typeface="Arial"/>
                        </a:rPr>
                        <a:t>Quality and model votes</a:t>
                      </a:r>
                    </a:p>
                  </a:txBody>
                  <a:tcPr marL="142875" marR="142875" marT="133350" marB="133350"/>
                </a:tc>
              </a:tr>
              <a:tr h="628650">
                <a:tc>
                  <a:txBody>
                    <a:bodyPr/>
                    <a:lstStyle/>
                    <a:p>
                      <a:r>
                        <a:rPr sz="1875">
                          <a:solidFill>
                            <a:srgbClr val="182E35"/>
                          </a:solidFill>
                          <a:latin typeface="Arial"/>
                          <a:ea typeface="Arial"/>
                          <a:cs typeface="Arial"/>
                        </a:rPr>
                        <a:t>Pose and motion with threshold</a:t>
                      </a:r>
                    </a:p>
                  </a:txBody>
                  <a:tcPr marL="142875" marR="142875" marT="133350" marB="133350"/>
                </a:tc>
                <a:tc>
                  <a:txBody>
                    <a:bodyPr/>
                    <a:lstStyle/>
                    <a:p>
                      <a:r>
                        <a:rPr sz="1875">
                          <a:solidFill>
                            <a:srgbClr val="182E35"/>
                          </a:solidFill>
                          <a:latin typeface="Arial"/>
                          <a:ea typeface="Arial"/>
                          <a:cs typeface="Arial"/>
                        </a:rPr>
                        <a:t>72</a:t>
                      </a:r>
                    </a:p>
                  </a:txBody>
                  <a:tcPr marL="142875" marR="142875" marT="133350" marB="133350"/>
                </a:tc>
                <a:tc>
                  <a:txBody>
                    <a:bodyPr/>
                    <a:lstStyle/>
                    <a:p>
                      <a:r>
                        <a:rPr sz="1875">
                          <a:solidFill>
                            <a:srgbClr val="182E35"/>
                          </a:solidFill>
                          <a:latin typeface="Arial"/>
                          <a:ea typeface="Arial"/>
                          <a:cs typeface="Arial"/>
                        </a:rPr>
                        <a:t>Quality and model votes</a:t>
                      </a:r>
                    </a:p>
                  </a:txBody>
                  <a:tcPr marL="142875" marR="142875" marT="133350" marB="133350"/>
                </a:tc>
              </a:tr>
            </a:tbl>
          </a:graphicData>
        </a:graphic>
      </p:graphicFrame>
      <p:sp>
        <p:nvSpPr>
          <p:cNvPr id="4" name="">
            <a:extLst xmlns:a="http://schemas.openxmlformats.org/drawingml/2006/main">
              <a:ext uri="{FF2B5EF4-FFF2-40B4-BE49-F238E27FC236}">
                <a16:creationId xmlns:a16="http://schemas.microsoft.com/office/drawing/2014/main" id="{1B3352B9-574E-4A2C-9A2E-04109B2FEA98}"/>
              </a:ext>
            </a:extLst>
          </p:cNvPr>
          <p:cNvSpPr>
            <a:spLocks xmlns:a="http://schemas.openxmlformats.org/drawingml/2006/main" noGrp="1"/>
          </p:cNvSpPr>
          <p:nvPr/>
        </p:nvSpPr>
        <p:spPr>
          <a:xfrm xmlns:a="http://schemas.openxmlformats.org/drawingml/2006/main">
            <a:off x="685800" y="533400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96D"/>
                </a:solidFill>
                <a:latin typeface="Arial"/>
                <a:ea typeface="Arial"/>
                <a:cs typeface="Arial"/>
              </a:defRPr>
            </a:pPr>
            <a:r>
              <a:rPr sz="2025" b="0">
                <a:solidFill>
                  <a:srgbClr val="53696D"/>
                </a:solidFill>
                <a:latin typeface="Arial"/>
                <a:ea typeface="Arial"/>
                <a:cs typeface="Arial"/>
              </a:rPr>
              <a:t>Accuracy, macro F1, confusion matrix, coverage and accepted accuracy</a:t>
            </a:r>
          </a:p>
        </p:txBody>
      </p:sp>
    </p:spTree>
    <p:extLst>
      <p:ext uri="{BB962C8B-B14F-4D97-AF65-F5344CB8AC3E}">
        <p14:creationId xmlns:p14="http://schemas.microsoft.com/office/powerpoint/2010/main" val="1330140337"/>
      </p:ext>
    </p:extLst>
  </p:cSld>
</p:sld>
</file>

<file path=ppt/slides/slide10.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C170EB2-95E4-4D98-9548-5928625E0FB1}"/>
              </a:ext>
            </a:extLst>
          </p:cNvPr>
          <p:cNvSpPr>
            <a:spLocks xmlns:a="http://schemas.openxmlformats.org/drawingml/2006/main" noGrp="1"/>
          </p:cNvSpPr>
          <p:nvPr/>
        </p:nvSpPr>
        <p:spPr>
          <a:xfrm xmlns:a="http://schemas.openxmlformats.org/drawingml/2006/main">
            <a:off x="647700" y="4572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E35"/>
                </a:solidFill>
                <a:latin typeface="Arial"/>
                <a:ea typeface="Arial"/>
                <a:cs typeface="Arial"/>
              </a:defRPr>
            </a:pPr>
            <a:r>
              <a:rPr sz="3300" b="1">
                <a:solidFill>
                  <a:srgbClr val="182E35"/>
                </a:solidFill>
                <a:latin typeface="Arial"/>
                <a:ea typeface="Arial"/>
                <a:cs typeface="Arial"/>
              </a:rPr>
              <a:t>Working demonstration</a:t>
            </a:r>
          </a:p>
        </p:txBody>
      </p:sp>
      <p:sp>
        <p:nvSpPr>
          <p:cNvPr id="2" name="">
            <a:extLst xmlns:a="http://schemas.openxmlformats.org/drawingml/2006/main">
              <a:ext uri="{FF2B5EF4-FFF2-40B4-BE49-F238E27FC236}">
                <a16:creationId xmlns:a16="http://schemas.microsoft.com/office/drawing/2014/main" id="{4E38DFF0-A131-41B6-A4AC-B0554CA48751}"/>
              </a:ext>
            </a:extLst>
          </p:cNvPr>
          <p:cNvSpPr>
            <a:spLocks xmlns:a="http://schemas.openxmlformats.org/drawingml/2006/main" noGrp="1"/>
          </p:cNvSpPr>
          <p:nvPr/>
        </p:nvSpPr>
        <p:spPr>
          <a:xfrm xmlns:a="http://schemas.openxmlformats.org/drawingml/2006/main">
            <a:off x="11144250" y="62865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96D"/>
                </a:solidFill>
                <a:latin typeface="Arial"/>
                <a:ea typeface="Arial"/>
                <a:cs typeface="Arial"/>
              </a:defRPr>
            </a:pPr>
            <a:r>
              <a:rPr sz="1200" b="0">
                <a:solidFill>
                  <a:srgbClr val="53696D"/>
                </a:solidFill>
                <a:latin typeface="Arial"/>
                <a:ea typeface="Arial"/>
                <a:cs typeface="Arial"/>
              </a:rPr>
              <a:t>10</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1e7360332754510"/>
          <a:stretch xmlns:a="http://schemas.openxmlformats.org/drawingml/2006/main"/>
        </p:blipFill>
        <p:spPr>
          <a:xfrm xmlns:a="http://schemas.openxmlformats.org/drawingml/2006/main">
            <a:off x="2431957" y="1381125"/>
            <a:ext cx="3518087" cy="4667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14B855C-EBDF-44E0-9E65-941E719E8105}"/>
              </a:ext>
            </a:extLst>
          </p:cNvPr>
          <p:cNvSpPr>
            <a:spLocks xmlns:a="http://schemas.openxmlformats.org/drawingml/2006/main" noGrp="1"/>
          </p:cNvSpPr>
          <p:nvPr/>
        </p:nvSpPr>
        <p:spPr>
          <a:xfrm xmlns:a="http://schemas.openxmlformats.org/drawingml/2006/main">
            <a:off x="8172450" y="1857375"/>
            <a:ext cx="33718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E35"/>
                </a:solidFill>
                <a:latin typeface="Arial"/>
                <a:ea typeface="Arial"/>
                <a:cs typeface="Arial"/>
              </a:defRPr>
            </a:pPr>
            <a:r>
              <a:rPr sz="2250" b="0">
                <a:solidFill>
                  <a:srgbClr val="182E35"/>
                </a:solidFill>
                <a:latin typeface="Arial"/>
                <a:ea typeface="Arial"/>
                <a:cs typeface="Arial"/>
              </a:rPr>
              <a:t>Live lab</a:t>
            </a:r>
          </a:p>
          <a:p xmlns:a="http://schemas.openxmlformats.org/drawingml/2006/main">
            <a:pPr>
              <a:defRPr sz="2250" b="0">
                <a:solidFill>
                  <a:srgbClr val="182E35"/>
                </a:solidFill>
                <a:latin typeface="Arial"/>
                <a:ea typeface="Arial"/>
                <a:cs typeface="Arial"/>
              </a:defRPr>
            </a:pPr>
            <a:r>
              <a:rPr sz="2250" b="0">
                <a:solidFill>
                  <a:srgbClr val="182E35"/>
                </a:solidFill>
                <a:latin typeface="Arial"/>
                <a:ea typeface="Arial"/>
                <a:cs typeface="Arial"/>
              </a:rPr>
              <a:t>Dataset collection</a:t>
            </a:r>
          </a:p>
          <a:p xmlns:a="http://schemas.openxmlformats.org/drawingml/2006/main">
            <a:pPr>
              <a:defRPr sz="2250" b="0">
                <a:solidFill>
                  <a:srgbClr val="182E35"/>
                </a:solidFill>
                <a:latin typeface="Arial"/>
                <a:ea typeface="Arial"/>
                <a:cs typeface="Arial"/>
              </a:defRPr>
            </a:pPr>
            <a:r>
              <a:rPr sz="2250" b="0">
                <a:solidFill>
                  <a:srgbClr val="182E35"/>
                </a:solidFill>
                <a:latin typeface="Arial"/>
                <a:ea typeface="Arial"/>
                <a:cs typeface="Arial"/>
              </a:rPr>
              <a:t>Model comparison</a:t>
            </a:r>
          </a:p>
          <a:p xmlns:a="http://schemas.openxmlformats.org/drawingml/2006/main">
            <a:pPr>
              <a:defRPr sz="2250" b="0">
                <a:solidFill>
                  <a:srgbClr val="182E35"/>
                </a:solidFill>
                <a:latin typeface="Arial"/>
                <a:ea typeface="Arial"/>
                <a:cs typeface="Arial"/>
              </a:defRPr>
            </a:pPr>
            <a:r>
              <a:rPr sz="2250" b="0">
                <a:solidFill>
                  <a:srgbClr val="182E35"/>
                </a:solidFill>
                <a:latin typeface="Arial"/>
                <a:ea typeface="Arial"/>
                <a:cs typeface="Arial"/>
              </a:rPr>
              <a:t>Session export</a:t>
            </a:r>
          </a:p>
        </p:txBody>
      </p:sp>
      <p:sp>
        <p:nvSpPr>
          <p:cNvPr id="5" name="">
            <a:extLst xmlns:a="http://schemas.openxmlformats.org/drawingml/2006/main">
              <a:ext uri="{FF2B5EF4-FFF2-40B4-BE49-F238E27FC236}">
                <a16:creationId xmlns:a16="http://schemas.microsoft.com/office/drawing/2014/main" id="{FA39D90D-FE96-4311-A5E5-B8FEE09EA560}"/>
              </a:ext>
            </a:extLst>
          </p:cNvPr>
          <p:cNvSpPr>
            <a:spLocks xmlns:a="http://schemas.openxmlformats.org/drawingml/2006/main" noGrp="1"/>
          </p:cNvSpPr>
          <p:nvPr/>
        </p:nvSpPr>
        <p:spPr>
          <a:xfrm xmlns:a="http://schemas.openxmlformats.org/drawingml/2006/main">
            <a:off x="8172450" y="4762500"/>
            <a:ext cx="3371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96D"/>
                </a:solidFill>
                <a:latin typeface="Arial"/>
                <a:ea typeface="Arial"/>
                <a:cs typeface="Arial"/>
              </a:defRPr>
            </a:pPr>
            <a:r>
              <a:rPr sz="1875" b="0">
                <a:solidFill>
                  <a:srgbClr val="53696D"/>
                </a:solidFill>
                <a:latin typeface="Arial"/>
                <a:ea typeface="Arial"/>
                <a:cs typeface="Arial"/>
              </a:rPr>
              <a:t>Simulation is labeled.</a:t>
            </a:r>
          </a:p>
          <a:p xmlns:a="http://schemas.openxmlformats.org/drawingml/2006/main">
            <a:pPr>
              <a:defRPr sz="1875" b="0">
                <a:solidFill>
                  <a:srgbClr val="53696D"/>
                </a:solidFill>
                <a:latin typeface="Arial"/>
                <a:ea typeface="Arial"/>
                <a:cs typeface="Arial"/>
              </a:defRPr>
            </a:pPr>
            <a:r>
              <a:rPr sz="1875" b="0">
                <a:solidFill>
                  <a:srgbClr val="53696D"/>
                </a:solidFill>
                <a:latin typeface="Arial"/>
                <a:ea typeface="Arial"/>
                <a:cs typeface="Arial"/>
              </a:rPr>
              <a:t>Real participant results</a:t>
            </a:r>
          </a:p>
          <a:p xmlns:a="http://schemas.openxmlformats.org/drawingml/2006/main">
            <a:pPr>
              <a:defRPr sz="1875" b="0">
                <a:solidFill>
                  <a:srgbClr val="53696D"/>
                </a:solidFill>
                <a:latin typeface="Arial"/>
                <a:ea typeface="Arial"/>
                <a:cs typeface="Arial"/>
              </a:defRPr>
            </a:pPr>
            <a:r>
              <a:rPr sz="1875" b="0">
                <a:solidFill>
                  <a:srgbClr val="53696D"/>
                </a:solidFill>
                <a:latin typeface="Arial"/>
                <a:ea typeface="Arial"/>
                <a:cs typeface="Arial"/>
              </a:rPr>
              <a:t>remain pending.</a:t>
            </a:r>
          </a:p>
        </p:txBody>
      </p:sp>
    </p:spTree>
    <p:extLst>
      <p:ext uri="{BB962C8B-B14F-4D97-AF65-F5344CB8AC3E}">
        <p14:creationId xmlns:p14="http://schemas.microsoft.com/office/powerpoint/2010/main" val="1141883643"/>
      </p:ext>
    </p:extLst>
  </p:cSld>
</p:sld>
</file>

<file path=ppt/slides/slide11.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51CCF9B-1F41-434B-9232-79D92B51A48A}"/>
              </a:ext>
            </a:extLst>
          </p:cNvPr>
          <p:cNvSpPr>
            <a:spLocks xmlns:a="http://schemas.openxmlformats.org/drawingml/2006/main" noGrp="1"/>
          </p:cNvSpPr>
          <p:nvPr/>
        </p:nvSpPr>
        <p:spPr>
          <a:xfrm xmlns:a="http://schemas.openxmlformats.org/drawingml/2006/main">
            <a:off x="647700" y="4572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E35"/>
                </a:solidFill>
                <a:latin typeface="Arial"/>
                <a:ea typeface="Arial"/>
                <a:cs typeface="Arial"/>
              </a:defRPr>
            </a:pPr>
            <a:r>
              <a:rPr sz="3300" b="1">
                <a:solidFill>
                  <a:srgbClr val="182E35"/>
                </a:solidFill>
                <a:latin typeface="Arial"/>
                <a:ea typeface="Arial"/>
                <a:cs typeface="Arial"/>
              </a:rPr>
              <a:t>Implementation verification</a:t>
            </a:r>
          </a:p>
        </p:txBody>
      </p:sp>
      <p:sp>
        <p:nvSpPr>
          <p:cNvPr id="2" name="">
            <a:extLst xmlns:a="http://schemas.openxmlformats.org/drawingml/2006/main">
              <a:ext uri="{FF2B5EF4-FFF2-40B4-BE49-F238E27FC236}">
                <a16:creationId xmlns:a16="http://schemas.microsoft.com/office/drawing/2014/main" id="{766FDA83-BF83-4297-B4C3-37A30E26AD80}"/>
              </a:ext>
            </a:extLst>
          </p:cNvPr>
          <p:cNvSpPr>
            <a:spLocks xmlns:a="http://schemas.openxmlformats.org/drawingml/2006/main" noGrp="1"/>
          </p:cNvSpPr>
          <p:nvPr/>
        </p:nvSpPr>
        <p:spPr>
          <a:xfrm xmlns:a="http://schemas.openxmlformats.org/drawingml/2006/main">
            <a:off x="11144250" y="62865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96D"/>
                </a:solidFill>
                <a:latin typeface="Arial"/>
                <a:ea typeface="Arial"/>
                <a:cs typeface="Arial"/>
              </a:defRPr>
            </a:pPr>
            <a:r>
              <a:rPr sz="1200" b="0">
                <a:solidFill>
                  <a:srgbClr val="53696D"/>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830B6E30-FB8A-46C4-8B5E-A651A919C6BE}"/>
              </a:ext>
            </a:extLst>
          </p:cNvPr>
          <p:cNvSpPr>
            <a:spLocks xmlns:a="http://schemas.openxmlformats.org/drawingml/2006/main" noGrp="1"/>
          </p:cNvSpPr>
          <p:nvPr/>
        </p:nvSpPr>
        <p:spPr>
          <a:xfrm xmlns:a="http://schemas.openxmlformats.org/drawingml/2006/main">
            <a:off x="685800" y="15716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B6654"/>
                </a:solidFill>
                <a:latin typeface="Arial"/>
                <a:ea typeface="Arial"/>
                <a:cs typeface="Arial"/>
              </a:defRPr>
            </a:pPr>
            <a:r>
              <a:rPr sz="1950" b="1">
                <a:solidFill>
                  <a:srgbClr val="2B6654"/>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7EB5067B-D552-4891-B4E3-A76BFCB12431}"/>
              </a:ext>
            </a:extLst>
          </p:cNvPr>
          <p:cNvSpPr>
            <a:spLocks xmlns:a="http://schemas.openxmlformats.org/drawingml/2006/main" noGrp="1"/>
          </p:cNvSpPr>
          <p:nvPr/>
        </p:nvSpPr>
        <p:spPr>
          <a:xfrm xmlns:a="http://schemas.openxmlformats.org/drawingml/2006/main">
            <a:off x="1428750" y="1571625"/>
            <a:ext cx="962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2E35"/>
                </a:solidFill>
                <a:latin typeface="Arial"/>
                <a:ea typeface="Arial"/>
                <a:cs typeface="Arial"/>
              </a:defRPr>
            </a:pPr>
            <a:r>
              <a:rPr sz="2175" b="1">
                <a:solidFill>
                  <a:srgbClr val="182E35"/>
                </a:solidFill>
                <a:latin typeface="Arial"/>
                <a:ea typeface="Arial"/>
                <a:cs typeface="Arial"/>
              </a:rPr>
              <a:t>22 automated checks</a:t>
            </a:r>
          </a:p>
        </p:txBody>
      </p:sp>
      <p:sp>
        <p:nvSpPr>
          <p:cNvPr id="5" name="">
            <a:extLst xmlns:a="http://schemas.openxmlformats.org/drawingml/2006/main">
              <a:ext uri="{FF2B5EF4-FFF2-40B4-BE49-F238E27FC236}">
                <a16:creationId xmlns:a16="http://schemas.microsoft.com/office/drawing/2014/main" id="{C912CBA0-BC51-4D14-8296-A8130F160670}"/>
              </a:ext>
            </a:extLst>
          </p:cNvPr>
          <p:cNvSpPr>
            <a:spLocks xmlns:a="http://schemas.openxmlformats.org/drawingml/2006/main" noGrp="1"/>
          </p:cNvSpPr>
          <p:nvPr/>
        </p:nvSpPr>
        <p:spPr>
          <a:xfrm xmlns:a="http://schemas.openxmlformats.org/drawingml/2006/main">
            <a:off x="1428750" y="2028825"/>
            <a:ext cx="952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96D"/>
                </a:solidFill>
                <a:latin typeface="Arial"/>
                <a:ea typeface="Arial"/>
                <a:cs typeface="Arial"/>
              </a:defRPr>
            </a:pPr>
            <a:r>
              <a:rPr sz="1875" b="0">
                <a:solidFill>
                  <a:srgbClr val="53696D"/>
                </a:solidFill>
                <a:latin typeface="Arial"/>
                <a:ea typeface="Arial"/>
                <a:cs typeface="Arial"/>
              </a:rPr>
              <a:t>Geometry, timing, quality rejection, participant splits, training and state logic.</a:t>
            </a:r>
          </a:p>
        </p:txBody>
      </p:sp>
      <p:sp>
        <p:nvSpPr>
          <p:cNvPr id="6" name="">
            <a:extLst xmlns:a="http://schemas.openxmlformats.org/drawingml/2006/main">
              <a:ext uri="{FF2B5EF4-FFF2-40B4-BE49-F238E27FC236}">
                <a16:creationId xmlns:a16="http://schemas.microsoft.com/office/drawing/2014/main" id="{7C490AD4-6693-4C69-BB31-5E9CF31ABE06}"/>
              </a:ext>
            </a:extLst>
          </p:cNvPr>
          <p:cNvSpPr>
            <a:spLocks xmlns:a="http://schemas.openxmlformats.org/drawingml/2006/main" noGrp="1"/>
          </p:cNvSpPr>
          <p:nvPr/>
        </p:nvSpPr>
        <p:spPr>
          <a:xfrm xmlns:a="http://schemas.openxmlformats.org/drawingml/2006/main">
            <a:off x="685800" y="2952750"/>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B6654"/>
                </a:solidFill>
                <a:latin typeface="Arial"/>
                <a:ea typeface="Arial"/>
                <a:cs typeface="Arial"/>
              </a:defRPr>
            </a:pPr>
            <a:r>
              <a:rPr sz="1950" b="1">
                <a:solidFill>
                  <a:srgbClr val="2B6654"/>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756774AE-0767-4198-B50A-E84C84EED64D}"/>
              </a:ext>
            </a:extLst>
          </p:cNvPr>
          <p:cNvSpPr>
            <a:spLocks xmlns:a="http://schemas.openxmlformats.org/drawingml/2006/main" noGrp="1"/>
          </p:cNvSpPr>
          <p:nvPr/>
        </p:nvSpPr>
        <p:spPr>
          <a:xfrm xmlns:a="http://schemas.openxmlformats.org/drawingml/2006/main">
            <a:off x="1428750" y="2952750"/>
            <a:ext cx="962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2E35"/>
                </a:solidFill>
                <a:latin typeface="Arial"/>
                <a:ea typeface="Arial"/>
                <a:cs typeface="Arial"/>
              </a:defRPr>
            </a:pPr>
            <a:r>
              <a:rPr sz="2175" b="1">
                <a:solidFill>
                  <a:srgbClr val="182E35"/>
                </a:solidFill>
                <a:latin typeface="Arial"/>
                <a:ea typeface="Arial"/>
                <a:cs typeface="Arial"/>
              </a:rPr>
              <a:t>Actual pose inference</a:t>
            </a:r>
          </a:p>
        </p:txBody>
      </p:sp>
      <p:sp>
        <p:nvSpPr>
          <p:cNvPr id="8" name="">
            <a:extLst xmlns:a="http://schemas.openxmlformats.org/drawingml/2006/main">
              <a:ext uri="{FF2B5EF4-FFF2-40B4-BE49-F238E27FC236}">
                <a16:creationId xmlns:a16="http://schemas.microsoft.com/office/drawing/2014/main" id="{D8D418D6-23C2-4D05-A2D3-60499C23E732}"/>
              </a:ext>
            </a:extLst>
          </p:cNvPr>
          <p:cNvSpPr>
            <a:spLocks xmlns:a="http://schemas.openxmlformats.org/drawingml/2006/main" noGrp="1"/>
          </p:cNvSpPr>
          <p:nvPr/>
        </p:nvSpPr>
        <p:spPr>
          <a:xfrm xmlns:a="http://schemas.openxmlformats.org/drawingml/2006/main">
            <a:off x="1428750" y="3409950"/>
            <a:ext cx="952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96D"/>
                </a:solidFill>
                <a:latin typeface="Arial"/>
                <a:ea typeface="Arial"/>
                <a:cs typeface="Arial"/>
              </a:defRPr>
            </a:pPr>
            <a:r>
              <a:rPr sz="1875" b="0">
                <a:solidFill>
                  <a:srgbClr val="53696D"/>
                </a:solidFill>
                <a:latin typeface="Arial"/>
                <a:ea typeface="Arial"/>
                <a:cs typeface="Arial"/>
              </a:rPr>
              <a:t>The official Lite model detected 33 landmarks in a public test image.</a:t>
            </a:r>
          </a:p>
        </p:txBody>
      </p:sp>
      <p:sp>
        <p:nvSpPr>
          <p:cNvPr id="9" name="">
            <a:extLst xmlns:a="http://schemas.openxmlformats.org/drawingml/2006/main">
              <a:ext uri="{FF2B5EF4-FFF2-40B4-BE49-F238E27FC236}">
                <a16:creationId xmlns:a16="http://schemas.microsoft.com/office/drawing/2014/main" id="{FD7A7E76-6ABD-4A92-B476-2F2E7AE8E9C6}"/>
              </a:ext>
            </a:extLst>
          </p:cNvPr>
          <p:cNvSpPr>
            <a:spLocks xmlns:a="http://schemas.openxmlformats.org/drawingml/2006/main" noGrp="1"/>
          </p:cNvSpPr>
          <p:nvPr/>
        </p:nvSpPr>
        <p:spPr>
          <a:xfrm xmlns:a="http://schemas.openxmlformats.org/drawingml/2006/main">
            <a:off x="685800" y="43338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B6654"/>
                </a:solidFill>
                <a:latin typeface="Arial"/>
                <a:ea typeface="Arial"/>
                <a:cs typeface="Arial"/>
              </a:defRPr>
            </a:pPr>
            <a:r>
              <a:rPr sz="1950" b="1">
                <a:solidFill>
                  <a:srgbClr val="2B6654"/>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CA4EB48B-46BF-466E-821F-7CBA8AA66A64}"/>
              </a:ext>
            </a:extLst>
          </p:cNvPr>
          <p:cNvSpPr>
            <a:spLocks xmlns:a="http://schemas.openxmlformats.org/drawingml/2006/main" noGrp="1"/>
          </p:cNvSpPr>
          <p:nvPr/>
        </p:nvSpPr>
        <p:spPr>
          <a:xfrm xmlns:a="http://schemas.openxmlformats.org/drawingml/2006/main">
            <a:off x="1428750" y="4333875"/>
            <a:ext cx="962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2E35"/>
                </a:solidFill>
                <a:latin typeface="Arial"/>
                <a:ea typeface="Arial"/>
                <a:cs typeface="Arial"/>
              </a:defRPr>
            </a:pPr>
            <a:r>
              <a:rPr sz="2175" b="1">
                <a:solidFill>
                  <a:srgbClr val="182E35"/>
                </a:solidFill>
                <a:latin typeface="Arial"/>
                <a:ea typeface="Arial"/>
                <a:cs typeface="Arial"/>
              </a:rPr>
              <a:t>Empirical evaluation pending</a:t>
            </a:r>
          </a:p>
        </p:txBody>
      </p:sp>
      <p:sp>
        <p:nvSpPr>
          <p:cNvPr id="11" name="">
            <a:extLst xmlns:a="http://schemas.openxmlformats.org/drawingml/2006/main">
              <a:ext uri="{FF2B5EF4-FFF2-40B4-BE49-F238E27FC236}">
                <a16:creationId xmlns:a16="http://schemas.microsoft.com/office/drawing/2014/main" id="{64F5BE15-2080-43FC-B658-FFCE114D010A}"/>
              </a:ext>
            </a:extLst>
          </p:cNvPr>
          <p:cNvSpPr>
            <a:spLocks xmlns:a="http://schemas.openxmlformats.org/drawingml/2006/main" noGrp="1"/>
          </p:cNvSpPr>
          <p:nvPr/>
        </p:nvSpPr>
        <p:spPr>
          <a:xfrm xmlns:a="http://schemas.openxmlformats.org/drawingml/2006/main">
            <a:off x="1428750" y="4791075"/>
            <a:ext cx="952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96D"/>
                </a:solidFill>
                <a:latin typeface="Arial"/>
                <a:ea typeface="Arial"/>
                <a:cs typeface="Arial"/>
              </a:defRPr>
            </a:pPr>
            <a:r>
              <a:rPr sz="1875" b="0">
                <a:solidFill>
                  <a:srgbClr val="53696D"/>
                </a:solidFill>
                <a:latin typeface="Arial"/>
                <a:ea typeface="Arial"/>
                <a:cs typeface="Arial"/>
              </a:rPr>
              <a:t>Real recordings are needed for activity accuracy, count error and laptop speed.</a:t>
            </a:r>
          </a:p>
        </p:txBody>
      </p:sp>
    </p:spTree>
    <p:extLst>
      <p:ext uri="{BB962C8B-B14F-4D97-AF65-F5344CB8AC3E}">
        <p14:creationId xmlns:p14="http://schemas.microsoft.com/office/powerpoint/2010/main" val="46193683"/>
      </p:ext>
    </p:extLst>
  </p:cSld>
</p:sld>
</file>

<file path=ppt/slides/slide12.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C5879FD-7605-4DED-A6AA-0F7C161A8AA8}"/>
              </a:ext>
            </a:extLst>
          </p:cNvPr>
          <p:cNvSpPr>
            <a:spLocks xmlns:a="http://schemas.openxmlformats.org/drawingml/2006/main" noGrp="1"/>
          </p:cNvSpPr>
          <p:nvPr/>
        </p:nvSpPr>
        <p:spPr>
          <a:xfrm xmlns:a="http://schemas.openxmlformats.org/drawingml/2006/main">
            <a:off x="647700" y="4572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E35"/>
                </a:solidFill>
                <a:latin typeface="Arial"/>
                <a:ea typeface="Arial"/>
                <a:cs typeface="Arial"/>
              </a:defRPr>
            </a:pPr>
            <a:r>
              <a:rPr sz="3300" b="1">
                <a:solidFill>
                  <a:srgbClr val="182E35"/>
                </a:solidFill>
                <a:latin typeface="Arial"/>
                <a:ea typeface="Arial"/>
                <a:cs typeface="Arial"/>
              </a:rPr>
              <a:t>Limitations and next steps</a:t>
            </a:r>
          </a:p>
        </p:txBody>
      </p:sp>
      <p:sp>
        <p:nvSpPr>
          <p:cNvPr id="2" name="">
            <a:extLst xmlns:a="http://schemas.openxmlformats.org/drawingml/2006/main">
              <a:ext uri="{FF2B5EF4-FFF2-40B4-BE49-F238E27FC236}">
                <a16:creationId xmlns:a16="http://schemas.microsoft.com/office/drawing/2014/main" id="{84C6529E-96DF-49B2-9111-BF57367AD2FC}"/>
              </a:ext>
            </a:extLst>
          </p:cNvPr>
          <p:cNvSpPr>
            <a:spLocks xmlns:a="http://schemas.openxmlformats.org/drawingml/2006/main" noGrp="1"/>
          </p:cNvSpPr>
          <p:nvPr/>
        </p:nvSpPr>
        <p:spPr>
          <a:xfrm xmlns:a="http://schemas.openxmlformats.org/drawingml/2006/main">
            <a:off x="11144250" y="62865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96D"/>
                </a:solidFill>
                <a:latin typeface="Arial"/>
                <a:ea typeface="Arial"/>
                <a:cs typeface="Arial"/>
              </a:defRPr>
            </a:pPr>
            <a:r>
              <a:rPr sz="1200" b="0">
                <a:solidFill>
                  <a:srgbClr val="53696D"/>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C6BA142E-3FFA-4AB8-B1F0-462561B16CAE}"/>
              </a:ext>
            </a:extLst>
          </p:cNvPr>
          <p:cNvSpPr>
            <a:spLocks xmlns:a="http://schemas.openxmlformats.org/drawingml/2006/main" noGrp="1"/>
          </p:cNvSpPr>
          <p:nvPr/>
        </p:nvSpPr>
        <p:spPr>
          <a:xfrm xmlns:a="http://schemas.openxmlformats.org/drawingml/2006/main">
            <a:off x="685800" y="16192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2E35"/>
                </a:solidFill>
                <a:latin typeface="Arial"/>
                <a:ea typeface="Arial"/>
                <a:cs typeface="Arial"/>
              </a:defRPr>
            </a:pPr>
            <a:r>
              <a:rPr sz="2325" b="0">
                <a:solidFill>
                  <a:srgbClr val="182E35"/>
                </a:solidFill>
                <a:latin typeface="Arial"/>
                <a:ea typeface="Arial"/>
                <a:cs typeface="Arial"/>
              </a:rPr>
              <a:t>Single person and camera-view sensitivity</a:t>
            </a:r>
          </a:p>
        </p:txBody>
      </p:sp>
      <p:sp>
        <p:nvSpPr>
          <p:cNvPr id="4" name="">
            <a:extLst xmlns:a="http://schemas.openxmlformats.org/drawingml/2006/main">
              <a:ext uri="{FF2B5EF4-FFF2-40B4-BE49-F238E27FC236}">
                <a16:creationId xmlns:a16="http://schemas.microsoft.com/office/drawing/2014/main" id="{349187A2-EC92-46CE-AB05-41ED1C4CED3E}"/>
              </a:ext>
            </a:extLst>
          </p:cNvPr>
          <p:cNvSpPr>
            <a:spLocks xmlns:a="http://schemas.openxmlformats.org/drawingml/2006/main" noGrp="1"/>
          </p:cNvSpPr>
          <p:nvPr/>
        </p:nvSpPr>
        <p:spPr>
          <a:xfrm xmlns:a="http://schemas.openxmlformats.org/drawingml/2006/main">
            <a:off x="685800" y="26479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2E35"/>
                </a:solidFill>
                <a:latin typeface="Arial"/>
                <a:ea typeface="Arial"/>
                <a:cs typeface="Arial"/>
              </a:defRPr>
            </a:pPr>
            <a:r>
              <a:rPr sz="2325" b="0">
                <a:solidFill>
                  <a:srgbClr val="182E35"/>
                </a:solidFill>
                <a:latin typeface="Arial"/>
                <a:ea typeface="Arial"/>
                <a:cs typeface="Arial"/>
              </a:rPr>
              <a:t>Occlusion and two-second motion-window delay</a:t>
            </a:r>
          </a:p>
        </p:txBody>
      </p:sp>
      <p:sp>
        <p:nvSpPr>
          <p:cNvPr id="5" name="">
            <a:extLst xmlns:a="http://schemas.openxmlformats.org/drawingml/2006/main">
              <a:ext uri="{FF2B5EF4-FFF2-40B4-BE49-F238E27FC236}">
                <a16:creationId xmlns:a16="http://schemas.microsoft.com/office/drawing/2014/main" id="{DD7ED658-A081-4DB9-BD9D-0BCB2C6D2335}"/>
              </a:ext>
            </a:extLst>
          </p:cNvPr>
          <p:cNvSpPr>
            <a:spLocks xmlns:a="http://schemas.openxmlformats.org/drawingml/2006/main" noGrp="1"/>
          </p:cNvSpPr>
          <p:nvPr/>
        </p:nvSpPr>
        <p:spPr>
          <a:xfrm xmlns:a="http://schemas.openxmlformats.org/drawingml/2006/main">
            <a:off x="685800" y="36766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2E35"/>
                </a:solidFill>
                <a:latin typeface="Arial"/>
                <a:ea typeface="Arial"/>
                <a:cs typeface="Arial"/>
              </a:defRPr>
            </a:pPr>
            <a:r>
              <a:rPr sz="2325" b="0">
                <a:solidFill>
                  <a:srgbClr val="182E35"/>
                </a:solidFill>
                <a:latin typeface="Arial"/>
                <a:ea typeface="Arial"/>
                <a:cs typeface="Arial"/>
              </a:rPr>
              <a:t>Small dataset and uncalibrated classifier scores</a:t>
            </a:r>
          </a:p>
        </p:txBody>
      </p:sp>
      <p:sp>
        <p:nvSpPr>
          <p:cNvPr id="6" name="">
            <a:extLst xmlns:a="http://schemas.openxmlformats.org/drawingml/2006/main">
              <a:ext uri="{FF2B5EF4-FFF2-40B4-BE49-F238E27FC236}">
                <a16:creationId xmlns:a16="http://schemas.microsoft.com/office/drawing/2014/main" id="{6D1C702B-02EB-4976-8011-9DD0F93787E1}"/>
              </a:ext>
            </a:extLst>
          </p:cNvPr>
          <p:cNvSpPr>
            <a:spLocks xmlns:a="http://schemas.openxmlformats.org/drawingml/2006/main" noGrp="1"/>
          </p:cNvSpPr>
          <p:nvPr/>
        </p:nvSpPr>
        <p:spPr>
          <a:xfrm xmlns:a="http://schemas.openxmlformats.org/drawingml/2006/main">
            <a:off x="685800" y="47053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2E35"/>
                </a:solidFill>
                <a:latin typeface="Arial"/>
                <a:ea typeface="Arial"/>
                <a:cs typeface="Arial"/>
              </a:defRPr>
            </a:pPr>
            <a:r>
              <a:rPr sz="2325" b="0">
                <a:solidFill>
                  <a:srgbClr val="182E35"/>
                </a:solidFill>
                <a:latin typeface="Arial"/>
                <a:ea typeface="Arial"/>
                <a:cs typeface="Arial"/>
              </a:rPr>
              <a:t>Next: collect participants and complete the fixed comparison</a:t>
            </a:r>
          </a:p>
        </p:txBody>
      </p:sp>
    </p:spTree>
    <p:extLst>
      <p:ext uri="{BB962C8B-B14F-4D97-AF65-F5344CB8AC3E}">
        <p14:creationId xmlns:p14="http://schemas.microsoft.com/office/powerpoint/2010/main" val="70890885"/>
      </p:ext>
    </p:extLst>
  </p:cSld>
</p:sld>
</file>

<file path=ppt/slides/slide13.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05D66F-6F8B-4A36-9EF5-0406FB46D015}"/>
              </a:ext>
            </a:extLst>
          </p:cNvPr>
          <p:cNvSpPr>
            <a:spLocks xmlns:a="http://schemas.openxmlformats.org/drawingml/2006/main" noGrp="1"/>
          </p:cNvSpPr>
          <p:nvPr/>
        </p:nvSpPr>
        <p:spPr>
          <a:xfrm xmlns:a="http://schemas.openxmlformats.org/drawingml/2006/main">
            <a:off x="647700" y="457200"/>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E35"/>
                </a:solidFill>
                <a:latin typeface="Arial"/>
                <a:ea typeface="Arial"/>
                <a:cs typeface="Arial"/>
              </a:defRPr>
            </a:pPr>
            <a:r>
              <a:rPr sz="3300" b="1">
                <a:solidFill>
                  <a:srgbClr val="182E35"/>
                </a:solidFill>
                <a:latin typeface="Arial"/>
                <a:ea typeface="Arial"/>
                <a:cs typeface="Arial"/>
              </a:rPr>
              <a:t>Research references</a:t>
            </a:r>
          </a:p>
        </p:txBody>
      </p:sp>
      <p:sp>
        <p:nvSpPr>
          <p:cNvPr id="2" name="">
            <a:extLst xmlns:a="http://schemas.openxmlformats.org/drawingml/2006/main">
              <a:ext uri="{FF2B5EF4-FFF2-40B4-BE49-F238E27FC236}">
                <a16:creationId xmlns:a16="http://schemas.microsoft.com/office/drawing/2014/main" id="{5AD8D751-C3F5-4010-B8FD-01EBD6444BD6}"/>
              </a:ext>
            </a:extLst>
          </p:cNvPr>
          <p:cNvSpPr>
            <a:spLocks xmlns:a="http://schemas.openxmlformats.org/drawingml/2006/main" noGrp="1"/>
          </p:cNvSpPr>
          <p:nvPr/>
        </p:nvSpPr>
        <p:spPr>
          <a:xfrm xmlns:a="http://schemas.openxmlformats.org/drawingml/2006/main">
            <a:off x="11144250" y="62865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96D"/>
                </a:solidFill>
                <a:latin typeface="Arial"/>
                <a:ea typeface="Arial"/>
                <a:cs typeface="Arial"/>
              </a:defRPr>
            </a:pPr>
            <a:r>
              <a:rPr sz="1200" b="0">
                <a:solidFill>
                  <a:srgbClr val="53696D"/>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7B5D5BAB-7128-403D-BC00-4DEE9A66930A}"/>
              </a:ext>
            </a:extLst>
          </p:cNvPr>
          <p:cNvSpPr>
            <a:spLocks xmlns:a="http://schemas.openxmlformats.org/drawingml/2006/main" noGrp="1"/>
          </p:cNvSpPr>
          <p:nvPr/>
        </p:nvSpPr>
        <p:spPr>
          <a:xfrm xmlns:a="http://schemas.openxmlformats.org/drawingml/2006/main">
            <a:off x="685800" y="16192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82E35"/>
                </a:solidFill>
                <a:latin typeface="Arial"/>
                <a:ea typeface="Arial"/>
                <a:cs typeface="Arial"/>
              </a:defRPr>
            </a:pPr>
            <a:r>
              <a:rPr sz="2325" b="1">
                <a:solidFill>
                  <a:srgbClr val="182E35"/>
                </a:solidFill>
                <a:latin typeface="Arial"/>
                <a:ea typeface="Arial"/>
                <a:cs typeface="Arial"/>
              </a:rPr>
              <a:t>Bazarevsky et al. 2020</a:t>
            </a:r>
          </a:p>
        </p:txBody>
      </p:sp>
      <p:sp>
        <p:nvSpPr>
          <p:cNvPr id="4" name="">
            <a:extLst xmlns:a="http://schemas.openxmlformats.org/drawingml/2006/main">
              <a:ext uri="{FF2B5EF4-FFF2-40B4-BE49-F238E27FC236}">
                <a16:creationId xmlns:a16="http://schemas.microsoft.com/office/drawing/2014/main" id="{51FB4F2B-A95C-4127-BBDC-779E79B45853}"/>
              </a:ext>
            </a:extLst>
          </p:cNvPr>
          <p:cNvSpPr>
            <a:spLocks xmlns:a="http://schemas.openxmlformats.org/drawingml/2006/main" noGrp="1"/>
          </p:cNvSpPr>
          <p:nvPr/>
        </p:nvSpPr>
        <p:spPr>
          <a:xfrm xmlns:a="http://schemas.openxmlformats.org/drawingml/2006/main">
            <a:off x="685800" y="2181225"/>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96D"/>
                </a:solidFill>
                <a:latin typeface="Arial"/>
                <a:ea typeface="Arial"/>
                <a:cs typeface="Arial"/>
              </a:defRPr>
            </a:pPr>
            <a:r>
              <a:rPr sz="1950" b="0">
                <a:solidFill>
                  <a:srgbClr val="53696D"/>
                </a:solidFill>
                <a:latin typeface="Arial"/>
                <a:ea typeface="Arial"/>
                <a:cs typeface="Arial"/>
              </a:rPr>
              <a:t>BlazePose: On-device Real-time Body Pose Tracking</a:t>
            </a:r>
          </a:p>
          <a:p xmlns:a="http://schemas.openxmlformats.org/drawingml/2006/main">
            <a:pPr>
              <a:defRPr sz="1950" b="0">
                <a:solidFill>
                  <a:srgbClr val="53696D"/>
                </a:solidFill>
                <a:latin typeface="Arial"/>
                <a:ea typeface="Arial"/>
                <a:cs typeface="Arial"/>
              </a:defRPr>
            </a:pPr>
            <a:r>
              <a:rPr sz="1950" b="0">
                <a:solidFill>
                  <a:srgbClr val="53696D"/>
                </a:solidFill>
                <a:latin typeface="Arial"/>
                <a:ea typeface="Arial"/>
                <a:cs typeface="Arial"/>
              </a:rPr>
              <a:t>arxiv.org/abs/2006.10204</a:t>
            </a:r>
          </a:p>
        </p:txBody>
      </p:sp>
      <p:sp>
        <p:nvSpPr>
          <p:cNvPr id="5" name="">
            <a:extLst xmlns:a="http://schemas.openxmlformats.org/drawingml/2006/main">
              <a:ext uri="{FF2B5EF4-FFF2-40B4-BE49-F238E27FC236}">
                <a16:creationId xmlns:a16="http://schemas.microsoft.com/office/drawing/2014/main" id="{77436484-9EAE-440A-ACDF-A8866EB9AAF0}"/>
              </a:ext>
            </a:extLst>
          </p:cNvPr>
          <p:cNvSpPr>
            <a:spLocks xmlns:a="http://schemas.openxmlformats.org/drawingml/2006/main" noGrp="1"/>
          </p:cNvSpPr>
          <p:nvPr/>
        </p:nvSpPr>
        <p:spPr>
          <a:xfrm xmlns:a="http://schemas.openxmlformats.org/drawingml/2006/main">
            <a:off x="685800" y="347662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82E35"/>
                </a:solidFill>
                <a:latin typeface="Arial"/>
                <a:ea typeface="Arial"/>
                <a:cs typeface="Arial"/>
              </a:defRPr>
            </a:pPr>
            <a:r>
              <a:rPr sz="2325" b="1">
                <a:solidFill>
                  <a:srgbClr val="182E35"/>
                </a:solidFill>
                <a:latin typeface="Arial"/>
                <a:ea typeface="Arial"/>
                <a:cs typeface="Arial"/>
              </a:rPr>
              <a:t>Arrowsmith et al. 2023</a:t>
            </a:r>
          </a:p>
        </p:txBody>
      </p:sp>
      <p:sp>
        <p:nvSpPr>
          <p:cNvPr id="6" name="">
            <a:extLst xmlns:a="http://schemas.openxmlformats.org/drawingml/2006/main">
              <a:ext uri="{FF2B5EF4-FFF2-40B4-BE49-F238E27FC236}">
                <a16:creationId xmlns:a16="http://schemas.microsoft.com/office/drawing/2014/main" id="{62B1E815-58FC-4D60-8EFA-4F9A5B24153B}"/>
              </a:ext>
            </a:extLst>
          </p:cNvPr>
          <p:cNvSpPr>
            <a:spLocks xmlns:a="http://schemas.openxmlformats.org/drawingml/2006/main" noGrp="1"/>
          </p:cNvSpPr>
          <p:nvPr/>
        </p:nvSpPr>
        <p:spPr>
          <a:xfrm xmlns:a="http://schemas.openxmlformats.org/drawingml/2006/main">
            <a:off x="685800" y="40386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96D"/>
                </a:solidFill>
                <a:latin typeface="Arial"/>
                <a:ea typeface="Arial"/>
                <a:cs typeface="Arial"/>
              </a:defRPr>
            </a:pPr>
            <a:r>
              <a:rPr sz="1950" b="0">
                <a:solidFill>
                  <a:srgbClr val="53696D"/>
                </a:solidFill>
                <a:latin typeface="Arial"/>
                <a:ea typeface="Arial"/>
                <a:cs typeface="Arial"/>
              </a:rPr>
              <a:t>Physiotherapy Exercise Classification with Single-Camera</a:t>
            </a:r>
          </a:p>
          <a:p xmlns:a="http://schemas.openxmlformats.org/drawingml/2006/main">
            <a:pPr>
              <a:defRPr sz="1950" b="0">
                <a:solidFill>
                  <a:srgbClr val="53696D"/>
                </a:solidFill>
                <a:latin typeface="Arial"/>
                <a:ea typeface="Arial"/>
                <a:cs typeface="Arial"/>
              </a:defRPr>
            </a:pPr>
            <a:r>
              <a:rPr sz="1950" b="0">
                <a:solidFill>
                  <a:srgbClr val="53696D"/>
                </a:solidFill>
                <a:latin typeface="Arial"/>
                <a:ea typeface="Arial"/>
                <a:cs typeface="Arial"/>
              </a:rPr>
              <a:t>Pose Detection and Machine Learning</a:t>
            </a:r>
          </a:p>
          <a:p xmlns:a="http://schemas.openxmlformats.org/drawingml/2006/main">
            <a:pPr>
              <a:defRPr sz="1950" b="0">
                <a:solidFill>
                  <a:srgbClr val="53696D"/>
                </a:solidFill>
                <a:latin typeface="Arial"/>
                <a:ea typeface="Arial"/>
                <a:cs typeface="Arial"/>
              </a:defRPr>
            </a:pPr>
            <a:r>
              <a:rPr sz="1950" b="0">
                <a:solidFill>
                  <a:srgbClr val="53696D"/>
                </a:solidFill>
                <a:latin typeface="Arial"/>
                <a:ea typeface="Arial"/>
                <a:cs typeface="Arial"/>
              </a:rPr>
              <a:t>doi.org/10.3390/s23010363</a:t>
            </a:r>
          </a:p>
        </p:txBody>
      </p:sp>
      <p:sp>
        <p:nvSpPr>
          <p:cNvPr id="7" name="">
            <a:extLst xmlns:a="http://schemas.openxmlformats.org/drawingml/2006/main">
              <a:ext uri="{FF2B5EF4-FFF2-40B4-BE49-F238E27FC236}">
                <a16:creationId xmlns:a16="http://schemas.microsoft.com/office/drawing/2014/main" id="{096EF21E-B687-4456-B601-5BB1337D2619}"/>
              </a:ext>
            </a:extLst>
          </p:cNvPr>
          <p:cNvSpPr>
            <a:spLocks xmlns:a="http://schemas.openxmlformats.org/drawingml/2006/main" noGrp="1"/>
          </p:cNvSpPr>
          <p:nvPr/>
        </p:nvSpPr>
        <p:spPr>
          <a:xfrm xmlns:a="http://schemas.openxmlformats.org/drawingml/2006/main">
            <a:off x="685800" y="56769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B6654"/>
                </a:solidFill>
                <a:latin typeface="Arial"/>
                <a:ea typeface="Arial"/>
                <a:cs typeface="Arial"/>
              </a:defRPr>
            </a:pPr>
            <a:r>
              <a:rPr sz="1725" b="0">
                <a:solidFill>
                  <a:srgbClr val="2B6654"/>
                </a:solidFill>
                <a:latin typeface="Arial"/>
                <a:ea typeface="Arial"/>
                <a:cs typeface="Arial"/>
              </a:rPr>
              <a:t>Implementation references: Google AI Edge and scikit-learn documentation</a:t>
            </a:r>
          </a:p>
        </p:txBody>
      </p:sp>
    </p:spTree>
    <p:extLst>
      <p:ext uri="{BB962C8B-B14F-4D97-AF65-F5344CB8AC3E}">
        <p14:creationId xmlns:p14="http://schemas.microsoft.com/office/powerpoint/2010/main" val="8181681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2026-10-06T15:36:22.1140000Z</dcterms:created>
  <dcterms:modified xsi:type="dcterms:W3CDTF">2026-10-06T15:36:22.1140000Z</dcterms:modified>
</coreProperties>
</file>