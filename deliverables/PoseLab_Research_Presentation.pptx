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790801bea64aa4" /><Relationship Type="http://schemas.openxmlformats.org/officeDocument/2006/relationships/extended-properties" Target="/docProps/app.xml" Id="Ra046d04f031f4b62" /><Relationship Type="http://schemas.openxmlformats.org/officeDocument/2006/relationships/officeDocument" Target="/ppt/presentation.xml" Id="R714c948279264540" /></Relationships>
</file>

<file path=ppt/presentation.xml><?xml version="1.0" encoding="utf-8"?>
<p:presentation xmlns:p="http://schemas.openxmlformats.org/presentationml/2006/main">
  <p:sldMasterIdLst>
    <p:sldMasterId xmlns:r="http://schemas.openxmlformats.org/officeDocument/2006/relationships" id="2147483648" r:id="Rc3067a9913024919"/>
  </p:sldMasterIdLst>
  <p:notesMasterIdLst>
    <p:notesMasterId xmlns:r="http://schemas.openxmlformats.org/officeDocument/2006/relationships" r:id="Rdb1dfd80daff4d56"/>
  </p:notesMasterIdLst>
  <p:sldIdLst>
    <p:sldId xmlns:r="http://schemas.openxmlformats.org/officeDocument/2006/relationships" id="256" r:id="R1632e036e8e441bb"/>
    <p:sldId xmlns:r="http://schemas.openxmlformats.org/officeDocument/2006/relationships" id="257" r:id="Ra5e1af8ead4c49b2"/>
    <p:sldId xmlns:r="http://schemas.openxmlformats.org/officeDocument/2006/relationships" id="258" r:id="R9ec07db111454107"/>
    <p:sldId xmlns:r="http://schemas.openxmlformats.org/officeDocument/2006/relationships" id="259" r:id="R7f727c35080943b7"/>
    <p:sldId xmlns:r="http://schemas.openxmlformats.org/officeDocument/2006/relationships" id="260" r:id="R90e3e31cfcd5427e"/>
    <p:sldId xmlns:r="http://schemas.openxmlformats.org/officeDocument/2006/relationships" id="261" r:id="R710ce00c484243ac"/>
    <p:sldId xmlns:r="http://schemas.openxmlformats.org/officeDocument/2006/relationships" id="262" r:id="Ra15adaa8827a4367"/>
    <p:sldId xmlns:r="http://schemas.openxmlformats.org/officeDocument/2006/relationships" id="263" r:id="R9a156fe38cf74b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114615e0134b60" /><Relationship Type="http://schemas.openxmlformats.org/officeDocument/2006/relationships/slideMaster" Target="/ppt/slideMasters/slideMaster1.xml" Id="Rc3067a9913024919" /><Relationship Type="http://schemas.openxmlformats.org/officeDocument/2006/relationships/notesMaster" Target="/ppt/notesMasters/notesMaster1.xml" Id="Rdb1dfd80daff4d56" /><Relationship Type="http://schemas.openxmlformats.org/officeDocument/2006/relationships/presProps" Target="/ppt/presProps.xml" Id="R3445e5f40a8043e9" /><Relationship Type="http://schemas.openxmlformats.org/officeDocument/2006/relationships/tableStyles" Target="/ppt/tableStyles.xml" Id="R32d1d50c553a47a4" /><Relationship Type="http://schemas.openxmlformats.org/officeDocument/2006/relationships/slide" Target="/ppt/slides/slide1.xml" Id="R1632e036e8e441bb" /><Relationship Type="http://schemas.openxmlformats.org/officeDocument/2006/relationships/slide" Target="/ppt/slides/slide2.xml" Id="Ra5e1af8ead4c49b2" /><Relationship Type="http://schemas.openxmlformats.org/officeDocument/2006/relationships/slide" Target="/ppt/slides/slide3.xml" Id="R9ec07db111454107" /><Relationship Type="http://schemas.openxmlformats.org/officeDocument/2006/relationships/slide" Target="/ppt/slides/slide4.xml" Id="R7f727c35080943b7" /><Relationship Type="http://schemas.openxmlformats.org/officeDocument/2006/relationships/slide" Target="/ppt/slides/slide5.xml" Id="R90e3e31cfcd5427e" /><Relationship Type="http://schemas.openxmlformats.org/officeDocument/2006/relationships/slide" Target="/ppt/slides/slide6.xml" Id="R710ce00c484243ac" /><Relationship Type="http://schemas.openxmlformats.org/officeDocument/2006/relationships/slide" Target="/ppt/slides/slide7.xml" Id="Ra15adaa8827a4367" /><Relationship Type="http://schemas.openxmlformats.org/officeDocument/2006/relationships/slide" Target="/ppt/slides/slide8.xml" Id="R9a156fe38cf74b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b0d138339345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8ac17f7e9485a" /><Relationship Type="http://schemas.openxmlformats.org/officeDocument/2006/relationships/notesMaster" Target="/ppt/notesMasters/notesMaster1.xml" Id="R0c553e10e76644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36366477af49ca" /><Relationship Type="http://schemas.openxmlformats.org/officeDocument/2006/relationships/notesMaster" Target="/ppt/notesMasters/notesMaster1.xml" Id="R8a39080fb53640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114b39e3234511" /><Relationship Type="http://schemas.openxmlformats.org/officeDocument/2006/relationships/notesMaster" Target="/ppt/notesMasters/notesMaster1.xml" Id="R3f6a0490fc2749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74ef9701f646ee" /><Relationship Type="http://schemas.openxmlformats.org/officeDocument/2006/relationships/notesMaster" Target="/ppt/notesMasters/notesMaster1.xml" Id="R0a32e5fc5bf544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c24bb264de4a7e" /><Relationship Type="http://schemas.openxmlformats.org/officeDocument/2006/relationships/notesMaster" Target="/ppt/notesMasters/notesMaster1.xml" Id="Rcaa8db1ff26d44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9357320987463d" /><Relationship Type="http://schemas.openxmlformats.org/officeDocument/2006/relationships/notesMaster" Target="/ppt/notesMasters/notesMaster1.xml" Id="R00dc091ff11c43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30886923f54a6d" /><Relationship Type="http://schemas.openxmlformats.org/officeDocument/2006/relationships/notesMaster" Target="/ppt/notesMasters/notesMaster1.xml" Id="R448286b6f889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47ece95913472e" /><Relationship Type="http://schemas.openxmlformats.org/officeDocument/2006/relationships/notesMaster" Target="/ppt/notesMasters/notesMaster1.xml" Id="Re45dbd151a6043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 Project II, seventh semester, August to November 2026. Team roll numbers: 23bcs019, 23bcs007, 23bcs021. Mentor: SUNIL CK. We evaluate an extension around the authors' pretrained graph model. Measured results generated 2026-10-11T23:17:40.737167+05:30.</a:t>
            </a:r>
          </a:p>
          <a:p xmlns:a="http://schemas.openxmlformats.org/drawingml/2006/main">
            <a:r>
              <a:t>Hedegaard, Heidari and Iosifidis. Continual spatio-temporal graph convolutional networks. Pattern Recognition 140 (2023), 109528. https://doi.org/10.1016/j.patcog.2023.109528</a:t>
            </a:r>
          </a:p>
          <a:p xmlns:a="http://schemas.openxmlformats.org/drawingml/2006/main">
            <a:r>
              <a:t>Official source: https://github.com/LukasHedegaard/continual-skeletons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Hedegaard, Heidari and Iosifidis. Continual spatio-temporal graph convolutional networks. Pattern Recognition 140 (2023), 109528. https://doi.org/10.1016/j.patcog.2023.109528</a:t>
            </a:r>
          </a:p>
          <a:p xmlns:a="http://schemas.openxmlformats.org/drawingml/2006/main">
            <a:r>
              <a:t>Official source: https://github.com/LukasHedegaard/continual-skeletons</a:t>
            </a:r>
          </a:p>
          <a:p xmlns:a="http://schemas.openxmlformats.org/drawingml/2006/main">
            <a:r>
              <a:t>SCImago Journal &amp; Country Rank, 2024 data, Computer Vision and Pattern Recognition category. Pattern Recognition, ISSN 0031-3203, SJR 2.058, Q1. Primary indexed ranking: https://www.scimagojr.com/journalvalue.php?area=1700&amp;category=1707&amp;ord=desc&amp;order=item . The live page restricted direct access during verification. This is a 2024 SCImago/SJR claim, not a claim about the 2023 JCR edition.</a:t>
            </a:r>
          </a:p>
          <a:p xmlns:a="http://schemas.openxmlformats.org/drawingml/2006/main">
            <a:r>
              <a:t>The paper targets efficient continual action recognition. Our research question concerns tolerance to missing or noisy pose joints. We add and evaluate a small causal recovery component without retraining the classifier. We do not claim that joint holding is a new algorithm or that this sample reproduces the paper's full benchmark. The ranking refers to the journal and database year, not an arXiv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calibration winner is confident_hold_5. Hold the last observed joint position for at most five missing frames when the last real pose confidence was at least 0.5. Multiply its confidence by 0.9 for each held frame. Reset the person-slot memory if the torso anchor jumps by more than 0.15 in normalized coordinates. The method uses no future frames. Alpha 1 and beta 0 mean there is no velocity extrapolation in the chosen method. Velocity-based candidates were considered on calibration only. The original and recovered branches use the same frozen pretrained checkpoint. A separate optional threshold can reject low-confidence class predictions.</a:t>
            </a:r>
          </a:p>
          <a:p xmlns:a="http://schemas.openxmlformats.org/drawingml/2006/main">
            <a:r>
              <a:t>Official source: https://github.com/LukasHedegaard/continual-skeletons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Kinetics Skeleton data distributed with ST-GCN, official validation partition. Source: https://github.com/yysijie/st-gcn and https://drive.google.com/drive/folders/1SPQ6FmFsjGg3f59uCWfdUWI-5HJM_YhZ</a:t>
            </a:r>
          </a:p>
          <a:p xmlns:a="http://schemas.openxmlformats.org/drawingml/2006/main">
            <a:r>
              <a:t>Official source: https://github.com/LukasHedegaard/continual-skeletons</a:t>
            </a:r>
          </a:p>
          <a:p xmlns:a="http://schemas.openxmlformats.org/drawingml/2006/main">
            <a:r>
              <a:t>Selection: Ascending SHA256(seed + ':' + clip_id); first calibration_count for calibration, subsequent test_count for test; no empty-pose or class filtering</a:t>
            </a:r>
          </a:p>
          <a:p xmlns:a="http://schemas.openxmlformats.org/drawingml/2006/main">
            <a:r>
              <a:t>Subset limitation: A 400-clip pilot, not reproduction of full-paper benchmark scores; controlled joint masking is not physical camera occlusion. Upstream validation data may have informed the authors' checkpoint selection.</a:t>
            </a:r>
          </a:p>
          <a:p xmlns:a="http://schemas.openxmlformats.org/drawingml/2006/main">
            <a:r>
              <a:t>Checkpoint: stgcnmod_kinetics_joint.ckpt (authors' pretrained single joint stream). SHA256 bec5c9563cc017a6e4739c2255ad76b24a046e445210b8fc965816435229452f. Source commit a8fe2937a33f24cce65c1f8c2fc41081bceda721. Seed 2026.</a:t>
            </a:r>
          </a:p>
          <a:p xmlns:a="http://schemas.openxmlformats.org/drawingml/2006/main">
            <a:r>
              <a:t>Seven recovery recipes were compared on three calibration conditions over three development rounds, without using held-out test predictions. Calibration also selected the rejection thresholds. The test uses identical clips and deterministic corruptions for all variants. The test is a sample from the official validation partition, which is not an independent new-person dataset. Empty clips remain in the sample. The classifier retains all 400 possible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results from /Users/ashishsingh/Desktop/miniproject/results/research/comparison.json, generated 2026-10-11T23:17:40.737167+05:30. Accuracy is the number of correct predictions divided by all 400 clips. Neither plotted variant abstains. Every point uses the same clip and corruption in both branches. Joint and limb masks target 25% of eligible visible joints in blocks of 5 frames. The longer-gap condition uses 15-frame blocks. Coordinate noise has normalized standard deviation 0.02. Actual masked fractions are available in the JSON and dashboard. The clean condition uses the original detector's poses, which can already contain missing joints.</a:t>
            </a:r>
          </a:p>
          <a:p xmlns:a="http://schemas.openxmlformats.org/drawingml/2006/main">
            <a:r>
              <a:t>Original poses: original 28.7%, recovery 29.0%. Macro F1: 27.3% versus 28.0%.</a:t>
            </a:r>
          </a:p>
          <a:p xmlns:a="http://schemas.openxmlformats.org/drawingml/2006/main">
            <a:r>
              <a:t>Joint loss, 5 frames: original 11.5%, recovery 15.3%. Macro F1: 8.8% versus 12.7%.</a:t>
            </a:r>
          </a:p>
          <a:p xmlns:a="http://schemas.openxmlformats.org/drawingml/2006/main">
            <a:r>
              <a:t>Limb loss, 5 frames: original 15.3%, recovery 18.5%. Macro F1: 13.4% versus 16.3%.</a:t>
            </a:r>
          </a:p>
          <a:p xmlns:a="http://schemas.openxmlformats.org/drawingml/2006/main">
            <a:r>
              <a:t>Joint loss, 15 frames: original 14.8%, recovery 15.0%. Macro F1: 13.2% versus 12.9%.</a:t>
            </a:r>
          </a:p>
          <a:p xmlns:a="http://schemas.openxmlformats.org/drawingml/2006/main">
            <a:r>
              <a:t>Coordinate noise: original 10.3%, recovery 11.8%. Macro F1: 8.9% versus 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compares recovery with original predictions on the same test clips. The gain is in percentage points, not relative percent. A corrected clip was wrong under the baseline and correct after recovery. A regressed clip was correct before recovery and wrong after it. The remaining clips did not change correctness. The 95% interval comes from a paired clip bootstrap with 3000 resamples. These are per-condition intervals, without adjustment for five simultaneous comparisons. They capture sample uncertainty in this validation subset, not all deployment uncertainty.</a:t>
            </a:r>
          </a:p>
          <a:p xmlns:a="http://schemas.openxmlformats.org/drawingml/2006/main">
            <a:r>
              <a:t>Original poses: {"accuracy_gain":0.0025,"ci95":[-0.015,0.02],"improved_clips":7,"regressed_clips":6,"method":"paired clip bootstrap, 3000 resamples"}</a:t>
            </a:r>
          </a:p>
          <a:p xmlns:a="http://schemas.openxmlformats.org/drawingml/2006/main">
            <a:r>
              <a:t>Joint loss, 5 frames: {"accuracy_gain":0.0375,"ci95":[0.015,0.0625],"improved_clips":21,"regressed_clips":6,"method":"paired clip bootstrap, 3000 resamples"}</a:t>
            </a:r>
          </a:p>
          <a:p xmlns:a="http://schemas.openxmlformats.org/drawingml/2006/main">
            <a:r>
              <a:t>Limb loss, 5 frames: {"accuracy_gain":0.0325,"ci95":[0.0075,0.0575],"improved_clips":20,"regressed_clips":7,"method":"paired clip bootstrap, 3000 resamples"}</a:t>
            </a:r>
          </a:p>
          <a:p xmlns:a="http://schemas.openxmlformats.org/drawingml/2006/main">
            <a:r>
              <a:t>Joint loss, 15 frames: {"accuracy_gain":0.0025,"ci95":[-0.015,0.02],"improved_clips":7,"regressed_clips":6,"method":"paired clip bootstrap, 3000 resamples"}</a:t>
            </a:r>
          </a:p>
          <a:p xmlns:a="http://schemas.openxmlformats.org/drawingml/2006/main">
            <a:r>
              <a:t>Coordinate noise: {"accuracy_gain":0.015,"ci95":[0,0.03],"improved_clips":8,"regressed_clips":2,"method":"paired clip bootstrap, 3000 resamples"}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can abstain when its maximum softmax score is below a calibration-selected threshold. The values are scores, not calibrated probabilities. Original threshold 0.08, recovery threshold 0.08. Calibration prefers coverage of at least 80%, which does not guarantee test coverage. Accepted accuracy excludes rejected clips and must be read together with coverage. The overall accuracy and macro F1 count rejected clips as failures. Rejection is not evidence of recognizing unseen action classes.</a:t>
            </a:r>
          </a:p>
          <a:p xmlns:a="http://schemas.openxmlformats.org/drawingml/2006/main">
            <a:r>
              <a:t>Original poses: rejection only {"accuracy":0.285,"macro_f1":0.27983304875735154,"coverage":0.84,"accepted_accuracy":0.3392857142857143,"n_samples":400,"n_accepted":336,"correct":114,"threshold":0.08,"raw_top5_accuracy":0.5125,"variant":"rejection","classifier_ms":31.91005509419483,"recovery_ms":0,"latency_ms":31.91005509419483}. Combined {"accuracy":0.2875,"macro_f1":0.2842439764750522,"coverage":0.85,"accepted_accuracy":0.3382352941176471,"n_samples":400,"n_accepted":340,"correct":115,"threshold":0.08,"raw_top5_accuracy":0.505,"variant":"combined","classifier_ms":31.213217713084305,"recovery_ms":15.936415733594913,"latency_ms":47.14963344667922}.</a:t>
            </a:r>
          </a:p>
          <a:p xmlns:a="http://schemas.openxmlformats.org/drawingml/2006/main">
            <a:r>
              <a:t>Joint loss, 5 frames: rejection only {"accuracy":0.115,"macro_f1":0.09149652914593154,"coverage":0.765,"accepted_accuracy":0.1503267973856209,"n_samples":400,"n_accepted":306,"correct":46,"threshold":0.08,"raw_top5_accuracy":0.3,"variant":"rejection","classifier_ms":30.87331727700075,"recovery_ms":0,"latency_ms":30.87331727700075}. Combined {"accuracy":0.15,"macro_f1":0.12635576022030204,"coverage":0.785,"accepted_accuracy":0.1910828025477707,"n_samples":400,"n_accepted":314,"correct":60,"threshold":0.08,"raw_top5_accuracy":0.3575,"variant":"combined","classifier_ms":30.834778327844106,"recovery_ms":12.742952529806644,"latency_ms":43.57773085765075}.</a:t>
            </a:r>
          </a:p>
          <a:p xmlns:a="http://schemas.openxmlformats.org/drawingml/2006/main">
            <a:r>
              <a:t>Limb loss, 5 frames: rejection only {"accuracy":0.145,"macro_f1":0.13308670081578447,"coverage":0.7975,"accepted_accuracy":0.18181818181818182,"n_samples":400,"n_accepted":319,"correct":58,"threshold":0.08,"raw_top5_accuracy":0.425,"variant":"rejection","classifier_ms":31.037063738622237,"recovery_ms":0,"latency_ms":31.037063738622237}. Combined {"accuracy":0.1775,"macro_f1":0.16438402235214983,"coverage":0.8075,"accepted_accuracy":0.21981424148606812,"n_samples":400,"n_accepted":323,"correct":71,"threshold":0.08,"raw_top5_accuracy":0.4525,"variant":"combined","classifier_ms":31.1088756150275,"recovery_ms":12.575157645333093,"latency_ms":43.68403326036059}.</a:t>
            </a:r>
          </a:p>
          <a:p xmlns:a="http://schemas.openxmlformats.org/drawingml/2006/main">
            <a:r>
              <a:t>Joint loss, 15 frames: rejection only {"accuracy":0.145,"macro_f1":0.1309096945551129,"coverage":0.7825,"accepted_accuracy":0.1853035143769968,"n_samples":400,"n_accepted":313,"correct":58,"threshold":0.08,"raw_top5_accuracy":0.3275,"variant":"rejection","classifier_ms":31.05534304311732,"recovery_ms":0,"latency_ms":31.05534304311732}. Combined {"accuracy":0.1475,"macro_f1":0.1311822307838244,"coverage":0.8,"accepted_accuracy":0.184375,"n_samples":400,"n_accepted":320,"correct":59,"threshold":0.08,"raw_top5_accuracy":0.3225,"variant":"combined","classifier_ms":30.908642910508206,"recovery_ms":12.578964073618408,"latency_ms":43.487606984126614}.</a:t>
            </a:r>
          </a:p>
          <a:p xmlns:a="http://schemas.openxmlformats.org/drawingml/2006/main">
            <a:r>
              <a:t>Coordinate noise: rejection only {"accuracy":0.1,"macro_f1":0.08877505849617404,"coverage":0.8675,"accepted_accuracy":0.11527377521613832,"n_samples":400,"n_accepted":347,"correct":40,"threshold":0.08,"raw_top5_accuracy":0.3025,"variant":"rejection","classifier_ms":30.9363740599656,"recovery_ms":0,"latency_ms":30.9363740599656}. Combined {"accuracy":0.1075,"macro_f1":0.09473908119326445,"coverage":0.855,"accepted_accuracy":0.12573099415204678,"n_samples":400,"n_accepted":342,"correct":43,"threshold":0.08,"raw_top5_accuracy":0.3,"variant":"combined","classifier_ms":31.03429678172688,"recovery_ms":12.751275014452403,"latency_ms":43.78557179617928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dashboard at http://127.0.0.1:8765/research after launching the project. Compare all five conditions, then inspect Improved, Regressed and Both incorrect example sequences. The pose playback is a visualization of real keypoint input and recovered keypoints. Prediction captions refer to the full clip, not each displayed frame. Download the JSON to inspect the precise values and provenance. The separate /lab webcam prototype uses MediaPipe and a different classifier. It is not a measured live implementation of the paper's 400-class model.</a:t>
            </a:r>
          </a:p>
          <a:p xmlns:a="http://schemas.openxmlformats.org/drawingml/2006/main">
            <a:r>
              <a:t>Measured gains are positive for 5 of five conditions and negative for 0, with per-condition intervals on slide 6. The project supports a bounded study, not a claim of general superiority. Limitations include validation sampling, synthetic damage, person-slot changes, and limited visibility into deployment behavior. Mean synchronized model processing time per 300-frame clip in batches; recovery runs on CPU. Excludes transfers, camera pose estimation, I/O and browser. Not per-frame streaming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a9cfec2a384a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76b04e9a984d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fff19322f849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099f8fffc74d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6d131550544e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a89ba4710443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D08B65-FEB6-49FE-8138-0BE5370432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09F30A-5A6C-449F-8490-77B283F457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0ADBCC-AC6B-4CEC-9A89-87E7E0CC56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51A8F1-2EAB-43ED-A0CC-3C1413EF8B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65B696-0735-4BFC-A516-3240A9BFD7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AF9F06-204C-45D6-8052-7F31841428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9DD3D8-6B87-425E-8EE2-302CA7E788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27550E-E058-4F83-9489-76171535A0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E50ADB-A606-4AE8-A7E6-39FB826E21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D0EC8B-BEBB-4C57-BC85-ED9E01725C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12da8dd08045d3" /><Relationship Type="http://schemas.openxmlformats.org/officeDocument/2006/relationships/slideLayout" Target="/ppt/slideLayouts/slideLayout1.xml" Id="R53873681b11c46dc" /><Relationship Type="http://schemas.openxmlformats.org/officeDocument/2006/relationships/slideLayout" Target="/ppt/slideLayouts/slideLayout2.xml" Id="Rc675d6e2cf964e70" /><Relationship Type="http://schemas.openxmlformats.org/officeDocument/2006/relationships/slideLayout" Target="/ppt/slideLayouts/slideLayout3.xml" Id="R4dd4cb1ab2514b96" /><Relationship Type="http://schemas.openxmlformats.org/officeDocument/2006/relationships/slideLayout" Target="/ppt/slideLayouts/slideLayout4.xml" Id="Rb7fe02c2fe394d3b" /><Relationship Type="http://schemas.openxmlformats.org/officeDocument/2006/relationships/slideLayout" Target="/ppt/slideLayouts/slideLayout5.xml" Id="Rb2e6921ca4744274" /><Relationship Type="http://schemas.openxmlformats.org/officeDocument/2006/relationships/slideLayout" Target="/ppt/slideLayouts/slideLayout6.xml" Id="Rc275e61c6f944a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873681b11c46dc"/>
    <p:sldLayoutId xmlns:r="http://schemas.openxmlformats.org/officeDocument/2006/relationships" id="2147483650" r:id="Rc675d6e2cf964e70"/>
    <p:sldLayoutId xmlns:r="http://schemas.openxmlformats.org/officeDocument/2006/relationships" id="2147483651" r:id="R4dd4cb1ab2514b96"/>
    <p:sldLayoutId xmlns:r="http://schemas.openxmlformats.org/officeDocument/2006/relationships" id="2147483652" r:id="Rb7fe02c2fe394d3b"/>
    <p:sldLayoutId xmlns:r="http://schemas.openxmlformats.org/officeDocument/2006/relationships" id="2147483653" r:id="Rb2e6921ca4744274"/>
    <p:sldLayoutId xmlns:r="http://schemas.openxmlformats.org/officeDocument/2006/relationships" id="2147483654" r:id="Rc275e61c6f944a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fe40ef88db465f" /><Relationship Type="http://schemas.openxmlformats.org/officeDocument/2006/relationships/notesSlide" Target="/ppt/notesSlides/notesSlide1.xml" Id="R22b4bc31a3044e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89c7557a084736" /><Relationship Type="http://schemas.openxmlformats.org/officeDocument/2006/relationships/notesSlide" Target="/ppt/notesSlides/notesSlide2.xml" Id="R6986d6557e0c4f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1dd0e7a1fb4e91" /><Relationship Type="http://schemas.openxmlformats.org/officeDocument/2006/relationships/notesSlide" Target="/ppt/notesSlides/notesSlide3.xml" Id="R503ce9572b2344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71b0bc2e4b454a" /><Relationship Type="http://schemas.openxmlformats.org/officeDocument/2006/relationships/notesSlide" Target="/ppt/notesSlides/notesSlide4.xml" Id="R85a9f81b295240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39d2eb16b443e3" /><Relationship Type="http://schemas.openxmlformats.org/officeDocument/2006/relationships/chart" Target="/ppt/slides/charts/chart1.xml" Id="Rc5287b5c1e1346f3" /><Relationship Type="http://schemas.openxmlformats.org/officeDocument/2006/relationships/notesSlide" Target="/ppt/notesSlides/notesSlide5.xml" Id="Rb56b47a329c143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cbc300d7864e5c" /><Relationship Type="http://schemas.openxmlformats.org/officeDocument/2006/relationships/notesSlide" Target="/ppt/notesSlides/notesSlide6.xml" Id="Radeab29b20154b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6a5c749baa4756" /><Relationship Type="http://schemas.openxmlformats.org/officeDocument/2006/relationships/notesSlide" Target="/ppt/notesSlides/notesSlide7.xml" Id="R0ef5b42f194e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c51fced1904fe9" /><Relationship Type="http://schemas.openxmlformats.org/officeDocument/2006/relationships/notesSlide" Target="/ppt/notesSlides/notesSlide8.xml" Id="R9ae8e0ec81dd48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model</c:v>
          </c:tx>
          <c:spPr>
            <a:solidFill xmlns:a="http://schemas.openxmlformats.org/drawingml/2006/main">
              <a:srgbClr val="829DA9"/>
            </a:solidFill>
          </c:spPr>
          <c:invertIfNegative val="0"/>
          <c:cat>
            <c:strRef>
              <c:f>'Chart Data'!$A$2:$A$6</c:f>
              <c:strCache>
                <c:ptCount val="5"/>
                <c:pt idx="0">
                  <c:v>Original
poses</c:v>
                </c:pt>
                <c:pt idx="1">
                  <c:v>Joint loss
5 frames</c:v>
                </c:pt>
                <c:pt idx="2">
                  <c:v>Limb loss
5 frames</c:v>
                </c:pt>
                <c:pt idx="3">
                  <c:v>Joint loss
15 frames</c:v>
                </c:pt>
                <c:pt idx="4">
                  <c:v>Coordinate
noise</c:v>
                </c:pt>
              </c:strCache>
            </c:strRef>
          </c:cat>
          <c:val>
            <c:numRef>
              <c:f>'Chart Data'!$B$2:$B$6</c:f>
              <c:numCache>
                <c:formatCode>0%</c:formatCode>
                <c:ptCount val="5"/>
                <c:pt idx="0">
                  <c:v>0.2875</c:v>
                </c:pt>
                <c:pt idx="1">
                  <c:v>0.115</c:v>
                </c:pt>
                <c:pt idx="2">
                  <c:v>0.1525</c:v>
                </c:pt>
                <c:pt idx="3">
                  <c:v>0.1475</c:v>
                </c:pt>
                <c:pt idx="4">
                  <c:v>0.1025</c:v>
                </c:pt>
              </c:numCache>
            </c:numRef>
          </c:val>
        </c:ser>
        <c:ser>
          <c:idx val="1"/>
          <c:order val="1"/>
          <c:tx>
            <c:v>With recovery</c:v>
          </c:tx>
          <c:spPr>
            <a:solidFill xmlns:a="http://schemas.openxmlformats.org/drawingml/2006/main">
              <a:srgbClr val="2D6A56"/>
            </a:solidFill>
          </c:spPr>
          <c:invertIfNegative val="0"/>
          <c:cat>
            <c:strRef>
              <c:f>'Chart Data'!$C$2:$C$6</c:f>
              <c:strCache>
                <c:ptCount val="5"/>
                <c:pt idx="0">
                  <c:v>Original
poses</c:v>
                </c:pt>
                <c:pt idx="1">
                  <c:v>Joint loss
5 frames</c:v>
                </c:pt>
                <c:pt idx="2">
                  <c:v>Limb loss
5 frames</c:v>
                </c:pt>
                <c:pt idx="3">
                  <c:v>Joint loss
15 frames</c:v>
                </c:pt>
                <c:pt idx="4">
                  <c:v>Coordinate
noise</c:v>
                </c:pt>
              </c:strCache>
            </c:strRef>
          </c:cat>
          <c:val>
            <c:numRef>
              <c:f>'Chart Data'!$D$2:$D$6</c:f>
              <c:numCache>
                <c:formatCode>0%</c:formatCode>
                <c:ptCount val="5"/>
                <c:pt idx="0">
                  <c:v>0.29</c:v>
                </c:pt>
                <c:pt idx="1">
                  <c:v>0.1525</c:v>
                </c:pt>
                <c:pt idx="2">
                  <c:v>0.185</c:v>
                </c:pt>
                <c:pt idx="3">
                  <c:v>0.15</c:v>
                </c:pt>
                <c:pt idx="4">
                  <c:v>0.1175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82D35"/>
                  </a:solidFill>
                  <a:latin typeface="Arial"/>
                  <a:ea typeface="Arial"/>
                  <a:cs typeface="Arial"/>
                </a:defRPr>
              </a:pPr>
            </a:p>
          </c:txPr>
          <c:dLblPos val="outEnd"/>
          <c:showLegendKey val="0"/>
          <c:showVal val="1"/>
          <c:showCatName val="0"/>
          <c:showSerName val="0"/>
          <c:showPercent val="0"/>
          <c:showBubbleSize val="0"/>
          <c:showLeaderLines val="0"/>
        </c:dLbls>
        <c:gapWidth val="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D3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DED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5767B"/>
                </a:solidFill>
                <a:latin typeface="Arial"/>
                <a:ea typeface="Arial"/>
                <a:cs typeface="Arial"/>
              </a:defRPr>
            </a:pPr>
          </a:p>
        </c:txPr>
        <c:crossAx val="48650112"/>
        <c:crossBetween val="between"/>
        <c:majorUnit val="0.2"/>
      </c:valAx>
      <c:spPr>
        <a:solidFill xmlns:a="http://schemas.openxmlformats.org/drawingml/2006/main">
          <a:srgbClr val="F5F7F4"/>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D35"/>
              </a:solidFill>
              <a:latin typeface="Arial"/>
              <a:ea typeface="Arial"/>
              <a:cs typeface="Arial"/>
            </a:defRPr>
          </a:pPr>
        </a:p>
      </c:txPr>
    </c:legend>
    <c:plotVisOnly val="1"/>
  </c:chart>
  <c:spPr>
    <a:solidFill xmlns:a="http://schemas.openxmlformats.org/drawingml/2006/main">
      <a:srgbClr val="F5F7F4"/>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E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BDAA46-0E0F-487A-A8A0-C400AC8307B9}"/>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ACCC5"/>
                </a:solidFill>
                <a:latin typeface="Arial"/>
                <a:ea typeface="Arial"/>
                <a:cs typeface="Arial"/>
              </a:defRPr>
            </a:defPPr>
          </a:lstStyle>
          <a:p xmlns:a="http://schemas.openxmlformats.org/drawingml/2006/main">
            <a:pPr>
              <a:buNone/>
              <a:defRPr sz="1275" b="0">
                <a:solidFill>
                  <a:srgbClr val="BACCC5"/>
                </a:solidFill>
                <a:latin typeface="Arial"/>
                <a:ea typeface="Arial"/>
                <a:cs typeface="Arial"/>
              </a:defRPr>
            </a:pPr>
            <a:r>
              <a:rPr sz="1275" b="0">
                <a:solidFill>
                  <a:srgbClr val="BACCC5"/>
                </a:solidFill>
                <a:latin typeface="Arial"/>
                <a:ea typeface="Arial"/>
                <a:cs typeface="Arial"/>
              </a:rPr>
              <a:t>PoseLab  /  IIIT Dharwad</a:t>
            </a:r>
          </a:p>
        </p:txBody>
      </p:sp>
      <p:sp>
        <p:nvSpPr>
          <p:cNvPr id="2" name="">
            <a:extLst xmlns:a="http://schemas.openxmlformats.org/drawingml/2006/main">
              <a:ext uri="{FF2B5EF4-FFF2-40B4-BE49-F238E27FC236}">
                <a16:creationId xmlns:a16="http://schemas.microsoft.com/office/drawing/2014/main" id="{37D203BE-5BC7-4145-92DA-60678583E3DC}"/>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D6E998"/>
                </a:solidFill>
                <a:latin typeface="Arial"/>
                <a:ea typeface="Arial"/>
                <a:cs typeface="Arial"/>
              </a:defRPr>
            </a:defPPr>
          </a:lstStyle>
          <a:p xmlns:a="http://schemas.openxmlformats.org/drawingml/2006/main">
            <a:pPr>
              <a:buNone/>
              <a:defRPr sz="1575" b="0">
                <a:solidFill>
                  <a:srgbClr val="D6E998"/>
                </a:solidFill>
                <a:latin typeface="Arial"/>
                <a:ea typeface="Arial"/>
                <a:cs typeface="Arial"/>
              </a:defRPr>
            </a:pPr>
            <a:r>
              <a:rPr sz="1575" b="0">
                <a:solidFill>
                  <a:srgbClr val="D6E998"/>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159CE417-E1D1-4F49-AB7F-05F91481F735}"/>
              </a:ext>
            </a:extLst>
          </p:cNvPr>
          <p:cNvSpPr>
            <a:spLocks xmlns:a="http://schemas.openxmlformats.org/drawingml/2006/main" noGrp="1"/>
          </p:cNvSpPr>
          <p:nvPr/>
        </p:nvSpPr>
        <p:spPr>
          <a:xfrm xmlns:a="http://schemas.openxmlformats.org/drawingml/2006/main">
            <a:off x="685800" y="6191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D6E998"/>
                </a:solidFill>
                <a:latin typeface="Arial"/>
                <a:ea typeface="Arial"/>
                <a:cs typeface="Arial"/>
              </a:defRPr>
            </a:defPPr>
          </a:lstStyle>
          <a:p xmlns:a="http://schemas.openxmlformats.org/drawingml/2006/main">
            <a:pPr>
              <a:buNone/>
              <a:defRPr sz="1800" b="1">
                <a:solidFill>
                  <a:srgbClr val="D6E998"/>
                </a:solidFill>
                <a:latin typeface="Arial"/>
                <a:ea typeface="Arial"/>
                <a:cs typeface="Arial"/>
              </a:defRPr>
            </a:pPr>
            <a:r>
              <a:rPr sz="1800" b="1">
                <a:solidFill>
                  <a:srgbClr val="D6E998"/>
                </a:solidFill>
                <a:latin typeface="Arial"/>
                <a:ea typeface="Arial"/>
                <a:cs typeface="Arial"/>
              </a:rPr>
              <a:t>IIIT DHARWAD</a:t>
            </a:r>
          </a:p>
        </p:txBody>
      </p:sp>
      <p:sp>
        <p:nvSpPr>
          <p:cNvPr id="4" name="">
            <a:extLst xmlns:a="http://schemas.openxmlformats.org/drawingml/2006/main">
              <a:ext uri="{FF2B5EF4-FFF2-40B4-BE49-F238E27FC236}">
                <a16:creationId xmlns:a16="http://schemas.microsoft.com/office/drawing/2014/main" id="{31952508-80B7-45C5-B55C-111D139CD254}"/>
              </a:ext>
            </a:extLst>
          </p:cNvPr>
          <p:cNvSpPr>
            <a:spLocks xmlns:a="http://schemas.openxmlformats.org/drawingml/2006/main" noGrp="1"/>
          </p:cNvSpPr>
          <p:nvPr/>
        </p:nvSpPr>
        <p:spPr>
          <a:xfrm xmlns:a="http://schemas.openxmlformats.org/drawingml/2006/main">
            <a:off x="685800" y="15906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FFFFFF"/>
                </a:solidFill>
                <a:latin typeface="Arial"/>
                <a:ea typeface="Arial"/>
                <a:cs typeface="Arial"/>
              </a:defRPr>
            </a:defPPr>
          </a:lstStyle>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PoseLab</a:t>
            </a:r>
          </a:p>
        </p:txBody>
      </p:sp>
      <p:sp>
        <p:nvSpPr>
          <p:cNvPr id="5" name="">
            <a:extLst xmlns:a="http://schemas.openxmlformats.org/drawingml/2006/main">
              <a:ext uri="{FF2B5EF4-FFF2-40B4-BE49-F238E27FC236}">
                <a16:creationId xmlns:a16="http://schemas.microsoft.com/office/drawing/2014/main" id="{B01C099E-0DC3-48D3-B952-596857ACC5B8}"/>
              </a:ext>
            </a:extLst>
          </p:cNvPr>
          <p:cNvSpPr>
            <a:spLocks xmlns:a="http://schemas.openxmlformats.org/drawingml/2006/main" noGrp="1"/>
          </p:cNvSpPr>
          <p:nvPr/>
        </p:nvSpPr>
        <p:spPr>
          <a:xfrm xmlns:a="http://schemas.openxmlformats.org/drawingml/2006/main">
            <a:off x="685800" y="2771775"/>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0">
                <a:solidFill>
                  <a:srgbClr val="FFFFFF"/>
                </a:solidFill>
                <a:latin typeface="Arial"/>
                <a:ea typeface="Arial"/>
                <a:cs typeface="Arial"/>
              </a:defRPr>
            </a:defPPr>
          </a:lstStyle>
          <a:p xmlns:a="http://schemas.openxmlformats.org/drawingml/2006/main">
            <a:pPr>
              <a:buNone/>
              <a:defRPr sz="3600" b="0">
                <a:solidFill>
                  <a:srgbClr val="FFFFFF"/>
                </a:solidFill>
                <a:latin typeface="Arial"/>
                <a:ea typeface="Arial"/>
                <a:cs typeface="Arial"/>
              </a:defRPr>
            </a:pPr>
            <a:r>
              <a:rPr sz="3600" b="0">
                <a:solidFill>
                  <a:srgbClr val="FFFFFF"/>
                </a:solidFill>
                <a:latin typeface="Arial"/>
                <a:ea typeface="Arial"/>
                <a:cs typeface="Arial"/>
              </a:rPr>
              <a:t>Human activity recognition</a:t>
            </a:r>
          </a:p>
          <a:p xmlns:a="http://schemas.openxmlformats.org/drawingml/2006/main">
            <a:pPr>
              <a:buNone/>
              <a:defRPr sz="3600" b="0">
                <a:solidFill>
                  <a:srgbClr val="FFFFFF"/>
                </a:solidFill>
                <a:latin typeface="Arial"/>
                <a:ea typeface="Arial"/>
                <a:cs typeface="Arial"/>
              </a:defRPr>
            </a:pPr>
            <a:r>
              <a:rPr sz="3600" b="0">
                <a:solidFill>
                  <a:srgbClr val="FFFFFF"/>
                </a:solidFill>
                <a:latin typeface="Arial"/>
                <a:ea typeface="Arial"/>
                <a:cs typeface="Arial"/>
              </a:rPr>
              <a:t>with missing-joint recovery</a:t>
            </a:r>
          </a:p>
        </p:txBody>
      </p:sp>
      <p:sp>
        <p:nvSpPr>
          <p:cNvPr id="6" name="">
            <a:extLst xmlns:a="http://schemas.openxmlformats.org/drawingml/2006/main">
              <a:ext uri="{FF2B5EF4-FFF2-40B4-BE49-F238E27FC236}">
                <a16:creationId xmlns:a16="http://schemas.microsoft.com/office/drawing/2014/main" id="{4EF65CA4-2318-428A-A952-415299548934}"/>
              </a:ext>
            </a:extLst>
          </p:cNvPr>
          <p:cNvSpPr>
            <a:spLocks xmlns:a="http://schemas.openxmlformats.org/drawingml/2006/main" noGrp="1"/>
          </p:cNvSpPr>
          <p:nvPr/>
        </p:nvSpPr>
        <p:spPr>
          <a:xfrm xmlns:a="http://schemas.openxmlformats.org/drawingml/2006/main">
            <a:off x="685800" y="42957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D9E4DE"/>
                </a:solidFill>
                <a:latin typeface="Arial"/>
                <a:ea typeface="Arial"/>
                <a:cs typeface="Arial"/>
              </a:defRPr>
            </a:defPPr>
          </a:lstStyle>
          <a:p xmlns:a="http://schemas.openxmlformats.org/drawingml/2006/main">
            <a:pPr>
              <a:buNone/>
              <a:defRPr sz="2100" b="0">
                <a:solidFill>
                  <a:srgbClr val="D9E4DE"/>
                </a:solidFill>
                <a:latin typeface="Arial"/>
                <a:ea typeface="Arial"/>
                <a:cs typeface="Arial"/>
              </a:defRPr>
            </a:pPr>
            <a:r>
              <a:rPr sz="2100" b="0">
                <a:solidFill>
                  <a:srgbClr val="D9E4DE"/>
                </a:solidFill>
                <a:latin typeface="Arial"/>
                <a:ea typeface="Arial"/>
                <a:cs typeface="Arial"/>
              </a:rPr>
              <a:t>A study using an existing Q1 paper and its public model</a:t>
            </a:r>
          </a:p>
        </p:txBody>
      </p:sp>
      <p:sp>
        <p:nvSpPr>
          <p:cNvPr id="7" name="">
            <a:extLst xmlns:a="http://schemas.openxmlformats.org/drawingml/2006/main">
              <a:ext uri="{FF2B5EF4-FFF2-40B4-BE49-F238E27FC236}">
                <a16:creationId xmlns:a16="http://schemas.microsoft.com/office/drawing/2014/main" id="{1DA5848B-6596-464C-8B8B-2BF4AA19B0EB}"/>
              </a:ext>
            </a:extLst>
          </p:cNvPr>
          <p:cNvSpPr>
            <a:spLocks xmlns:a="http://schemas.openxmlformats.org/drawingml/2006/main" noGrp="1"/>
          </p:cNvSpPr>
          <p:nvPr/>
        </p:nvSpPr>
        <p:spPr>
          <a:xfrm xmlns:a="http://schemas.openxmlformats.org/drawingml/2006/main">
            <a:off x="685800" y="57340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D6E998"/>
                </a:solidFill>
                <a:latin typeface="Arial"/>
                <a:ea typeface="Arial"/>
                <a:cs typeface="Arial"/>
              </a:defRPr>
            </a:defPPr>
          </a:lstStyle>
          <a:p xmlns:a="http://schemas.openxmlformats.org/drawingml/2006/main">
            <a:pPr>
              <a:buNone/>
              <a:defRPr sz="1725" b="0">
                <a:solidFill>
                  <a:srgbClr val="D6E998"/>
                </a:solidFill>
                <a:latin typeface="Arial"/>
                <a:ea typeface="Arial"/>
                <a:cs typeface="Arial"/>
              </a:defRPr>
            </a:pPr>
            <a:r>
              <a:rPr sz="1725" b="0">
                <a:solidFill>
                  <a:srgbClr val="D6E998"/>
                </a:solidFill>
                <a:latin typeface="Arial"/>
                <a:ea typeface="Arial"/>
                <a:cs typeface="Arial"/>
              </a:rPr>
              <a:t>Mini Project II  /  Aug–Nov 2026</a:t>
            </a:r>
          </a:p>
          <a:p xmlns:a="http://schemas.openxmlformats.org/drawingml/2006/main">
            <a:pPr>
              <a:buNone/>
              <a:defRPr sz="1725" b="0">
                <a:solidFill>
                  <a:srgbClr val="D6E998"/>
                </a:solidFill>
                <a:latin typeface="Arial"/>
                <a:ea typeface="Arial"/>
                <a:cs typeface="Arial"/>
              </a:defRPr>
            </a:pPr>
            <a:r>
              <a:rPr sz="1725" b="0">
                <a:solidFill>
                  <a:srgbClr val="D6E998"/>
                </a:solidFill>
                <a:latin typeface="Arial"/>
                <a:ea typeface="Arial"/>
                <a:cs typeface="Arial"/>
              </a:rPr>
              <a:t>Measured experiment: 11 October 2026</a:t>
            </a:r>
          </a:p>
        </p:txBody>
      </p:sp>
      <p:sp>
        <p:nvSpPr>
          <p:cNvPr id="9" name="">
            <a:extLst xmlns:a="http://schemas.openxmlformats.org/drawingml/2006/main">
              <a:ext uri="{FF2B5EF4-FFF2-40B4-BE49-F238E27FC236}">
                <a16:creationId xmlns:a16="http://schemas.microsoft.com/office/drawing/2014/main" id="{107F6471-EB8A-481A-AF7D-F2D9AD41CC1B}"/>
              </a:ext>
            </a:extLst>
          </p:cNvPr>
          <p:cNvSpPr>
            <a:spLocks xmlns:a="http://schemas.openxmlformats.org/drawingml/2006/main" noGrp="1"/>
          </p:cNvSpPr>
          <p:nvPr/>
        </p:nvSpPr>
        <p:spPr>
          <a:xfrm xmlns:a="http://schemas.openxmlformats.org/drawingml/2006/main">
            <a:off x="685800" y="48196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FFFFFF"/>
                </a:solidFill>
                <a:latin typeface="Arial"/>
                <a:ea typeface="Arial"/>
                <a:cs typeface="Arial"/>
              </a:defRPr>
            </a:defPPr>
          </a:lstStyle>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Team: 23bcs019, 23bcs007, 23bcs021</a:t>
            </a:r>
          </a:p>
        </p:txBody>
      </p:sp>
      <p:sp>
        <p:nvSpPr>
          <p:cNvPr id="10" name="">
            <a:extLst xmlns:a="http://schemas.openxmlformats.org/drawingml/2006/main">
              <a:ext uri="{FF2B5EF4-FFF2-40B4-BE49-F238E27FC236}">
                <a16:creationId xmlns:a16="http://schemas.microsoft.com/office/drawing/2014/main" id="{1BD25E4E-3D8C-4444-88EE-435D8703FDEA}"/>
              </a:ext>
            </a:extLst>
          </p:cNvPr>
          <p:cNvSpPr>
            <a:spLocks xmlns:a="http://schemas.openxmlformats.org/drawingml/2006/main" noGrp="1"/>
          </p:cNvSpPr>
          <p:nvPr/>
        </p:nvSpPr>
        <p:spPr>
          <a:xfrm xmlns:a="http://schemas.openxmlformats.org/drawingml/2006/main">
            <a:off x="685800" y="52197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FFFFFF"/>
                </a:solidFill>
                <a:latin typeface="Arial"/>
                <a:ea typeface="Arial"/>
                <a:cs typeface="Arial"/>
              </a:defRPr>
            </a:defPPr>
          </a:lstStyle>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Mentor: SUNIL CK</a:t>
            </a:r>
          </a:p>
        </p:txBody>
      </p:sp>
    </p:spTree>
    <p:extLst>
      <p:ext uri="{BB962C8B-B14F-4D97-AF65-F5344CB8AC3E}">
        <p14:creationId xmlns:p14="http://schemas.microsoft.com/office/powerpoint/2010/main" val="1588146452"/>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836AD-DB6C-4BFE-A3CB-2407574DE59D}"/>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Research foundation and project question</a:t>
            </a:r>
          </a:p>
        </p:txBody>
      </p:sp>
      <p:sp>
        <p:nvSpPr>
          <p:cNvPr id="2" name="">
            <a:extLst xmlns:a="http://schemas.openxmlformats.org/drawingml/2006/main">
              <a:ext uri="{FF2B5EF4-FFF2-40B4-BE49-F238E27FC236}">
                <a16:creationId xmlns:a16="http://schemas.microsoft.com/office/drawing/2014/main" id="{E11399B1-93B5-4B18-9898-E10F1139184A}"/>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5E544091-CD1D-4ED2-B5EF-62892BF6D237}"/>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C1BAADC2-5C24-4D82-9116-8580244AB9D2}"/>
              </a:ext>
            </a:extLst>
          </p:cNvPr>
          <p:cNvSpPr>
            <a:spLocks xmlns:a="http://schemas.openxmlformats.org/drawingml/2006/main" noGrp="1"/>
          </p:cNvSpPr>
          <p:nvPr/>
        </p:nvSpPr>
        <p:spPr>
          <a:xfrm xmlns:a="http://schemas.openxmlformats.org/drawingml/2006/main">
            <a:off x="685800" y="15240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75" b="1">
                <a:solidFill>
                  <a:srgbClr val="255C4D"/>
                </a:solidFill>
                <a:latin typeface="Arial"/>
                <a:ea typeface="Arial"/>
                <a:cs typeface="Arial"/>
              </a:defRPr>
            </a:defPPr>
          </a:lstStyle>
          <a:p xmlns:a="http://schemas.openxmlformats.org/drawingml/2006/main">
            <a:pPr>
              <a:defRPr sz="2775" b="1">
                <a:solidFill>
                  <a:srgbClr val="255C4D"/>
                </a:solidFill>
                <a:latin typeface="Arial"/>
                <a:ea typeface="Arial"/>
                <a:cs typeface="Arial"/>
              </a:defRPr>
            </a:pPr>
            <a:r>
              <a:rPr sz="2775" b="1">
                <a:solidFill>
                  <a:srgbClr val="255C4D"/>
                </a:solidFill>
                <a:latin typeface="Arial"/>
                <a:ea typeface="Arial"/>
                <a:cs typeface="Arial"/>
              </a:rPr>
              <a:t>Continual spatio-temporal graph</a:t>
            </a:r>
          </a:p>
          <a:p xmlns:a="http://schemas.openxmlformats.org/drawingml/2006/main">
            <a:pPr>
              <a:defRPr sz="2775" b="1">
                <a:solidFill>
                  <a:srgbClr val="255C4D"/>
                </a:solidFill>
                <a:latin typeface="Arial"/>
                <a:ea typeface="Arial"/>
                <a:cs typeface="Arial"/>
              </a:defRPr>
            </a:pPr>
            <a:r>
              <a:rPr sz="2775" b="1">
                <a:solidFill>
                  <a:srgbClr val="255C4D"/>
                </a:solidFill>
                <a:latin typeface="Arial"/>
                <a:ea typeface="Arial"/>
                <a:cs typeface="Arial"/>
              </a:rPr>
              <a:t>convolutional networks</a:t>
            </a:r>
          </a:p>
        </p:txBody>
      </p:sp>
      <p:sp>
        <p:nvSpPr>
          <p:cNvPr id="5" name="">
            <a:extLst xmlns:a="http://schemas.openxmlformats.org/drawingml/2006/main">
              <a:ext uri="{FF2B5EF4-FFF2-40B4-BE49-F238E27FC236}">
                <a16:creationId xmlns:a16="http://schemas.microsoft.com/office/drawing/2014/main" id="{E4F119AA-13F4-4C43-9E92-AD1A2FCE8DE4}"/>
              </a:ext>
            </a:extLst>
          </p:cNvPr>
          <p:cNvSpPr>
            <a:spLocks xmlns:a="http://schemas.openxmlformats.org/drawingml/2006/main" noGrp="1"/>
          </p:cNvSpPr>
          <p:nvPr/>
        </p:nvSpPr>
        <p:spPr>
          <a:xfrm xmlns:a="http://schemas.openxmlformats.org/drawingml/2006/main">
            <a:off x="685800" y="26860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182D35"/>
                </a:solidFill>
                <a:latin typeface="Arial"/>
                <a:ea typeface="Arial"/>
                <a:cs typeface="Arial"/>
              </a:defRPr>
            </a:defPPr>
          </a:lstStyle>
          <a:p xmlns:a="http://schemas.openxmlformats.org/drawingml/2006/main">
            <a:pPr>
              <a:defRPr sz="2100" b="0">
                <a:solidFill>
                  <a:srgbClr val="182D35"/>
                </a:solidFill>
                <a:latin typeface="Arial"/>
                <a:ea typeface="Arial"/>
                <a:cs typeface="Arial"/>
              </a:defRPr>
            </a:pPr>
            <a:r>
              <a:rPr sz="2100" b="0">
                <a:solidFill>
                  <a:srgbClr val="182D35"/>
                </a:solidFill>
                <a:latin typeface="Arial"/>
                <a:ea typeface="Arial"/>
                <a:cs typeface="Arial"/>
              </a:rPr>
              <a:t>Hedegaard, Heidari and Iosifidis</a:t>
            </a:r>
          </a:p>
          <a:p xmlns:a="http://schemas.openxmlformats.org/drawingml/2006/main">
            <a:pPr>
              <a:defRPr sz="2100" b="0">
                <a:solidFill>
                  <a:srgbClr val="182D35"/>
                </a:solidFill>
                <a:latin typeface="Arial"/>
                <a:ea typeface="Arial"/>
                <a:cs typeface="Arial"/>
              </a:defRPr>
            </a:pPr>
            <a:r>
              <a:rPr sz="2100" b="0">
                <a:solidFill>
                  <a:srgbClr val="182D35"/>
                </a:solidFill>
                <a:latin typeface="Arial"/>
                <a:ea typeface="Arial"/>
                <a:cs typeface="Arial"/>
              </a:rPr>
              <a:t>Pattern Recognition 140 (2023), 109528</a:t>
            </a:r>
          </a:p>
        </p:txBody>
      </p:sp>
      <p:sp>
        <p:nvSpPr>
          <p:cNvPr id="6" name="">
            <a:extLst xmlns:a="http://schemas.openxmlformats.org/drawingml/2006/main">
              <a:ext uri="{FF2B5EF4-FFF2-40B4-BE49-F238E27FC236}">
                <a16:creationId xmlns:a16="http://schemas.microsoft.com/office/drawing/2014/main" id="{1128C95C-FA22-4452-A6FE-2A2CAB5CDAFF}"/>
              </a:ext>
            </a:extLst>
          </p:cNvPr>
          <p:cNvSpPr>
            <a:spLocks xmlns:a="http://schemas.openxmlformats.org/drawingml/2006/main" noGrp="1"/>
          </p:cNvSpPr>
          <p:nvPr/>
        </p:nvSpPr>
        <p:spPr>
          <a:xfrm xmlns:a="http://schemas.openxmlformats.org/drawingml/2006/main">
            <a:off x="685800" y="37242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55C4D"/>
                </a:solidFill>
                <a:latin typeface="Arial"/>
                <a:ea typeface="Arial"/>
                <a:cs typeface="Arial"/>
              </a:defRPr>
            </a:defPPr>
          </a:lstStyle>
          <a:p xmlns:a="http://schemas.openxmlformats.org/drawingml/2006/main">
            <a:pPr>
              <a:defRPr sz="2250" b="1">
                <a:solidFill>
                  <a:srgbClr val="255C4D"/>
                </a:solidFill>
                <a:latin typeface="Arial"/>
                <a:ea typeface="Arial"/>
                <a:cs typeface="Arial"/>
              </a:defRPr>
            </a:pPr>
            <a:r>
              <a:rPr sz="2250" b="1">
                <a:solidFill>
                  <a:srgbClr val="255C4D"/>
                </a:solidFill>
                <a:latin typeface="Arial"/>
                <a:ea typeface="Arial"/>
                <a:cs typeface="Arial"/>
              </a:rPr>
              <a:t>Q1 journal in SCImago/SJR 2024</a:t>
            </a:r>
          </a:p>
        </p:txBody>
      </p:sp>
      <p:sp>
        <p:nvSpPr>
          <p:cNvPr id="7" name="">
            <a:extLst xmlns:a="http://schemas.openxmlformats.org/drawingml/2006/main">
              <a:ext uri="{FF2B5EF4-FFF2-40B4-BE49-F238E27FC236}">
                <a16:creationId xmlns:a16="http://schemas.microsoft.com/office/drawing/2014/main" id="{19FFCBF3-C56C-4B98-8997-BB970E63645B}"/>
              </a:ext>
            </a:extLst>
          </p:cNvPr>
          <p:cNvSpPr>
            <a:spLocks xmlns:a="http://schemas.openxmlformats.org/drawingml/2006/main" noGrp="1"/>
          </p:cNvSpPr>
          <p:nvPr/>
        </p:nvSpPr>
        <p:spPr>
          <a:xfrm xmlns:a="http://schemas.openxmlformats.org/drawingml/2006/main">
            <a:off x="685800" y="45720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82D35"/>
                </a:solidFill>
                <a:latin typeface="Arial"/>
                <a:ea typeface="Arial"/>
                <a:cs typeface="Arial"/>
              </a:defRPr>
            </a:defPPr>
          </a:lstStyle>
          <a:p xmlns:a="http://schemas.openxmlformats.org/drawingml/2006/main">
            <a:pPr>
              <a:defRPr sz="2175" b="1">
                <a:solidFill>
                  <a:srgbClr val="182D35"/>
                </a:solidFill>
                <a:latin typeface="Arial"/>
                <a:ea typeface="Arial"/>
                <a:cs typeface="Arial"/>
              </a:defRPr>
            </a:pPr>
            <a:r>
              <a:rPr sz="2175" b="1">
                <a:solidFill>
                  <a:srgbClr val="182D35"/>
                </a:solidFill>
                <a:latin typeface="Arial"/>
                <a:ea typeface="Arial"/>
                <a:cs typeface="Arial"/>
              </a:rPr>
              <a:t>Our question</a:t>
            </a:r>
          </a:p>
        </p:txBody>
      </p:sp>
      <p:sp>
        <p:nvSpPr>
          <p:cNvPr id="8" name="">
            <a:extLst xmlns:a="http://schemas.openxmlformats.org/drawingml/2006/main">
              <a:ext uri="{FF2B5EF4-FFF2-40B4-BE49-F238E27FC236}">
                <a16:creationId xmlns:a16="http://schemas.microsoft.com/office/drawing/2014/main" id="{5214926F-D99B-4DF8-AAE2-3B5185FB6BB4}"/>
              </a:ext>
            </a:extLst>
          </p:cNvPr>
          <p:cNvSpPr>
            <a:spLocks xmlns:a="http://schemas.openxmlformats.org/drawingml/2006/main" noGrp="1"/>
          </p:cNvSpPr>
          <p:nvPr/>
        </p:nvSpPr>
        <p:spPr>
          <a:xfrm xmlns:a="http://schemas.openxmlformats.org/drawingml/2006/main">
            <a:off x="685800" y="50958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82D35"/>
                </a:solidFill>
                <a:latin typeface="Arial"/>
                <a:ea typeface="Arial"/>
                <a:cs typeface="Arial"/>
              </a:defRPr>
            </a:defPPr>
          </a:lstStyle>
          <a:p xmlns:a="http://schemas.openxmlformats.org/drawingml/2006/main">
            <a:pPr>
              <a:defRPr sz="2325" b="0">
                <a:solidFill>
                  <a:srgbClr val="182D35"/>
                </a:solidFill>
                <a:latin typeface="Arial"/>
                <a:ea typeface="Arial"/>
                <a:cs typeface="Arial"/>
              </a:defRPr>
            </a:pPr>
            <a:r>
              <a:rPr sz="2325" b="0">
                <a:solidFill>
                  <a:srgbClr val="182D35"/>
                </a:solidFill>
                <a:latin typeface="Arial"/>
                <a:ea typeface="Arial"/>
                <a:cs typeface="Arial"/>
              </a:rPr>
              <a:t>Can a short memory of reliable joints improve activity</a:t>
            </a:r>
          </a:p>
          <a:p xmlns:a="http://schemas.openxmlformats.org/drawingml/2006/main">
            <a:pPr>
              <a:defRPr sz="2325" b="0">
                <a:solidFill>
                  <a:srgbClr val="182D35"/>
                </a:solidFill>
                <a:latin typeface="Arial"/>
                <a:ea typeface="Arial"/>
                <a:cs typeface="Arial"/>
              </a:defRPr>
            </a:pPr>
            <a:r>
              <a:rPr sz="2325" b="0">
                <a:solidFill>
                  <a:srgbClr val="182D35"/>
                </a:solidFill>
                <a:latin typeface="Arial"/>
                <a:ea typeface="Arial"/>
                <a:cs typeface="Arial"/>
              </a:rPr>
              <a:t>recognition when pose estimates temporarily disappear?</a:t>
            </a:r>
          </a:p>
        </p:txBody>
      </p:sp>
    </p:spTree>
    <p:extLst>
      <p:ext uri="{BB962C8B-B14F-4D97-AF65-F5344CB8AC3E}">
        <p14:creationId xmlns:p14="http://schemas.microsoft.com/office/powerpoint/2010/main" val="47756709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7B1793F-8E00-45D9-B0C7-24FDA49EEF0C}"/>
              </a:ext>
            </a:extLst>
          </p:cNvPr>
          <p:cNvCxnSpPr>
            <a:stCxn xmlns:a="http://schemas.openxmlformats.org/drawingml/2006/main" id="6" idx="3"/>
            <a:endCxn xmlns:a="http://schemas.openxmlformats.org/drawingml/2006/main" id="7" idx="1"/>
          </p:cNvCxnSpPr>
          <p:nvPr/>
        </p:nvCxnSpPr>
        <p:spPr>
          <a:xfrm xmlns:a="http://schemas.openxmlformats.org/drawingml/2006/main">
            <a:off x="7858125" y="3729038"/>
            <a:ext cx="1009650" cy="0"/>
          </a:xfrm>
          <a:prstGeom xmlns:a="http://schemas.openxmlformats.org/drawingml/2006/main" prst="straightConnector1">
            <a:avLst/>
          </a:prstGeom>
          <a:ln xmlns:a="http://schemas.openxmlformats.org/drawingml/2006/main" w="23813">
            <a:solidFill>
              <a:srgbClr val="255C4D"/>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FD2C8085-0B9D-4C46-BA72-01946BAAE24D}"/>
              </a:ext>
            </a:extLst>
          </p:cNvPr>
          <p:cNvCxnSpPr>
            <a:stCxn xmlns:a="http://schemas.openxmlformats.org/drawingml/2006/main" id="4" idx="3"/>
            <a:endCxn xmlns:a="http://schemas.openxmlformats.org/drawingml/2006/main" id="6" idx="1"/>
          </p:cNvCxnSpPr>
          <p:nvPr/>
        </p:nvCxnSpPr>
        <p:spPr>
          <a:xfrm xmlns:a="http://schemas.openxmlformats.org/drawingml/2006/main">
            <a:off x="3457575" y="2495550"/>
            <a:ext cx="1057275" cy="1233488"/>
          </a:xfrm>
          <a:prstGeom xmlns:a="http://schemas.openxmlformats.org/drawingml/2006/main" prst="straightConnector1">
            <a:avLst/>
          </a:prstGeom>
          <a:ln xmlns:a="http://schemas.openxmlformats.org/drawingml/2006/main" w="23813">
            <a:solidFill>
              <a:srgbClr val="255C4D"/>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9BFA12DF-9AF0-493F-9F7E-FF1CE99539FE}"/>
              </a:ext>
            </a:extLst>
          </p:cNvPr>
          <p:cNvCxnSpPr>
            <a:stCxn xmlns:a="http://schemas.openxmlformats.org/drawingml/2006/main" id="4" idx="3"/>
            <a:endCxn xmlns:a="http://schemas.openxmlformats.org/drawingml/2006/main" id="5" idx="1"/>
          </p:cNvCxnSpPr>
          <p:nvPr/>
        </p:nvCxnSpPr>
        <p:spPr>
          <a:xfrm xmlns:a="http://schemas.openxmlformats.org/drawingml/2006/main" flipV="1">
            <a:off x="3457575" y="1890713"/>
            <a:ext cx="1514475" cy="604838"/>
          </a:xfrm>
          <a:prstGeom xmlns:a="http://schemas.openxmlformats.org/drawingml/2006/main" prst="straightConnector1">
            <a:avLst/>
          </a:prstGeom>
          <a:ln xmlns:a="http://schemas.openxmlformats.org/drawingml/2006/main" w="23813">
            <a:solidFill>
              <a:srgbClr val="255C4D"/>
            </a:solidFill>
            <a:prstDash val="solid"/>
            <a:tailEnd type="triangle" w="sm" len="sm"/>
          </a:ln>
        </p:spPr>
      </p:cxnSp>
      <p:sp>
        <p:nvSpPr>
          <p:cNvPr id="16" name="">
            <a:extLst xmlns:a="http://schemas.openxmlformats.org/drawingml/2006/main">
              <a:ext uri="{FF2B5EF4-FFF2-40B4-BE49-F238E27FC236}">
                <a16:creationId xmlns:a16="http://schemas.microsoft.com/office/drawing/2014/main" id="{AA37E653-C11D-403D-826C-DA18B89D8B11}"/>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Confidence-gated short-gap hold</a:t>
            </a:r>
          </a:p>
        </p:txBody>
      </p:sp>
      <p:sp>
        <p:nvSpPr>
          <p:cNvPr id="2" name="">
            <a:extLst xmlns:a="http://schemas.openxmlformats.org/drawingml/2006/main">
              <a:ext uri="{FF2B5EF4-FFF2-40B4-BE49-F238E27FC236}">
                <a16:creationId xmlns:a16="http://schemas.microsoft.com/office/drawing/2014/main" id="{D256C434-1FE8-4EF3-8227-68B2E0337318}"/>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A51D9713-3E51-494B-BD87-A701274F3A59}"/>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D65913A4-FABD-40E2-8802-F58479DA026E}"/>
              </a:ext>
            </a:extLst>
          </p:cNvPr>
          <p:cNvSpPr>
            <a:spLocks xmlns:a="http://schemas.openxmlformats.org/drawingml/2006/main" noGrp="1"/>
          </p:cNvSpPr>
          <p:nvPr/>
        </p:nvSpPr>
        <p:spPr>
          <a:xfrm xmlns:a="http://schemas.openxmlformats.org/drawingml/2006/main">
            <a:off x="666750" y="1895475"/>
            <a:ext cx="2790825"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55C4D"/>
            </a:solidFill>
          </a:ln>
        </p:spPr>
        <p:txBody>
          <a:bodyPr xmlns:a="http://schemas.openxmlformats.org/drawingml/2006/main" lIns="133350" tIns="133350" rIns="133350" bIns="133350" anchor="ctr">
            <a:noAutofit/>
          </a:bodyPr>
          <a:lstStyle xmlns:a="http://schemas.openxmlformats.org/drawingml/2006/main">
            <a:defPPr algn="ctr">
              <a:defRPr sz="2025">
                <a:solidFill>
                  <a:srgbClr val="182D35"/>
                </a:solidFill>
                <a:latin typeface="Arial"/>
                <a:ea typeface="Arial"/>
                <a:cs typeface="Arial"/>
              </a:defRPr>
            </a:defPPr>
          </a:lstStyle>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Pose sequence</a:t>
            </a:r>
          </a:p>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with missing joints</a:t>
            </a:r>
          </a:p>
        </p:txBody>
      </p:sp>
      <p:sp>
        <p:nvSpPr>
          <p:cNvPr id="5" name="">
            <a:extLst xmlns:a="http://schemas.openxmlformats.org/drawingml/2006/main">
              <a:ext uri="{FF2B5EF4-FFF2-40B4-BE49-F238E27FC236}">
                <a16:creationId xmlns:a16="http://schemas.microsoft.com/office/drawing/2014/main" id="{6010675C-8C0D-4573-AD69-7A23A0773BE1}"/>
              </a:ext>
            </a:extLst>
          </p:cNvPr>
          <p:cNvSpPr>
            <a:spLocks xmlns:a="http://schemas.openxmlformats.org/drawingml/2006/main" noGrp="1"/>
          </p:cNvSpPr>
          <p:nvPr/>
        </p:nvSpPr>
        <p:spPr>
          <a:xfrm xmlns:a="http://schemas.openxmlformats.org/drawingml/2006/main">
            <a:off x="4972050" y="1390650"/>
            <a:ext cx="28575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255C4D"/>
            </a:solidFill>
          </a:ln>
        </p:spPr>
        <p:txBody>
          <a:bodyPr xmlns:a="http://schemas.openxmlformats.org/drawingml/2006/main" lIns="133350" tIns="133350" rIns="133350" bIns="133350" anchor="ctr">
            <a:noAutofit/>
          </a:bodyPr>
          <a:lstStyle xmlns:a="http://schemas.openxmlformats.org/drawingml/2006/main">
            <a:defPPr algn="ctr">
              <a:defRPr sz="2025">
                <a:solidFill>
                  <a:srgbClr val="182D35"/>
                </a:solidFill>
                <a:latin typeface="Arial"/>
                <a:ea typeface="Arial"/>
                <a:cs typeface="Arial"/>
              </a:defRPr>
            </a:defPPr>
          </a:lstStyle>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Original</a:t>
            </a:r>
          </a:p>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classifier</a:t>
            </a:r>
          </a:p>
        </p:txBody>
      </p:sp>
      <p:sp>
        <p:nvSpPr>
          <p:cNvPr id="6" name="">
            <a:extLst xmlns:a="http://schemas.openxmlformats.org/drawingml/2006/main">
              <a:ext uri="{FF2B5EF4-FFF2-40B4-BE49-F238E27FC236}">
                <a16:creationId xmlns:a16="http://schemas.microsoft.com/office/drawing/2014/main" id="{723DA034-D629-420A-A144-B6ABB30F0714}"/>
              </a:ext>
            </a:extLst>
          </p:cNvPr>
          <p:cNvSpPr>
            <a:spLocks xmlns:a="http://schemas.openxmlformats.org/drawingml/2006/main" noGrp="1"/>
          </p:cNvSpPr>
          <p:nvPr/>
        </p:nvSpPr>
        <p:spPr>
          <a:xfrm xmlns:a="http://schemas.openxmlformats.org/drawingml/2006/main">
            <a:off x="4514850" y="3190875"/>
            <a:ext cx="3343275" cy="1076325"/>
          </a:xfrm>
          <a:prstGeom xmlns:a="http://schemas.openxmlformats.org/drawingml/2006/main" prst="rect">
            <a:avLst/>
          </a:prstGeom>
          <a:solidFill xmlns:a="http://schemas.openxmlformats.org/drawingml/2006/main">
            <a:srgbClr val="255C4D"/>
          </a:solidFill>
          <a:ln xmlns:a="http://schemas.openxmlformats.org/drawingml/2006/main" w="19050">
            <a:solidFill>
              <a:srgbClr val="255C4D"/>
            </a:solidFill>
          </a:ln>
        </p:spPr>
        <p:txBody>
          <a:bodyPr xmlns:a="http://schemas.openxmlformats.org/drawingml/2006/main" lIns="133350" tIns="133350" rIns="133350" bIns="133350" anchor="ctr">
            <a:noAutofit/>
          </a:bodyPr>
          <a:lstStyle xmlns:a="http://schemas.openxmlformats.org/drawingml/2006/main">
            <a:defPPr algn="ctr">
              <a:defRPr sz="2025">
                <a:solidFill>
                  <a:srgbClr val="FFFFFF"/>
                </a:solidFill>
                <a:latin typeface="Arial"/>
                <a:ea typeface="Arial"/>
                <a:cs typeface="Arial"/>
              </a:defRPr>
            </a:defPPr>
          </a:lstStyle>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Hold reliable joints</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for up to 5 frames</a:t>
            </a:r>
          </a:p>
        </p:txBody>
      </p:sp>
      <p:sp>
        <p:nvSpPr>
          <p:cNvPr id="7" name="">
            <a:extLst xmlns:a="http://schemas.openxmlformats.org/drawingml/2006/main">
              <a:ext uri="{FF2B5EF4-FFF2-40B4-BE49-F238E27FC236}">
                <a16:creationId xmlns:a16="http://schemas.microsoft.com/office/drawing/2014/main" id="{1CA45B51-93D3-4F52-8BEA-504FA637CA9E}"/>
              </a:ext>
            </a:extLst>
          </p:cNvPr>
          <p:cNvSpPr>
            <a:spLocks xmlns:a="http://schemas.openxmlformats.org/drawingml/2006/main" noGrp="1"/>
          </p:cNvSpPr>
          <p:nvPr/>
        </p:nvSpPr>
        <p:spPr>
          <a:xfrm xmlns:a="http://schemas.openxmlformats.org/drawingml/2006/main">
            <a:off x="8867775" y="3190875"/>
            <a:ext cx="264795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255C4D"/>
            </a:solidFill>
          </a:ln>
        </p:spPr>
        <p:txBody>
          <a:bodyPr xmlns:a="http://schemas.openxmlformats.org/drawingml/2006/main" lIns="133350" tIns="133350" rIns="133350" bIns="133350" anchor="ctr">
            <a:noAutofit/>
          </a:bodyPr>
          <a:lstStyle xmlns:a="http://schemas.openxmlformats.org/drawingml/2006/main">
            <a:defPPr algn="ctr">
              <a:defRPr sz="2025">
                <a:solidFill>
                  <a:srgbClr val="182D35"/>
                </a:solidFill>
                <a:latin typeface="Arial"/>
                <a:ea typeface="Arial"/>
                <a:cs typeface="Arial"/>
              </a:defRPr>
            </a:defPPr>
          </a:lstStyle>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Same</a:t>
            </a:r>
          </a:p>
          <a:p xmlns:a="http://schemas.openxmlformats.org/drawingml/2006/main">
            <a:pPr algn="ctr">
              <a:defRPr sz="2025">
                <a:solidFill>
                  <a:srgbClr val="182D35"/>
                </a:solidFill>
                <a:latin typeface="Arial"/>
                <a:ea typeface="Arial"/>
                <a:cs typeface="Arial"/>
              </a:defRPr>
            </a:pPr>
            <a:r>
              <a:rPr sz="2025">
                <a:solidFill>
                  <a:srgbClr val="182D35"/>
                </a:solidFill>
                <a:latin typeface="Arial"/>
                <a:ea typeface="Arial"/>
                <a:cs typeface="Arial"/>
              </a:rPr>
              <a:t>classifier</a:t>
            </a:r>
          </a:p>
        </p:txBody>
      </p:sp>
      <p:sp>
        <p:nvSpPr>
          <p:cNvPr id="11" name="">
            <a:extLst xmlns:a="http://schemas.openxmlformats.org/drawingml/2006/main">
              <a:ext uri="{FF2B5EF4-FFF2-40B4-BE49-F238E27FC236}">
                <a16:creationId xmlns:a16="http://schemas.microsoft.com/office/drawing/2014/main" id="{0A90D978-44C1-40EA-922D-792B0175D466}"/>
              </a:ext>
            </a:extLst>
          </p:cNvPr>
          <p:cNvSpPr>
            <a:spLocks xmlns:a="http://schemas.openxmlformats.org/drawingml/2006/main" noGrp="1"/>
          </p:cNvSpPr>
          <p:nvPr/>
        </p:nvSpPr>
        <p:spPr>
          <a:xfrm xmlns:a="http://schemas.openxmlformats.org/drawingml/2006/main">
            <a:off x="8448675" y="15716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65767B"/>
                </a:solidFill>
                <a:latin typeface="Arial"/>
                <a:ea typeface="Arial"/>
                <a:cs typeface="Arial"/>
              </a:defRPr>
            </a:defPPr>
          </a:lstStyle>
          <a:p xmlns:a="http://schemas.openxmlformats.org/drawingml/2006/main">
            <a:pPr>
              <a:defRPr sz="1875" b="0">
                <a:solidFill>
                  <a:srgbClr val="65767B"/>
                </a:solidFill>
                <a:latin typeface="Arial"/>
                <a:ea typeface="Arial"/>
                <a:cs typeface="Arial"/>
              </a:defRPr>
            </a:pPr>
            <a:r>
              <a:rPr sz="1875" b="0">
                <a:solidFill>
                  <a:srgbClr val="65767B"/>
                </a:solidFill>
                <a:latin typeface="Arial"/>
                <a:ea typeface="Arial"/>
                <a:cs typeface="Arial"/>
              </a:rPr>
              <a:t>Unchanged pretrained weights</a:t>
            </a:r>
          </a:p>
        </p:txBody>
      </p:sp>
      <p:sp>
        <p:nvSpPr>
          <p:cNvPr id="12" name="">
            <a:extLst xmlns:a="http://schemas.openxmlformats.org/drawingml/2006/main">
              <a:ext uri="{FF2B5EF4-FFF2-40B4-BE49-F238E27FC236}">
                <a16:creationId xmlns:a16="http://schemas.microsoft.com/office/drawing/2014/main" id="{A93E88D5-BBE9-42E1-82F0-4EB791DA4370}"/>
              </a:ext>
            </a:extLst>
          </p:cNvPr>
          <p:cNvSpPr>
            <a:spLocks xmlns:a="http://schemas.openxmlformats.org/drawingml/2006/main" noGrp="1"/>
          </p:cNvSpPr>
          <p:nvPr/>
        </p:nvSpPr>
        <p:spPr>
          <a:xfrm xmlns:a="http://schemas.openxmlformats.org/drawingml/2006/main">
            <a:off x="666750" y="4781550"/>
            <a:ext cx="5286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55C4D"/>
                </a:solidFill>
                <a:latin typeface="Arial"/>
                <a:ea typeface="Arial"/>
                <a:cs typeface="Arial"/>
              </a:defRPr>
            </a:defPPr>
          </a:lstStyle>
          <a:p xmlns:a="http://schemas.openxmlformats.org/drawingml/2006/main">
            <a:pPr>
              <a:defRPr sz="2175" b="1">
                <a:solidFill>
                  <a:srgbClr val="255C4D"/>
                </a:solidFill>
                <a:latin typeface="Arial"/>
                <a:ea typeface="Arial"/>
                <a:cs typeface="Arial"/>
              </a:defRPr>
            </a:pPr>
            <a:r>
              <a:rPr sz="2175" b="1">
                <a:solidFill>
                  <a:srgbClr val="255C4D"/>
                </a:solidFill>
                <a:latin typeface="Arial"/>
                <a:ea typeface="Arial"/>
                <a:cs typeface="Arial"/>
              </a:rPr>
              <a:t>Last real confidence ≥ 0.5</a:t>
            </a:r>
          </a:p>
        </p:txBody>
      </p:sp>
      <p:sp>
        <p:nvSpPr>
          <p:cNvPr id="13" name="">
            <a:extLst xmlns:a="http://schemas.openxmlformats.org/drawingml/2006/main">
              <a:ext uri="{FF2B5EF4-FFF2-40B4-BE49-F238E27FC236}">
                <a16:creationId xmlns:a16="http://schemas.microsoft.com/office/drawing/2014/main" id="{9E069FD1-DCB3-441A-B989-02448748E256}"/>
              </a:ext>
            </a:extLst>
          </p:cNvPr>
          <p:cNvSpPr>
            <a:spLocks xmlns:a="http://schemas.openxmlformats.org/drawingml/2006/main" noGrp="1"/>
          </p:cNvSpPr>
          <p:nvPr/>
        </p:nvSpPr>
        <p:spPr>
          <a:xfrm xmlns:a="http://schemas.openxmlformats.org/drawingml/2006/main">
            <a:off x="666750" y="5267325"/>
            <a:ext cx="5286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D35"/>
                </a:solidFill>
                <a:latin typeface="Arial"/>
                <a:ea typeface="Arial"/>
                <a:cs typeface="Arial"/>
              </a:defRPr>
            </a:defPPr>
          </a:lstStyle>
          <a:p xmlns:a="http://schemas.openxmlformats.org/drawingml/2006/main">
            <a:pPr>
              <a:defRPr sz="2025" b="0">
                <a:solidFill>
                  <a:srgbClr val="182D35"/>
                </a:solidFill>
                <a:latin typeface="Arial"/>
                <a:ea typeface="Arial"/>
                <a:cs typeface="Arial"/>
              </a:defRPr>
            </a:pPr>
            <a:r>
              <a:rPr sz="2025" b="0">
                <a:solidFill>
                  <a:srgbClr val="182D35"/>
                </a:solidFill>
                <a:latin typeface="Arial"/>
                <a:ea typeface="Arial"/>
                <a:cs typeface="Arial"/>
              </a:rPr>
              <a:t>Confidence decays × 0.9 per frame</a:t>
            </a:r>
          </a:p>
        </p:txBody>
      </p:sp>
      <p:sp>
        <p:nvSpPr>
          <p:cNvPr id="14" name="">
            <a:extLst xmlns:a="http://schemas.openxmlformats.org/drawingml/2006/main">
              <a:ext uri="{FF2B5EF4-FFF2-40B4-BE49-F238E27FC236}">
                <a16:creationId xmlns:a16="http://schemas.microsoft.com/office/drawing/2014/main" id="{38B38ADF-3324-46A4-B84C-B906C4B8DED9}"/>
              </a:ext>
            </a:extLst>
          </p:cNvPr>
          <p:cNvSpPr>
            <a:spLocks xmlns:a="http://schemas.openxmlformats.org/drawingml/2006/main" noGrp="1"/>
          </p:cNvSpPr>
          <p:nvPr/>
        </p:nvSpPr>
        <p:spPr>
          <a:xfrm xmlns:a="http://schemas.openxmlformats.org/drawingml/2006/main">
            <a:off x="6667500" y="47815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55C4D"/>
                </a:solidFill>
                <a:latin typeface="Arial"/>
                <a:ea typeface="Arial"/>
                <a:cs typeface="Arial"/>
              </a:defRPr>
            </a:defPPr>
          </a:lstStyle>
          <a:p xmlns:a="http://schemas.openxmlformats.org/drawingml/2006/main">
            <a:pPr>
              <a:defRPr sz="2175" b="1">
                <a:solidFill>
                  <a:srgbClr val="255C4D"/>
                </a:solidFill>
                <a:latin typeface="Arial"/>
                <a:ea typeface="Arial"/>
                <a:cs typeface="Arial"/>
              </a:defRPr>
            </a:pPr>
            <a:r>
              <a:rPr sz="2175" b="1">
                <a:solidFill>
                  <a:srgbClr val="255C4D"/>
                </a:solidFill>
                <a:latin typeface="Arial"/>
                <a:ea typeface="Arial"/>
                <a:cs typeface="Arial"/>
              </a:rPr>
              <a:t>Torso movement resets memory</a:t>
            </a:r>
          </a:p>
        </p:txBody>
      </p:sp>
      <p:sp>
        <p:nvSpPr>
          <p:cNvPr id="15" name="">
            <a:extLst xmlns:a="http://schemas.openxmlformats.org/drawingml/2006/main">
              <a:ext uri="{FF2B5EF4-FFF2-40B4-BE49-F238E27FC236}">
                <a16:creationId xmlns:a16="http://schemas.microsoft.com/office/drawing/2014/main" id="{8D102034-C9B9-478B-906F-A293B0A174B6}"/>
              </a:ext>
            </a:extLst>
          </p:cNvPr>
          <p:cNvSpPr>
            <a:spLocks xmlns:a="http://schemas.openxmlformats.org/drawingml/2006/main" noGrp="1"/>
          </p:cNvSpPr>
          <p:nvPr/>
        </p:nvSpPr>
        <p:spPr>
          <a:xfrm xmlns:a="http://schemas.openxmlformats.org/drawingml/2006/main">
            <a:off x="6667500" y="52673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D35"/>
                </a:solidFill>
                <a:latin typeface="Arial"/>
                <a:ea typeface="Arial"/>
                <a:cs typeface="Arial"/>
              </a:defRPr>
            </a:defPPr>
          </a:lstStyle>
          <a:p xmlns:a="http://schemas.openxmlformats.org/drawingml/2006/main">
            <a:pPr>
              <a:defRPr sz="2025" b="0">
                <a:solidFill>
                  <a:srgbClr val="182D35"/>
                </a:solidFill>
                <a:latin typeface="Arial"/>
                <a:ea typeface="Arial"/>
                <a:cs typeface="Arial"/>
              </a:defRPr>
            </a:pPr>
            <a:r>
              <a:rPr sz="2025" b="0">
                <a:solidFill>
                  <a:srgbClr val="182D35"/>
                </a:solidFill>
                <a:latin typeface="Arial"/>
                <a:ea typeface="Arial"/>
                <a:cs typeface="Arial"/>
              </a:rPr>
              <a:t>No future frames or retraining</a:t>
            </a:r>
          </a:p>
        </p:txBody>
      </p:sp>
    </p:spTree>
    <p:extLst>
      <p:ext uri="{BB962C8B-B14F-4D97-AF65-F5344CB8AC3E}">
        <p14:creationId xmlns:p14="http://schemas.microsoft.com/office/powerpoint/2010/main" val="1515254064"/>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A119F5-9EBB-4D35-9665-FED43B642D5E}"/>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A fixed comparison on real pose sequences</a:t>
            </a:r>
          </a:p>
        </p:txBody>
      </p:sp>
      <p:sp>
        <p:nvSpPr>
          <p:cNvPr id="2" name="">
            <a:extLst xmlns:a="http://schemas.openxmlformats.org/drawingml/2006/main">
              <a:ext uri="{FF2B5EF4-FFF2-40B4-BE49-F238E27FC236}">
                <a16:creationId xmlns:a16="http://schemas.microsoft.com/office/drawing/2014/main" id="{D66A7C15-967C-4FEA-B718-BC5AEA34F387}"/>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0007A345-DE5B-4519-92C6-EF91FAF84109}"/>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9CE1C79B-0488-4E1C-B035-B6456BE7EE36}"/>
              </a:ext>
            </a:extLst>
          </p:cNvPr>
          <p:cNvSpPr>
            <a:spLocks xmlns:a="http://schemas.openxmlformats.org/drawingml/2006/main" noGrp="1"/>
          </p:cNvSpPr>
          <p:nvPr/>
        </p:nvSpPr>
        <p:spPr>
          <a:xfrm xmlns:a="http://schemas.openxmlformats.org/drawingml/2006/main">
            <a:off x="685800" y="1524000"/>
            <a:ext cx="4476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255C4D"/>
                </a:solidFill>
                <a:latin typeface="Arial"/>
                <a:ea typeface="Arial"/>
                <a:cs typeface="Arial"/>
              </a:defRPr>
            </a:defPPr>
          </a:lstStyle>
          <a:p xmlns:a="http://schemas.openxmlformats.org/drawingml/2006/main">
            <a:pPr>
              <a:defRPr sz="5700" b="1">
                <a:solidFill>
                  <a:srgbClr val="255C4D"/>
                </a:solidFill>
                <a:latin typeface="Arial"/>
                <a:ea typeface="Arial"/>
                <a:cs typeface="Arial"/>
              </a:defRPr>
            </a:pPr>
            <a:r>
              <a:rPr sz="5700" b="1">
                <a:solidFill>
                  <a:srgbClr val="255C4D"/>
                </a:solidFill>
                <a:latin typeface="Arial"/>
                <a:ea typeface="Arial"/>
                <a:cs typeface="Arial"/>
              </a:rPr>
              <a:t>200</a:t>
            </a:r>
          </a:p>
        </p:txBody>
      </p:sp>
      <p:sp>
        <p:nvSpPr>
          <p:cNvPr id="5" name="">
            <a:extLst xmlns:a="http://schemas.openxmlformats.org/drawingml/2006/main">
              <a:ext uri="{FF2B5EF4-FFF2-40B4-BE49-F238E27FC236}">
                <a16:creationId xmlns:a16="http://schemas.microsoft.com/office/drawing/2014/main" id="{9A1BCA79-DA56-4C01-8529-39131A8EB4C0}"/>
              </a:ext>
            </a:extLst>
          </p:cNvPr>
          <p:cNvSpPr>
            <a:spLocks xmlns:a="http://schemas.openxmlformats.org/drawingml/2006/main" noGrp="1"/>
          </p:cNvSpPr>
          <p:nvPr/>
        </p:nvSpPr>
        <p:spPr>
          <a:xfrm xmlns:a="http://schemas.openxmlformats.org/drawingml/2006/main">
            <a:off x="685800" y="2647950"/>
            <a:ext cx="4714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82D35"/>
                </a:solidFill>
                <a:latin typeface="Arial"/>
                <a:ea typeface="Arial"/>
                <a:cs typeface="Arial"/>
              </a:defRPr>
            </a:defPPr>
          </a:lstStyle>
          <a:p xmlns:a="http://schemas.openxmlformats.org/drawingml/2006/main">
            <a:pPr>
              <a:defRPr sz="2325" b="1">
                <a:solidFill>
                  <a:srgbClr val="182D35"/>
                </a:solidFill>
                <a:latin typeface="Arial"/>
                <a:ea typeface="Arial"/>
                <a:cs typeface="Arial"/>
              </a:defRPr>
            </a:pPr>
            <a:r>
              <a:rPr sz="2325" b="1">
                <a:solidFill>
                  <a:srgbClr val="182D35"/>
                </a:solidFill>
                <a:latin typeface="Arial"/>
                <a:ea typeface="Arial"/>
                <a:cs typeface="Arial"/>
              </a:rPr>
              <a:t>Calibration clips</a:t>
            </a:r>
          </a:p>
        </p:txBody>
      </p:sp>
      <p:sp>
        <p:nvSpPr>
          <p:cNvPr id="6" name="">
            <a:extLst xmlns:a="http://schemas.openxmlformats.org/drawingml/2006/main">
              <a:ext uri="{FF2B5EF4-FFF2-40B4-BE49-F238E27FC236}">
                <a16:creationId xmlns:a16="http://schemas.microsoft.com/office/drawing/2014/main" id="{4CBF8A3C-7567-445B-ABFC-6DDFA98F88EA}"/>
              </a:ext>
            </a:extLst>
          </p:cNvPr>
          <p:cNvSpPr>
            <a:spLocks xmlns:a="http://schemas.openxmlformats.org/drawingml/2006/main" noGrp="1"/>
          </p:cNvSpPr>
          <p:nvPr/>
        </p:nvSpPr>
        <p:spPr>
          <a:xfrm xmlns:a="http://schemas.openxmlformats.org/drawingml/2006/main">
            <a:off x="685800" y="3257550"/>
            <a:ext cx="4714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65767B"/>
                </a:solidFill>
                <a:latin typeface="Arial"/>
                <a:ea typeface="Arial"/>
                <a:cs typeface="Arial"/>
              </a:defRPr>
            </a:defPPr>
          </a:lstStyle>
          <a:p xmlns:a="http://schemas.openxmlformats.org/drawingml/2006/main">
            <a:pPr>
              <a:defRPr sz="2175" b="0">
                <a:solidFill>
                  <a:srgbClr val="65767B"/>
                </a:solidFill>
                <a:latin typeface="Arial"/>
                <a:ea typeface="Arial"/>
                <a:cs typeface="Arial"/>
              </a:defRPr>
            </a:pPr>
            <a:r>
              <a:rPr sz="2175" b="0">
                <a:solidFill>
                  <a:srgbClr val="65767B"/>
                </a:solidFill>
                <a:latin typeface="Arial"/>
                <a:ea typeface="Arial"/>
                <a:cs typeface="Arial"/>
              </a:rPr>
              <a:t>Choose recovery settings</a:t>
            </a:r>
          </a:p>
          <a:p xmlns:a="http://schemas.openxmlformats.org/drawingml/2006/main">
            <a:pPr>
              <a:defRPr sz="2175" b="0">
                <a:solidFill>
                  <a:srgbClr val="65767B"/>
                </a:solidFill>
                <a:latin typeface="Arial"/>
                <a:ea typeface="Arial"/>
                <a:cs typeface="Arial"/>
              </a:defRPr>
            </a:pPr>
            <a:r>
              <a:rPr sz="2175" b="0">
                <a:solidFill>
                  <a:srgbClr val="65767B"/>
                </a:solidFill>
                <a:latin typeface="Arial"/>
                <a:ea typeface="Arial"/>
                <a:cs typeface="Arial"/>
              </a:rPr>
              <a:t>and rejection thresholds</a:t>
            </a:r>
          </a:p>
        </p:txBody>
      </p:sp>
      <p:sp>
        <p:nvSpPr>
          <p:cNvPr id="7" name="">
            <a:extLst xmlns:a="http://schemas.openxmlformats.org/drawingml/2006/main">
              <a:ext uri="{FF2B5EF4-FFF2-40B4-BE49-F238E27FC236}">
                <a16:creationId xmlns:a16="http://schemas.microsoft.com/office/drawing/2014/main" id="{FE2F64C0-3D57-4CFE-BB68-1C266CDF2D9E}"/>
              </a:ext>
            </a:extLst>
          </p:cNvPr>
          <p:cNvSpPr>
            <a:spLocks xmlns:a="http://schemas.openxmlformats.org/drawingml/2006/main" noGrp="1"/>
          </p:cNvSpPr>
          <p:nvPr/>
        </p:nvSpPr>
        <p:spPr>
          <a:xfrm xmlns:a="http://schemas.openxmlformats.org/drawingml/2006/main">
            <a:off x="6715125" y="1524000"/>
            <a:ext cx="4476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255C4D"/>
                </a:solidFill>
                <a:latin typeface="Arial"/>
                <a:ea typeface="Arial"/>
                <a:cs typeface="Arial"/>
              </a:defRPr>
            </a:defPPr>
          </a:lstStyle>
          <a:p xmlns:a="http://schemas.openxmlformats.org/drawingml/2006/main">
            <a:pPr>
              <a:defRPr sz="5700" b="1">
                <a:solidFill>
                  <a:srgbClr val="255C4D"/>
                </a:solidFill>
                <a:latin typeface="Arial"/>
                <a:ea typeface="Arial"/>
                <a:cs typeface="Arial"/>
              </a:defRPr>
            </a:pPr>
            <a:r>
              <a:rPr sz="5700" b="1">
                <a:solidFill>
                  <a:srgbClr val="255C4D"/>
                </a:solidFill>
                <a:latin typeface="Arial"/>
                <a:ea typeface="Arial"/>
                <a:cs typeface="Arial"/>
              </a:rPr>
              <a:t>400</a:t>
            </a:r>
          </a:p>
        </p:txBody>
      </p:sp>
      <p:sp>
        <p:nvSpPr>
          <p:cNvPr id="8" name="">
            <a:extLst xmlns:a="http://schemas.openxmlformats.org/drawingml/2006/main">
              <a:ext uri="{FF2B5EF4-FFF2-40B4-BE49-F238E27FC236}">
                <a16:creationId xmlns:a16="http://schemas.microsoft.com/office/drawing/2014/main" id="{891CDB67-8ADB-4F95-A298-411AB5FF1DD3}"/>
              </a:ext>
            </a:extLst>
          </p:cNvPr>
          <p:cNvSpPr>
            <a:spLocks xmlns:a="http://schemas.openxmlformats.org/drawingml/2006/main" noGrp="1"/>
          </p:cNvSpPr>
          <p:nvPr/>
        </p:nvSpPr>
        <p:spPr>
          <a:xfrm xmlns:a="http://schemas.openxmlformats.org/drawingml/2006/main">
            <a:off x="6715125" y="2647950"/>
            <a:ext cx="4714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82D35"/>
                </a:solidFill>
                <a:latin typeface="Arial"/>
                <a:ea typeface="Arial"/>
                <a:cs typeface="Arial"/>
              </a:defRPr>
            </a:defPPr>
          </a:lstStyle>
          <a:p xmlns:a="http://schemas.openxmlformats.org/drawingml/2006/main">
            <a:pPr>
              <a:defRPr sz="2325" b="1">
                <a:solidFill>
                  <a:srgbClr val="182D35"/>
                </a:solidFill>
                <a:latin typeface="Arial"/>
                <a:ea typeface="Arial"/>
                <a:cs typeface="Arial"/>
              </a:defRPr>
            </a:pPr>
            <a:r>
              <a:rPr sz="2325" b="1">
                <a:solidFill>
                  <a:srgbClr val="182D35"/>
                </a:solidFill>
                <a:latin typeface="Arial"/>
                <a:ea typeface="Arial"/>
                <a:cs typeface="Arial"/>
              </a:rPr>
              <a:t>Disjoint test clips</a:t>
            </a:r>
          </a:p>
        </p:txBody>
      </p:sp>
      <p:sp>
        <p:nvSpPr>
          <p:cNvPr id="9" name="">
            <a:extLst xmlns:a="http://schemas.openxmlformats.org/drawingml/2006/main">
              <a:ext uri="{FF2B5EF4-FFF2-40B4-BE49-F238E27FC236}">
                <a16:creationId xmlns:a16="http://schemas.microsoft.com/office/drawing/2014/main" id="{06AF0B49-B301-4205-92C7-49FE2BBC041A}"/>
              </a:ext>
            </a:extLst>
          </p:cNvPr>
          <p:cNvSpPr>
            <a:spLocks xmlns:a="http://schemas.openxmlformats.org/drawingml/2006/main" noGrp="1"/>
          </p:cNvSpPr>
          <p:nvPr/>
        </p:nvSpPr>
        <p:spPr>
          <a:xfrm xmlns:a="http://schemas.openxmlformats.org/drawingml/2006/main">
            <a:off x="6715125" y="3257550"/>
            <a:ext cx="4714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65767B"/>
                </a:solidFill>
                <a:latin typeface="Arial"/>
                <a:ea typeface="Arial"/>
                <a:cs typeface="Arial"/>
              </a:defRPr>
            </a:defPPr>
          </a:lstStyle>
          <a:p xmlns:a="http://schemas.openxmlformats.org/drawingml/2006/main">
            <a:pPr>
              <a:defRPr sz="2175" b="0">
                <a:solidFill>
                  <a:srgbClr val="65767B"/>
                </a:solidFill>
                <a:latin typeface="Arial"/>
                <a:ea typeface="Arial"/>
                <a:cs typeface="Arial"/>
              </a:defRPr>
            </a:pPr>
            <a:r>
              <a:rPr sz="2175" b="0">
                <a:solidFill>
                  <a:srgbClr val="65767B"/>
                </a:solidFill>
                <a:latin typeface="Arial"/>
                <a:ea typeface="Arial"/>
                <a:cs typeface="Arial"/>
              </a:rPr>
              <a:t>Same clips and corruptions</a:t>
            </a:r>
          </a:p>
          <a:p xmlns:a="http://schemas.openxmlformats.org/drawingml/2006/main">
            <a:pPr>
              <a:defRPr sz="2175" b="0">
                <a:solidFill>
                  <a:srgbClr val="65767B"/>
                </a:solidFill>
                <a:latin typeface="Arial"/>
                <a:ea typeface="Arial"/>
                <a:cs typeface="Arial"/>
              </a:defRPr>
            </a:pPr>
            <a:r>
              <a:rPr sz="2175" b="0">
                <a:solidFill>
                  <a:srgbClr val="65767B"/>
                </a:solidFill>
                <a:latin typeface="Arial"/>
                <a:ea typeface="Arial"/>
                <a:cs typeface="Arial"/>
              </a:rPr>
              <a:t>for every variant</a:t>
            </a:r>
          </a:p>
        </p:txBody>
      </p:sp>
      <p:sp>
        <p:nvSpPr>
          <p:cNvPr id="10" name="">
            <a:extLst xmlns:a="http://schemas.openxmlformats.org/drawingml/2006/main">
              <a:ext uri="{FF2B5EF4-FFF2-40B4-BE49-F238E27FC236}">
                <a16:creationId xmlns:a16="http://schemas.microsoft.com/office/drawing/2014/main" id="{99078CAB-C0BE-42DF-B19D-46A8A03CD227}"/>
              </a:ext>
            </a:extLst>
          </p:cNvPr>
          <p:cNvSpPr>
            <a:spLocks xmlns:a="http://schemas.openxmlformats.org/drawingml/2006/main" noGrp="1"/>
          </p:cNvSpPr>
          <p:nvPr/>
        </p:nvSpPr>
        <p:spPr>
          <a:xfrm xmlns:a="http://schemas.openxmlformats.org/drawingml/2006/main">
            <a:off x="685800" y="46005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182D35"/>
                </a:solidFill>
                <a:latin typeface="Arial"/>
                <a:ea typeface="Arial"/>
                <a:cs typeface="Arial"/>
              </a:defRPr>
            </a:defPPr>
          </a:lstStyle>
          <a:p xmlns:a="http://schemas.openxmlformats.org/drawingml/2006/main">
            <a:pPr>
              <a:defRPr sz="2250" b="0">
                <a:solidFill>
                  <a:srgbClr val="182D35"/>
                </a:solidFill>
                <a:latin typeface="Arial"/>
                <a:ea typeface="Arial"/>
                <a:cs typeface="Arial"/>
              </a:defRPr>
            </a:pPr>
            <a:r>
              <a:rPr sz="2250" b="0">
                <a:solidFill>
                  <a:srgbClr val="182D35"/>
                </a:solidFill>
                <a:latin typeface="Arial"/>
                <a:ea typeface="Arial"/>
                <a:cs typeface="Arial"/>
              </a:rPr>
              <a:t>Kinetics Skeleton validation sample  /  251 true classes</a:t>
            </a:r>
          </a:p>
        </p:txBody>
      </p:sp>
      <p:sp>
        <p:nvSpPr>
          <p:cNvPr id="11" name="">
            <a:extLst xmlns:a="http://schemas.openxmlformats.org/drawingml/2006/main">
              <a:ext uri="{FF2B5EF4-FFF2-40B4-BE49-F238E27FC236}">
                <a16:creationId xmlns:a16="http://schemas.microsoft.com/office/drawing/2014/main" id="{BABF9C5E-7507-4F5B-BDF1-D8F0C6E03651}"/>
              </a:ext>
            </a:extLst>
          </p:cNvPr>
          <p:cNvSpPr>
            <a:spLocks xmlns:a="http://schemas.openxmlformats.org/drawingml/2006/main" noGrp="1"/>
          </p:cNvSpPr>
          <p:nvPr/>
        </p:nvSpPr>
        <p:spPr>
          <a:xfrm xmlns:a="http://schemas.openxmlformats.org/drawingml/2006/main">
            <a:off x="685800" y="5276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65767B"/>
                </a:solidFill>
                <a:latin typeface="Arial"/>
                <a:ea typeface="Arial"/>
                <a:cs typeface="Arial"/>
              </a:defRPr>
            </a:defPPr>
          </a:lstStyle>
          <a:p xmlns:a="http://schemas.openxmlformats.org/drawingml/2006/main">
            <a:pPr>
              <a:defRPr sz="2100" b="0">
                <a:solidFill>
                  <a:srgbClr val="65767B"/>
                </a:solidFill>
                <a:latin typeface="Arial"/>
                <a:ea typeface="Arial"/>
                <a:cs typeface="Arial"/>
              </a:defRPr>
            </a:pPr>
            <a:r>
              <a:rPr sz="2100" b="0">
                <a:solidFill>
                  <a:srgbClr val="65767B"/>
                </a:solidFill>
                <a:latin typeface="Arial"/>
                <a:ea typeface="Arial"/>
                <a:cs typeface="Arial"/>
              </a:rPr>
              <a:t>Five conditions: original poses, short joint loss, limb loss,</a:t>
            </a:r>
          </a:p>
          <a:p xmlns:a="http://schemas.openxmlformats.org/drawingml/2006/main">
            <a:pPr>
              <a:defRPr sz="2100" b="0">
                <a:solidFill>
                  <a:srgbClr val="65767B"/>
                </a:solidFill>
                <a:latin typeface="Arial"/>
                <a:ea typeface="Arial"/>
                <a:cs typeface="Arial"/>
              </a:defRPr>
            </a:pPr>
            <a:r>
              <a:rPr sz="2100" b="0">
                <a:solidFill>
                  <a:srgbClr val="65767B"/>
                </a:solidFill>
                <a:latin typeface="Arial"/>
                <a:ea typeface="Arial"/>
                <a:cs typeface="Arial"/>
              </a:rPr>
              <a:t>longer joint loss and coordinate noise</a:t>
            </a:r>
          </a:p>
        </p:txBody>
      </p:sp>
    </p:spTree>
    <p:extLst>
      <p:ext uri="{BB962C8B-B14F-4D97-AF65-F5344CB8AC3E}">
        <p14:creationId xmlns:p14="http://schemas.microsoft.com/office/powerpoint/2010/main" val="376278688"/>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AE2196-4AB7-4638-ADA1-28A1E26BA210}"/>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Accuracy across five test conditions</a:t>
            </a:r>
          </a:p>
        </p:txBody>
      </p:sp>
      <p:sp>
        <p:nvSpPr>
          <p:cNvPr id="2" name="">
            <a:extLst xmlns:a="http://schemas.openxmlformats.org/drawingml/2006/main">
              <a:ext uri="{FF2B5EF4-FFF2-40B4-BE49-F238E27FC236}">
                <a16:creationId xmlns:a16="http://schemas.microsoft.com/office/drawing/2014/main" id="{FC690588-6EE9-4C31-9957-063B8891CEC0}"/>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A94F3672-2603-4C31-A81C-AD82F24F0B8D}"/>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4D7F5134-7EC1-4957-841D-0781CAD15BB0}"/>
              </a:ext>
            </a:extLst>
          </p:cNvPr>
          <p:cNvSpPr>
            <a:spLocks xmlns:a="http://schemas.openxmlformats.org/drawingml/2006/main" noGrp="1"/>
          </p:cNvSpPr>
          <p:nvPr/>
        </p:nvSpPr>
        <p:spPr>
          <a:xfrm xmlns:a="http://schemas.openxmlformats.org/drawingml/2006/main">
            <a:off x="685800" y="12477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5767B"/>
                </a:solidFill>
                <a:latin typeface="Arial"/>
                <a:ea typeface="Arial"/>
                <a:cs typeface="Arial"/>
              </a:defRPr>
            </a:defPPr>
          </a:lstStyle>
          <a:p xmlns:a="http://schemas.openxmlformats.org/drawingml/2006/main">
            <a:pPr>
              <a:defRPr sz="1950" b="0">
                <a:solidFill>
                  <a:srgbClr val="65767B"/>
                </a:solidFill>
                <a:latin typeface="Arial"/>
                <a:ea typeface="Arial"/>
                <a:cs typeface="Arial"/>
              </a:defRPr>
            </a:pPr>
            <a:r>
              <a:rPr sz="1950" b="0">
                <a:solidFill>
                  <a:srgbClr val="65767B"/>
                </a:solidFill>
                <a:latin typeface="Arial"/>
                <a:ea typeface="Arial"/>
                <a:cs typeface="Arial"/>
              </a:rPr>
              <a:t>400 test clips in each condition. All predictions count.</a:t>
            </a:r>
          </a:p>
        </p:txBody>
      </p:sp>
      <p:graphicFrame>
        <p:nvGraphicFramePr>
          <p:cNvPr id="5" name="Chart">
            <a:extLst xmlns:a="http://schemas.openxmlformats.org/drawingml/2006/main">
              <a:ext uri="{FF2B5EF4-FFF2-40B4-BE49-F238E27FC236}">
                <a16:creationId xmlns:a16="http://schemas.microsoft.com/office/drawing/2014/main" id="{06C7B873-3722-4D68-A0AD-B0997A729DDE}"/>
              </a:ext>
            </a:extLst>
          </p:cNvPr>
          <p:cNvGraphicFramePr/>
          <p:nvPr/>
        </p:nvGraphicFramePr>
        <p:xfrm>
          <a:off xmlns:a="http://schemas.openxmlformats.org/drawingml/2006/main" x="628650" y="1809750"/>
          <a:ext xmlns:a="http://schemas.openxmlformats.org/drawingml/2006/main" cx="10934700" cy="3810000"/>
        </p:xfrm>
        <a:graphic xmlns:a="http://schemas.openxmlformats.org/drawingml/2006/main">
          <a:graphicData uri="http://schemas.openxmlformats.org/drawingml/2006/chart">
            <c:chart xmlns:r="http://schemas.openxmlformats.org/officeDocument/2006/relationships" xmlns:c="http://schemas.openxmlformats.org/drawingml/2006/chart" r:id="Rc5287b5c1e1346f3"/>
          </a:graphicData>
        </a:graphic>
      </p:graphicFrame>
      <p:sp>
        <p:nvSpPr>
          <p:cNvPr id="6" name="">
            <a:extLst xmlns:a="http://schemas.openxmlformats.org/drawingml/2006/main">
              <a:ext uri="{FF2B5EF4-FFF2-40B4-BE49-F238E27FC236}">
                <a16:creationId xmlns:a16="http://schemas.microsoft.com/office/drawing/2014/main" id="{15173444-87C1-4E24-90FE-90E0106FBABB}"/>
              </a:ext>
            </a:extLst>
          </p:cNvPr>
          <p:cNvSpPr>
            <a:spLocks xmlns:a="http://schemas.openxmlformats.org/drawingml/2006/main" noGrp="1"/>
          </p:cNvSpPr>
          <p:nvPr/>
        </p:nvSpPr>
        <p:spPr>
          <a:xfrm xmlns:a="http://schemas.openxmlformats.org/drawingml/2006/main">
            <a:off x="685800" y="5848350"/>
            <a:ext cx="1081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67B"/>
                </a:solidFill>
                <a:latin typeface="Arial"/>
                <a:ea typeface="Arial"/>
                <a:cs typeface="Arial"/>
              </a:defRPr>
            </a:defPPr>
          </a:lstStyle>
          <a:p xmlns:a="http://schemas.openxmlformats.org/drawingml/2006/main">
            <a:pPr>
              <a:defRPr sz="1800" b="0">
                <a:solidFill>
                  <a:srgbClr val="65767B"/>
                </a:solidFill>
                <a:latin typeface="Arial"/>
                <a:ea typeface="Arial"/>
                <a:cs typeface="Arial"/>
              </a:defRPr>
            </a:pPr>
            <a:r>
              <a:rPr sz="1800" b="0">
                <a:solidFill>
                  <a:srgbClr val="65767B"/>
                </a:solidFill>
                <a:latin typeface="Arial"/>
                <a:ea typeface="Arial"/>
                <a:cs typeface="Arial"/>
              </a:rPr>
              <a:t>Loss conditions target 25% of visible joints. Noise uses σ = 0.02.</a:t>
            </a:r>
          </a:p>
        </p:txBody>
      </p:sp>
    </p:spTree>
    <p:extLst>
      <p:ext uri="{BB962C8B-B14F-4D97-AF65-F5344CB8AC3E}">
        <p14:creationId xmlns:p14="http://schemas.microsoft.com/office/powerpoint/2010/main" val="1479268135"/>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B27CF7-C6C7-4DE9-B497-12A28394A5D1}"/>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Paired gains and uncertainty</a:t>
            </a:r>
          </a:p>
        </p:txBody>
      </p:sp>
      <p:sp>
        <p:nvSpPr>
          <p:cNvPr id="2" name="">
            <a:extLst xmlns:a="http://schemas.openxmlformats.org/drawingml/2006/main">
              <a:ext uri="{FF2B5EF4-FFF2-40B4-BE49-F238E27FC236}">
                <a16:creationId xmlns:a16="http://schemas.microsoft.com/office/drawing/2014/main" id="{B24B85AD-46C3-4327-A83A-67ADEC2431C2}"/>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B4C05780-79DD-4F69-B48F-BA22E0908582}"/>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2B482A09-7318-4080-B815-F97B7389F01E}"/>
              </a:ext>
            </a:extLst>
          </p:cNvPr>
          <p:cNvSpPr>
            <a:spLocks xmlns:a="http://schemas.openxmlformats.org/drawingml/2006/main" noGrp="1"/>
          </p:cNvSpPr>
          <p:nvPr/>
        </p:nvSpPr>
        <p:spPr>
          <a:xfrm xmlns:a="http://schemas.openxmlformats.org/drawingml/2006/main">
            <a:off x="685800" y="12382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65767B"/>
                </a:solidFill>
                <a:latin typeface="Arial"/>
                <a:ea typeface="Arial"/>
                <a:cs typeface="Arial"/>
              </a:defRPr>
            </a:defPPr>
          </a:lstStyle>
          <a:p xmlns:a="http://schemas.openxmlformats.org/drawingml/2006/main">
            <a:pPr>
              <a:defRPr sz="2025" b="0">
                <a:solidFill>
                  <a:srgbClr val="65767B"/>
                </a:solidFill>
                <a:latin typeface="Arial"/>
                <a:ea typeface="Arial"/>
                <a:cs typeface="Arial"/>
              </a:defRPr>
            </a:pPr>
            <a:r>
              <a:rPr sz="2025" b="0">
                <a:solidFill>
                  <a:srgbClr val="65767B"/>
                </a:solidFill>
                <a:latin typeface="Arial"/>
                <a:ea typeface="Arial"/>
                <a:cs typeface="Arial"/>
              </a:rPr>
              <a:t>Recovery minus original accuracy, in percentage points</a:t>
            </a:r>
          </a:p>
        </p:txBody>
      </p:sp>
      <p:graphicFrame>
        <p:nvGraphicFramePr>
          <p:cNvPr id="5" name="">
            <a:extLst xmlns:a="http://schemas.openxmlformats.org/drawingml/2006/main">
              <a:ext uri="{FF2B5EF4-FFF2-40B4-BE49-F238E27FC236}">
                <a16:creationId xmlns:a16="http://schemas.microsoft.com/office/drawing/2014/main" id="{70F4006B-A40C-418E-9436-8117500AB2F1}"/>
              </a:ext>
            </a:extLst>
          </p:cNvPr>
          <p:cNvGraphicFramePr/>
          <p:nvPr/>
        </p:nvGraphicFramePr>
        <p:xfrm>
          <a:off xmlns:a="http://schemas.openxmlformats.org/drawingml/2006/main" x="666750" y="1828800"/>
          <a:ext xmlns:a="http://schemas.openxmlformats.org/drawingml/2006/main" cx="10858500" cy="3343275"/>
        </p:xfrm>
        <a:graphic xmlns:a="http://schemas.openxmlformats.org/drawingml/2006/main">
          <a:graphicData uri="http://schemas.openxmlformats.org/drawingml/2006/table">
            <a:tbl>
              <a:tblPr/>
              <a:tblGrid>
                <a:gridCol w="3238500"/>
                <a:gridCol w="1285875"/>
                <a:gridCol w="2714625"/>
                <a:gridCol w="1762125"/>
                <a:gridCol w="1857375"/>
              </a:tblGrid>
              <a:tr h="557213">
                <a:tc>
                  <a:txBody>
                    <a:bodyPr/>
                    <a:lstStyle/>
                    <a:p>
                      <a:r>
                        <a:rPr sz="1875" b="1">
                          <a:solidFill>
                            <a:srgbClr val="FFFFFF"/>
                          </a:solidFill>
                          <a:latin typeface="Arial"/>
                          <a:ea typeface="Arial"/>
                          <a:cs typeface="Arial"/>
                        </a:rPr>
                        <a:t>Condition</a:t>
                      </a:r>
                    </a:p>
                  </a:txBody>
                  <a:tcPr marL="142875" marR="114300" marT="114300" marB="114300">
                    <a:solidFill>
                      <a:srgbClr val="255C4D"/>
                    </a:solidFill>
                  </a:tcPr>
                </a:tc>
                <a:tc>
                  <a:txBody>
                    <a:bodyPr/>
                    <a:lstStyle/>
                    <a:p>
                      <a:r>
                        <a:rPr sz="1875" b="1">
                          <a:solidFill>
                            <a:srgbClr val="FFFFFF"/>
                          </a:solidFill>
                          <a:latin typeface="Arial"/>
                          <a:ea typeface="Arial"/>
                          <a:cs typeface="Arial"/>
                        </a:rPr>
                        <a:t>Gain</a:t>
                      </a:r>
                    </a:p>
                  </a:txBody>
                  <a:tcPr marL="142875" marR="114300" marT="114300" marB="114300">
                    <a:solidFill>
                      <a:srgbClr val="255C4D"/>
                    </a:solidFill>
                  </a:tcPr>
                </a:tc>
                <a:tc>
                  <a:txBody>
                    <a:bodyPr/>
                    <a:lstStyle/>
                    <a:p>
                      <a:r>
                        <a:rPr sz="1875" b="1">
                          <a:solidFill>
                            <a:srgbClr val="FFFFFF"/>
                          </a:solidFill>
                          <a:latin typeface="Arial"/>
                          <a:ea typeface="Arial"/>
                          <a:cs typeface="Arial"/>
                        </a:rPr>
                        <a:t>95% interval</a:t>
                      </a:r>
                    </a:p>
                  </a:txBody>
                  <a:tcPr marL="142875" marR="114300" marT="114300" marB="114300">
                    <a:solidFill>
                      <a:srgbClr val="255C4D"/>
                    </a:solidFill>
                  </a:tcPr>
                </a:tc>
                <a:tc>
                  <a:txBody>
                    <a:bodyPr/>
                    <a:lstStyle/>
                    <a:p>
                      <a:r>
                        <a:rPr sz="1875" b="1">
                          <a:solidFill>
                            <a:srgbClr val="FFFFFF"/>
                          </a:solidFill>
                          <a:latin typeface="Arial"/>
                          <a:ea typeface="Arial"/>
                          <a:cs typeface="Arial"/>
                        </a:rPr>
                        <a:t>Corrected</a:t>
                      </a:r>
                    </a:p>
                  </a:txBody>
                  <a:tcPr marL="142875" marR="114300" marT="114300" marB="114300">
                    <a:solidFill>
                      <a:srgbClr val="255C4D"/>
                    </a:solidFill>
                  </a:tcPr>
                </a:tc>
                <a:tc>
                  <a:txBody>
                    <a:bodyPr/>
                    <a:lstStyle/>
                    <a:p>
                      <a:r>
                        <a:rPr sz="1875" b="1">
                          <a:solidFill>
                            <a:srgbClr val="FFFFFF"/>
                          </a:solidFill>
                          <a:latin typeface="Arial"/>
                          <a:ea typeface="Arial"/>
                          <a:cs typeface="Arial"/>
                        </a:rPr>
                        <a:t>Regressed</a:t>
                      </a:r>
                    </a:p>
                  </a:txBody>
                  <a:tcPr marL="142875" marR="114300" marT="114300" marB="114300">
                    <a:solidFill>
                      <a:srgbClr val="255C4D"/>
                    </a:solidFill>
                  </a:tcPr>
                </a:tc>
              </a:tr>
              <a:tr h="557213">
                <a:tc>
                  <a:txBody>
                    <a:bodyPr/>
                    <a:lstStyle/>
                    <a:p>
                      <a:r>
                        <a:rPr sz="1875">
                          <a:solidFill>
                            <a:srgbClr val="182D35"/>
                          </a:solidFill>
                          <a:latin typeface="Arial"/>
                          <a:ea typeface="Arial"/>
                          <a:cs typeface="Arial"/>
                        </a:rPr>
                        <a:t>Original poses</a:t>
                      </a:r>
                    </a:p>
                  </a:txBody>
                  <a:tcPr marL="142875" marR="114300" marT="114300" marB="114300">
                    <a:solidFill>
                      <a:srgbClr val="FFFFFF"/>
                    </a:solidFill>
                  </a:tcPr>
                </a:tc>
                <a:tc>
                  <a:txBody>
                    <a:bodyPr/>
                    <a:lstStyle/>
                    <a:p>
                      <a:r>
                        <a:rPr sz="1875" b="1">
                          <a:solidFill>
                            <a:srgbClr val="255C4D"/>
                          </a:solidFill>
                          <a:latin typeface="Arial"/>
                          <a:ea typeface="Arial"/>
                          <a:cs typeface="Arial"/>
                        </a:rPr>
                        <a:t>+0.25</a:t>
                      </a:r>
                    </a:p>
                  </a:txBody>
                  <a:tcPr marL="142875" marR="114300" marT="114300" marB="114300">
                    <a:solidFill>
                      <a:srgbClr val="FFFFFF"/>
                    </a:solidFill>
                  </a:tcPr>
                </a:tc>
                <a:tc>
                  <a:txBody>
                    <a:bodyPr/>
                    <a:lstStyle/>
                    <a:p>
                      <a:r>
                        <a:rPr sz="1875">
                          <a:solidFill>
                            <a:srgbClr val="182D35"/>
                          </a:solidFill>
                          <a:latin typeface="Arial"/>
                          <a:ea typeface="Arial"/>
                          <a:cs typeface="Arial"/>
                        </a:rPr>
                        <a:t>-1.50 to +2.00</a:t>
                      </a:r>
                    </a:p>
                  </a:txBody>
                  <a:tcPr marL="142875" marR="114300" marT="114300" marB="114300">
                    <a:solidFill>
                      <a:srgbClr val="FFFFFF"/>
                    </a:solidFill>
                  </a:tcPr>
                </a:tc>
                <a:tc>
                  <a:txBody>
                    <a:bodyPr/>
                    <a:lstStyle/>
                    <a:p>
                      <a:r>
                        <a:rPr sz="1875">
                          <a:solidFill>
                            <a:srgbClr val="182D35"/>
                          </a:solidFill>
                          <a:latin typeface="Arial"/>
                          <a:ea typeface="Arial"/>
                          <a:cs typeface="Arial"/>
                        </a:rPr>
                        <a:t>7</a:t>
                      </a:r>
                    </a:p>
                  </a:txBody>
                  <a:tcPr marL="142875" marR="114300" marT="114300" marB="114300">
                    <a:solidFill>
                      <a:srgbClr val="FFFFFF"/>
                    </a:solidFill>
                  </a:tcPr>
                </a:tc>
                <a:tc>
                  <a:txBody>
                    <a:bodyPr/>
                    <a:lstStyle/>
                    <a:p>
                      <a:r>
                        <a:rPr sz="1875">
                          <a:solidFill>
                            <a:srgbClr val="182D35"/>
                          </a:solidFill>
                          <a:latin typeface="Arial"/>
                          <a:ea typeface="Arial"/>
                          <a:cs typeface="Arial"/>
                        </a:rPr>
                        <a:t>6</a:t>
                      </a:r>
                    </a:p>
                  </a:txBody>
                  <a:tcPr marL="142875" marR="114300" marT="114300" marB="114300">
                    <a:solidFill>
                      <a:srgbClr val="FFFFFF"/>
                    </a:solidFill>
                  </a:tcPr>
                </a:tc>
              </a:tr>
              <a:tr h="557213">
                <a:tc>
                  <a:txBody>
                    <a:bodyPr/>
                    <a:lstStyle/>
                    <a:p>
                      <a:r>
                        <a:rPr sz="1875">
                          <a:solidFill>
                            <a:srgbClr val="182D35"/>
                          </a:solidFill>
                          <a:latin typeface="Arial"/>
                          <a:ea typeface="Arial"/>
                          <a:cs typeface="Arial"/>
                        </a:rPr>
                        <a:t>Joint loss, 5 frames</a:t>
                      </a:r>
                    </a:p>
                  </a:txBody>
                  <a:tcPr marL="142875" marR="114300" marT="114300" marB="114300">
                    <a:solidFill>
                      <a:srgbClr val="EBF0EC"/>
                    </a:solidFill>
                  </a:tcPr>
                </a:tc>
                <a:tc>
                  <a:txBody>
                    <a:bodyPr/>
                    <a:lstStyle/>
                    <a:p>
                      <a:r>
                        <a:rPr sz="1875" b="1">
                          <a:solidFill>
                            <a:srgbClr val="255C4D"/>
                          </a:solidFill>
                          <a:latin typeface="Arial"/>
                          <a:ea typeface="Arial"/>
                          <a:cs typeface="Arial"/>
                        </a:rPr>
                        <a:t>+3.75</a:t>
                      </a:r>
                    </a:p>
                  </a:txBody>
                  <a:tcPr marL="142875" marR="114300" marT="114300" marB="114300">
                    <a:solidFill>
                      <a:srgbClr val="EBF0EC"/>
                    </a:solidFill>
                  </a:tcPr>
                </a:tc>
                <a:tc>
                  <a:txBody>
                    <a:bodyPr/>
                    <a:lstStyle/>
                    <a:p>
                      <a:r>
                        <a:rPr sz="1875">
                          <a:solidFill>
                            <a:srgbClr val="182D35"/>
                          </a:solidFill>
                          <a:latin typeface="Arial"/>
                          <a:ea typeface="Arial"/>
                          <a:cs typeface="Arial"/>
                        </a:rPr>
                        <a:t>+1.50 to +6.25</a:t>
                      </a:r>
                    </a:p>
                  </a:txBody>
                  <a:tcPr marL="142875" marR="114300" marT="114300" marB="114300">
                    <a:solidFill>
                      <a:srgbClr val="EBF0EC"/>
                    </a:solidFill>
                  </a:tcPr>
                </a:tc>
                <a:tc>
                  <a:txBody>
                    <a:bodyPr/>
                    <a:lstStyle/>
                    <a:p>
                      <a:r>
                        <a:rPr sz="1875">
                          <a:solidFill>
                            <a:srgbClr val="182D35"/>
                          </a:solidFill>
                          <a:latin typeface="Arial"/>
                          <a:ea typeface="Arial"/>
                          <a:cs typeface="Arial"/>
                        </a:rPr>
                        <a:t>21</a:t>
                      </a:r>
                    </a:p>
                  </a:txBody>
                  <a:tcPr marL="142875" marR="114300" marT="114300" marB="114300">
                    <a:solidFill>
                      <a:srgbClr val="EBF0EC"/>
                    </a:solidFill>
                  </a:tcPr>
                </a:tc>
                <a:tc>
                  <a:txBody>
                    <a:bodyPr/>
                    <a:lstStyle/>
                    <a:p>
                      <a:r>
                        <a:rPr sz="1875">
                          <a:solidFill>
                            <a:srgbClr val="182D35"/>
                          </a:solidFill>
                          <a:latin typeface="Arial"/>
                          <a:ea typeface="Arial"/>
                          <a:cs typeface="Arial"/>
                        </a:rPr>
                        <a:t>6</a:t>
                      </a:r>
                    </a:p>
                  </a:txBody>
                  <a:tcPr marL="142875" marR="114300" marT="114300" marB="114300">
                    <a:solidFill>
                      <a:srgbClr val="EBF0EC"/>
                    </a:solidFill>
                  </a:tcPr>
                </a:tc>
              </a:tr>
              <a:tr h="557213">
                <a:tc>
                  <a:txBody>
                    <a:bodyPr/>
                    <a:lstStyle/>
                    <a:p>
                      <a:r>
                        <a:rPr sz="1875">
                          <a:solidFill>
                            <a:srgbClr val="182D35"/>
                          </a:solidFill>
                          <a:latin typeface="Arial"/>
                          <a:ea typeface="Arial"/>
                          <a:cs typeface="Arial"/>
                        </a:rPr>
                        <a:t>Limb loss, 5 frames</a:t>
                      </a:r>
                    </a:p>
                  </a:txBody>
                  <a:tcPr marL="142875" marR="114300" marT="114300" marB="114300">
                    <a:solidFill>
                      <a:srgbClr val="FFFFFF"/>
                    </a:solidFill>
                  </a:tcPr>
                </a:tc>
                <a:tc>
                  <a:txBody>
                    <a:bodyPr/>
                    <a:lstStyle/>
                    <a:p>
                      <a:r>
                        <a:rPr sz="1875" b="1">
                          <a:solidFill>
                            <a:srgbClr val="255C4D"/>
                          </a:solidFill>
                          <a:latin typeface="Arial"/>
                          <a:ea typeface="Arial"/>
                          <a:cs typeface="Arial"/>
                        </a:rPr>
                        <a:t>+3.25</a:t>
                      </a:r>
                    </a:p>
                  </a:txBody>
                  <a:tcPr marL="142875" marR="114300" marT="114300" marB="114300">
                    <a:solidFill>
                      <a:srgbClr val="FFFFFF"/>
                    </a:solidFill>
                  </a:tcPr>
                </a:tc>
                <a:tc>
                  <a:txBody>
                    <a:bodyPr/>
                    <a:lstStyle/>
                    <a:p>
                      <a:r>
                        <a:rPr sz="1875">
                          <a:solidFill>
                            <a:srgbClr val="182D35"/>
                          </a:solidFill>
                          <a:latin typeface="Arial"/>
                          <a:ea typeface="Arial"/>
                          <a:cs typeface="Arial"/>
                        </a:rPr>
                        <a:t>+0.75 to +5.75</a:t>
                      </a:r>
                    </a:p>
                  </a:txBody>
                  <a:tcPr marL="142875" marR="114300" marT="114300" marB="114300">
                    <a:solidFill>
                      <a:srgbClr val="FFFFFF"/>
                    </a:solidFill>
                  </a:tcPr>
                </a:tc>
                <a:tc>
                  <a:txBody>
                    <a:bodyPr/>
                    <a:lstStyle/>
                    <a:p>
                      <a:r>
                        <a:rPr sz="1875">
                          <a:solidFill>
                            <a:srgbClr val="182D35"/>
                          </a:solidFill>
                          <a:latin typeface="Arial"/>
                          <a:ea typeface="Arial"/>
                          <a:cs typeface="Arial"/>
                        </a:rPr>
                        <a:t>20</a:t>
                      </a:r>
                    </a:p>
                  </a:txBody>
                  <a:tcPr marL="142875" marR="114300" marT="114300" marB="114300">
                    <a:solidFill>
                      <a:srgbClr val="FFFFFF"/>
                    </a:solidFill>
                  </a:tcPr>
                </a:tc>
                <a:tc>
                  <a:txBody>
                    <a:bodyPr/>
                    <a:lstStyle/>
                    <a:p>
                      <a:r>
                        <a:rPr sz="1875">
                          <a:solidFill>
                            <a:srgbClr val="182D35"/>
                          </a:solidFill>
                          <a:latin typeface="Arial"/>
                          <a:ea typeface="Arial"/>
                          <a:cs typeface="Arial"/>
                        </a:rPr>
                        <a:t>7</a:t>
                      </a:r>
                    </a:p>
                  </a:txBody>
                  <a:tcPr marL="142875" marR="114300" marT="114300" marB="114300">
                    <a:solidFill>
                      <a:srgbClr val="FFFFFF"/>
                    </a:solidFill>
                  </a:tcPr>
                </a:tc>
              </a:tr>
              <a:tr h="557213">
                <a:tc>
                  <a:txBody>
                    <a:bodyPr/>
                    <a:lstStyle/>
                    <a:p>
                      <a:r>
                        <a:rPr sz="1875">
                          <a:solidFill>
                            <a:srgbClr val="182D35"/>
                          </a:solidFill>
                          <a:latin typeface="Arial"/>
                          <a:ea typeface="Arial"/>
                          <a:cs typeface="Arial"/>
                        </a:rPr>
                        <a:t>Joint loss, 15 frames</a:t>
                      </a:r>
                    </a:p>
                  </a:txBody>
                  <a:tcPr marL="142875" marR="114300" marT="114300" marB="114300">
                    <a:solidFill>
                      <a:srgbClr val="EBF0EC"/>
                    </a:solidFill>
                  </a:tcPr>
                </a:tc>
                <a:tc>
                  <a:txBody>
                    <a:bodyPr/>
                    <a:lstStyle/>
                    <a:p>
                      <a:r>
                        <a:rPr sz="1875" b="1">
                          <a:solidFill>
                            <a:srgbClr val="255C4D"/>
                          </a:solidFill>
                          <a:latin typeface="Arial"/>
                          <a:ea typeface="Arial"/>
                          <a:cs typeface="Arial"/>
                        </a:rPr>
                        <a:t>+0.25</a:t>
                      </a:r>
                    </a:p>
                  </a:txBody>
                  <a:tcPr marL="142875" marR="114300" marT="114300" marB="114300">
                    <a:solidFill>
                      <a:srgbClr val="EBF0EC"/>
                    </a:solidFill>
                  </a:tcPr>
                </a:tc>
                <a:tc>
                  <a:txBody>
                    <a:bodyPr/>
                    <a:lstStyle/>
                    <a:p>
                      <a:r>
                        <a:rPr sz="1875">
                          <a:solidFill>
                            <a:srgbClr val="182D35"/>
                          </a:solidFill>
                          <a:latin typeface="Arial"/>
                          <a:ea typeface="Arial"/>
                          <a:cs typeface="Arial"/>
                        </a:rPr>
                        <a:t>-1.50 to +2.00</a:t>
                      </a:r>
                    </a:p>
                  </a:txBody>
                  <a:tcPr marL="142875" marR="114300" marT="114300" marB="114300">
                    <a:solidFill>
                      <a:srgbClr val="EBF0EC"/>
                    </a:solidFill>
                  </a:tcPr>
                </a:tc>
                <a:tc>
                  <a:txBody>
                    <a:bodyPr/>
                    <a:lstStyle/>
                    <a:p>
                      <a:r>
                        <a:rPr sz="1875">
                          <a:solidFill>
                            <a:srgbClr val="182D35"/>
                          </a:solidFill>
                          <a:latin typeface="Arial"/>
                          <a:ea typeface="Arial"/>
                          <a:cs typeface="Arial"/>
                        </a:rPr>
                        <a:t>7</a:t>
                      </a:r>
                    </a:p>
                  </a:txBody>
                  <a:tcPr marL="142875" marR="114300" marT="114300" marB="114300">
                    <a:solidFill>
                      <a:srgbClr val="EBF0EC"/>
                    </a:solidFill>
                  </a:tcPr>
                </a:tc>
                <a:tc>
                  <a:txBody>
                    <a:bodyPr/>
                    <a:lstStyle/>
                    <a:p>
                      <a:r>
                        <a:rPr sz="1875">
                          <a:solidFill>
                            <a:srgbClr val="182D35"/>
                          </a:solidFill>
                          <a:latin typeface="Arial"/>
                          <a:ea typeface="Arial"/>
                          <a:cs typeface="Arial"/>
                        </a:rPr>
                        <a:t>6</a:t>
                      </a:r>
                    </a:p>
                  </a:txBody>
                  <a:tcPr marL="142875" marR="114300" marT="114300" marB="114300">
                    <a:solidFill>
                      <a:srgbClr val="EBF0EC"/>
                    </a:solidFill>
                  </a:tcPr>
                </a:tc>
              </a:tr>
              <a:tr h="557213">
                <a:tc>
                  <a:txBody>
                    <a:bodyPr/>
                    <a:lstStyle/>
                    <a:p>
                      <a:r>
                        <a:rPr sz="1875">
                          <a:solidFill>
                            <a:srgbClr val="182D35"/>
                          </a:solidFill>
                          <a:latin typeface="Arial"/>
                          <a:ea typeface="Arial"/>
                          <a:cs typeface="Arial"/>
                        </a:rPr>
                        <a:t>Coordinate noise</a:t>
                      </a:r>
                    </a:p>
                  </a:txBody>
                  <a:tcPr marL="142875" marR="114300" marT="114300" marB="114300">
                    <a:solidFill>
                      <a:srgbClr val="FFFFFF"/>
                    </a:solidFill>
                  </a:tcPr>
                </a:tc>
                <a:tc>
                  <a:txBody>
                    <a:bodyPr/>
                    <a:lstStyle/>
                    <a:p>
                      <a:r>
                        <a:rPr sz="1875" b="1">
                          <a:solidFill>
                            <a:srgbClr val="255C4D"/>
                          </a:solidFill>
                          <a:latin typeface="Arial"/>
                          <a:ea typeface="Arial"/>
                          <a:cs typeface="Arial"/>
                        </a:rPr>
                        <a:t>+1.50</a:t>
                      </a:r>
                    </a:p>
                  </a:txBody>
                  <a:tcPr marL="142875" marR="114300" marT="114300" marB="114300">
                    <a:solidFill>
                      <a:srgbClr val="FFFFFF"/>
                    </a:solidFill>
                  </a:tcPr>
                </a:tc>
                <a:tc>
                  <a:txBody>
                    <a:bodyPr/>
                    <a:lstStyle/>
                    <a:p>
                      <a:r>
                        <a:rPr sz="1875">
                          <a:solidFill>
                            <a:srgbClr val="182D35"/>
                          </a:solidFill>
                          <a:latin typeface="Arial"/>
                          <a:ea typeface="Arial"/>
                          <a:cs typeface="Arial"/>
                        </a:rPr>
                        <a:t>0.00 to +3.00</a:t>
                      </a:r>
                    </a:p>
                  </a:txBody>
                  <a:tcPr marL="142875" marR="114300" marT="114300" marB="114300">
                    <a:solidFill>
                      <a:srgbClr val="FFFFFF"/>
                    </a:solidFill>
                  </a:tcPr>
                </a:tc>
                <a:tc>
                  <a:txBody>
                    <a:bodyPr/>
                    <a:lstStyle/>
                    <a:p>
                      <a:r>
                        <a:rPr sz="1875">
                          <a:solidFill>
                            <a:srgbClr val="182D35"/>
                          </a:solidFill>
                          <a:latin typeface="Arial"/>
                          <a:ea typeface="Arial"/>
                          <a:cs typeface="Arial"/>
                        </a:rPr>
                        <a:t>8</a:t>
                      </a:r>
                    </a:p>
                  </a:txBody>
                  <a:tcPr marL="142875" marR="114300" marT="114300" marB="114300">
                    <a:solidFill>
                      <a:srgbClr val="FFFFFF"/>
                    </a:solidFill>
                  </a:tcPr>
                </a:tc>
                <a:tc>
                  <a:txBody>
                    <a:bodyPr/>
                    <a:lstStyle/>
                    <a:p>
                      <a:r>
                        <a:rPr sz="1875">
                          <a:solidFill>
                            <a:srgbClr val="182D35"/>
                          </a:solidFill>
                          <a:latin typeface="Arial"/>
                          <a:ea typeface="Arial"/>
                          <a:cs typeface="Arial"/>
                        </a:rPr>
                        <a:t>2</a:t>
                      </a:r>
                    </a:p>
                  </a:txBody>
                  <a:tcPr marL="142875" marR="11430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76F4C05-F9BA-4626-B117-1555CDC9D1FB}"/>
              </a:ext>
            </a:extLst>
          </p:cNvPr>
          <p:cNvSpPr>
            <a:spLocks xmlns:a="http://schemas.openxmlformats.org/drawingml/2006/main" noGrp="1"/>
          </p:cNvSpPr>
          <p:nvPr/>
        </p:nvSpPr>
        <p:spPr>
          <a:xfrm xmlns:a="http://schemas.openxmlformats.org/drawingml/2006/main">
            <a:off x="685800" y="5486400"/>
            <a:ext cx="10715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182D35"/>
                </a:solidFill>
                <a:latin typeface="Arial"/>
                <a:ea typeface="Arial"/>
                <a:cs typeface="Arial"/>
              </a:defRPr>
            </a:defPPr>
          </a:lstStyle>
          <a:p xmlns:a="http://schemas.openxmlformats.org/drawingml/2006/main">
            <a:pPr>
              <a:defRPr sz="2100" b="0">
                <a:solidFill>
                  <a:srgbClr val="182D35"/>
                </a:solidFill>
                <a:latin typeface="Arial"/>
                <a:ea typeface="Arial"/>
                <a:cs typeface="Arial"/>
              </a:defRPr>
            </a:pPr>
            <a:r>
              <a:rPr sz="2100" b="0">
                <a:solidFill>
                  <a:srgbClr val="182D35"/>
                </a:solidFill>
                <a:latin typeface="Arial"/>
                <a:ea typeface="Arial"/>
                <a:cs typeface="Arial"/>
              </a:rPr>
              <a:t>Intervals containing zero leave the direction uncertain.</a:t>
            </a:r>
          </a:p>
        </p:txBody>
      </p:sp>
    </p:spTree>
    <p:extLst>
      <p:ext uri="{BB962C8B-B14F-4D97-AF65-F5344CB8AC3E}">
        <p14:creationId xmlns:p14="http://schemas.microsoft.com/office/powerpoint/2010/main" val="1898930557"/>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DF2E48-C19D-4CFA-AB07-D90DDC92A985}"/>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Rejection changes accuracy and coverage</a:t>
            </a:r>
          </a:p>
        </p:txBody>
      </p:sp>
      <p:sp>
        <p:nvSpPr>
          <p:cNvPr id="2" name="">
            <a:extLst xmlns:a="http://schemas.openxmlformats.org/drawingml/2006/main">
              <a:ext uri="{FF2B5EF4-FFF2-40B4-BE49-F238E27FC236}">
                <a16:creationId xmlns:a16="http://schemas.microsoft.com/office/drawing/2014/main" id="{8E3346F7-00C9-44DA-A00C-FAE8BFED481C}"/>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5B499677-BBAB-4EF7-9576-91F2C9C4279D}"/>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A0E3D3B1-7C2A-4A50-9892-BC4D595D2E22}"/>
              </a:ext>
            </a:extLst>
          </p:cNvPr>
          <p:cNvSpPr>
            <a:spLocks xmlns:a="http://schemas.openxmlformats.org/drawingml/2006/main" noGrp="1"/>
          </p:cNvSpPr>
          <p:nvPr/>
        </p:nvSpPr>
        <p:spPr>
          <a:xfrm xmlns:a="http://schemas.openxmlformats.org/drawingml/2006/main">
            <a:off x="685800" y="12382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5767B"/>
                </a:solidFill>
                <a:latin typeface="Arial"/>
                <a:ea typeface="Arial"/>
                <a:cs typeface="Arial"/>
              </a:defRPr>
            </a:defPPr>
          </a:lstStyle>
          <a:p xmlns:a="http://schemas.openxmlformats.org/drawingml/2006/main">
            <a:pPr>
              <a:defRPr sz="1950" b="0">
                <a:solidFill>
                  <a:srgbClr val="65767B"/>
                </a:solidFill>
                <a:latin typeface="Arial"/>
                <a:ea typeface="Arial"/>
                <a:cs typeface="Arial"/>
              </a:defRPr>
            </a:pPr>
            <a:r>
              <a:rPr sz="1950" b="0">
                <a:solidFill>
                  <a:srgbClr val="65767B"/>
                </a:solidFill>
                <a:latin typeface="Arial"/>
                <a:ea typeface="Arial"/>
                <a:cs typeface="Arial"/>
              </a:rPr>
              <a:t>Accepted accuracy describes only the clips the system labels</a:t>
            </a:r>
          </a:p>
        </p:txBody>
      </p:sp>
      <p:graphicFrame>
        <p:nvGraphicFramePr>
          <p:cNvPr id="5" name="">
            <a:extLst xmlns:a="http://schemas.openxmlformats.org/drawingml/2006/main">
              <a:ext uri="{FF2B5EF4-FFF2-40B4-BE49-F238E27FC236}">
                <a16:creationId xmlns:a16="http://schemas.microsoft.com/office/drawing/2014/main" id="{4F00CE48-DD57-48F6-9330-1A2372721D32}"/>
              </a:ext>
            </a:extLst>
          </p:cNvPr>
          <p:cNvGraphicFramePr/>
          <p:nvPr/>
        </p:nvGraphicFramePr>
        <p:xfrm>
          <a:off xmlns:a="http://schemas.openxmlformats.org/drawingml/2006/main" x="666750" y="1857375"/>
          <a:ext xmlns:a="http://schemas.openxmlformats.org/drawingml/2006/main" cx="10858500" cy="3552825"/>
        </p:xfrm>
        <a:graphic xmlns:a="http://schemas.openxmlformats.org/drawingml/2006/main">
          <a:graphicData uri="http://schemas.openxmlformats.org/drawingml/2006/table">
            <a:tbl>
              <a:tblPr/>
              <a:tblGrid>
                <a:gridCol w="3048000"/>
                <a:gridCol w="2047875"/>
                <a:gridCol w="1333500"/>
                <a:gridCol w="2952750"/>
                <a:gridCol w="1476375"/>
              </a:tblGrid>
              <a:tr h="592138">
                <a:tc>
                  <a:txBody>
                    <a:bodyPr/>
                    <a:lstStyle/>
                    <a:p>
                      <a:r>
                        <a:rPr sz="1800" b="1">
                          <a:solidFill>
                            <a:srgbClr val="FFFFFF"/>
                          </a:solidFill>
                          <a:latin typeface="Arial"/>
                          <a:ea typeface="Arial"/>
                          <a:cs typeface="Arial"/>
                        </a:rPr>
                        <a:t>Condition</a:t>
                      </a:r>
                    </a:p>
                  </a:txBody>
                  <a:tcPr marL="142875" marR="114300" marT="114300" marB="114300">
                    <a:solidFill>
                      <a:srgbClr val="255C4D"/>
                    </a:solidFill>
                  </a:tcPr>
                </a:tc>
                <a:tc>
                  <a:txBody>
                    <a:bodyPr/>
                    <a:lstStyle/>
                    <a:p>
                      <a:r>
                        <a:rPr sz="1800" b="1">
                          <a:solidFill>
                            <a:srgbClr val="FFFFFF"/>
                          </a:solidFill>
                          <a:latin typeface="Arial"/>
                          <a:ea typeface="Arial"/>
                          <a:cs typeface="Arial"/>
                        </a:rPr>
                        <a:t>Rejection only</a:t>
                      </a:r>
                    </a:p>
                    <a:p>
                      <a:r>
                        <a:rPr sz="1800" b="1">
                          <a:solidFill>
                            <a:srgbClr val="FFFFFF"/>
                          </a:solidFill>
                          <a:latin typeface="Arial"/>
                          <a:ea typeface="Arial"/>
                          <a:cs typeface="Arial"/>
                        </a:rPr>
                        <a:t>Accuracy</a:t>
                      </a:r>
                    </a:p>
                  </a:txBody>
                  <a:tcPr marL="142875" marR="114300" marT="114300" marB="114300">
                    <a:solidFill>
                      <a:srgbClr val="255C4D"/>
                    </a:solidFill>
                  </a:tcPr>
                </a:tc>
                <a:tc>
                  <a:txBody>
                    <a:bodyPr/>
                    <a:lstStyle/>
                    <a:p>
                      <a:r>
                        <a:rPr sz="1800" b="1">
                          <a:solidFill>
                            <a:srgbClr val="FFFFFF"/>
                          </a:solidFill>
                          <a:latin typeface="Arial"/>
                          <a:ea typeface="Arial"/>
                          <a:cs typeface="Arial"/>
                        </a:rPr>
                        <a:t>Coverage</a:t>
                      </a:r>
                    </a:p>
                  </a:txBody>
                  <a:tcPr marL="142875" marR="114300" marT="114300" marB="114300">
                    <a:solidFill>
                      <a:srgbClr val="255C4D"/>
                    </a:solidFill>
                  </a:tcPr>
                </a:tc>
                <a:tc>
                  <a:txBody>
                    <a:bodyPr/>
                    <a:lstStyle/>
                    <a:p>
                      <a:r>
                        <a:rPr sz="1800" b="1">
                          <a:solidFill>
                            <a:srgbClr val="FFFFFF"/>
                          </a:solidFill>
                          <a:latin typeface="Arial"/>
                          <a:ea typeface="Arial"/>
                          <a:cs typeface="Arial"/>
                        </a:rPr>
                        <a:t>Recovery + rejection</a:t>
                      </a:r>
                    </a:p>
                    <a:p>
                      <a:r>
                        <a:rPr sz="1800" b="1">
                          <a:solidFill>
                            <a:srgbClr val="FFFFFF"/>
                          </a:solidFill>
                          <a:latin typeface="Arial"/>
                          <a:ea typeface="Arial"/>
                          <a:cs typeface="Arial"/>
                        </a:rPr>
                        <a:t>Accuracy</a:t>
                      </a:r>
                    </a:p>
                  </a:txBody>
                  <a:tcPr marL="142875" marR="114300" marT="114300" marB="114300">
                    <a:solidFill>
                      <a:srgbClr val="255C4D"/>
                    </a:solidFill>
                  </a:tcPr>
                </a:tc>
                <a:tc>
                  <a:txBody>
                    <a:bodyPr/>
                    <a:lstStyle/>
                    <a:p>
                      <a:r>
                        <a:rPr sz="1800" b="1">
                          <a:solidFill>
                            <a:srgbClr val="FFFFFF"/>
                          </a:solidFill>
                          <a:latin typeface="Arial"/>
                          <a:ea typeface="Arial"/>
                          <a:cs typeface="Arial"/>
                        </a:rPr>
                        <a:t>Coverage</a:t>
                      </a:r>
                    </a:p>
                  </a:txBody>
                  <a:tcPr marL="142875" marR="114300" marT="114300" marB="114300">
                    <a:solidFill>
                      <a:srgbClr val="255C4D"/>
                    </a:solidFill>
                  </a:tcPr>
                </a:tc>
              </a:tr>
              <a:tr h="592138">
                <a:tc>
                  <a:txBody>
                    <a:bodyPr/>
                    <a:lstStyle/>
                    <a:p>
                      <a:r>
                        <a:rPr sz="1800">
                          <a:solidFill>
                            <a:srgbClr val="182D35"/>
                          </a:solidFill>
                          <a:latin typeface="Arial"/>
                          <a:ea typeface="Arial"/>
                          <a:cs typeface="Arial"/>
                        </a:rPr>
                        <a:t>Original poses</a:t>
                      </a:r>
                    </a:p>
                  </a:txBody>
                  <a:tcPr marL="142875" marR="114300" marT="114300" marB="114300">
                    <a:solidFill>
                      <a:srgbClr val="FFFFFF"/>
                    </a:solidFill>
                  </a:tcPr>
                </a:tc>
                <a:tc>
                  <a:txBody>
                    <a:bodyPr/>
                    <a:lstStyle/>
                    <a:p>
                      <a:r>
                        <a:rPr sz="1800">
                          <a:solidFill>
                            <a:srgbClr val="182D35"/>
                          </a:solidFill>
                          <a:latin typeface="Arial"/>
                          <a:ea typeface="Arial"/>
                          <a:cs typeface="Arial"/>
                        </a:rPr>
                        <a:t>33.9%</a:t>
                      </a:r>
                    </a:p>
                  </a:txBody>
                  <a:tcPr marL="142875" marR="114300" marT="114300" marB="114300">
                    <a:solidFill>
                      <a:srgbClr val="FFFFFF"/>
                    </a:solidFill>
                  </a:tcPr>
                </a:tc>
                <a:tc>
                  <a:txBody>
                    <a:bodyPr/>
                    <a:lstStyle/>
                    <a:p>
                      <a:r>
                        <a:rPr sz="1800">
                          <a:solidFill>
                            <a:srgbClr val="182D35"/>
                          </a:solidFill>
                          <a:latin typeface="Arial"/>
                          <a:ea typeface="Arial"/>
                          <a:cs typeface="Arial"/>
                        </a:rPr>
                        <a:t>84.0%</a:t>
                      </a:r>
                    </a:p>
                  </a:txBody>
                  <a:tcPr marL="142875" marR="114300" marT="114300" marB="114300">
                    <a:solidFill>
                      <a:srgbClr val="FFFFFF"/>
                    </a:solidFill>
                  </a:tcPr>
                </a:tc>
                <a:tc>
                  <a:txBody>
                    <a:bodyPr/>
                    <a:lstStyle/>
                    <a:p>
                      <a:r>
                        <a:rPr sz="1800">
                          <a:solidFill>
                            <a:srgbClr val="182D35"/>
                          </a:solidFill>
                          <a:latin typeface="Arial"/>
                          <a:ea typeface="Arial"/>
                          <a:cs typeface="Arial"/>
                        </a:rPr>
                        <a:t>33.8%</a:t>
                      </a:r>
                    </a:p>
                  </a:txBody>
                  <a:tcPr marL="142875" marR="114300" marT="114300" marB="114300">
                    <a:solidFill>
                      <a:srgbClr val="FFFFFF"/>
                    </a:solidFill>
                  </a:tcPr>
                </a:tc>
                <a:tc>
                  <a:txBody>
                    <a:bodyPr/>
                    <a:lstStyle/>
                    <a:p>
                      <a:r>
                        <a:rPr sz="1800">
                          <a:solidFill>
                            <a:srgbClr val="182D35"/>
                          </a:solidFill>
                          <a:latin typeface="Arial"/>
                          <a:ea typeface="Arial"/>
                          <a:cs typeface="Arial"/>
                        </a:rPr>
                        <a:t>85.0%</a:t>
                      </a:r>
                    </a:p>
                  </a:txBody>
                  <a:tcPr marL="142875" marR="114300" marT="114300" marB="114300">
                    <a:solidFill>
                      <a:srgbClr val="FFFFFF"/>
                    </a:solidFill>
                  </a:tcPr>
                </a:tc>
              </a:tr>
              <a:tr h="592138">
                <a:tc>
                  <a:txBody>
                    <a:bodyPr/>
                    <a:lstStyle/>
                    <a:p>
                      <a:r>
                        <a:rPr sz="1800">
                          <a:solidFill>
                            <a:srgbClr val="182D35"/>
                          </a:solidFill>
                          <a:latin typeface="Arial"/>
                          <a:ea typeface="Arial"/>
                          <a:cs typeface="Arial"/>
                        </a:rPr>
                        <a:t>Joint loss, 5 frames</a:t>
                      </a:r>
                    </a:p>
                  </a:txBody>
                  <a:tcPr marL="142875" marR="114300" marT="114300" marB="114300">
                    <a:solidFill>
                      <a:srgbClr val="EBF0EC"/>
                    </a:solidFill>
                  </a:tcPr>
                </a:tc>
                <a:tc>
                  <a:txBody>
                    <a:bodyPr/>
                    <a:lstStyle/>
                    <a:p>
                      <a:r>
                        <a:rPr sz="1800">
                          <a:solidFill>
                            <a:srgbClr val="182D35"/>
                          </a:solidFill>
                          <a:latin typeface="Arial"/>
                          <a:ea typeface="Arial"/>
                          <a:cs typeface="Arial"/>
                        </a:rPr>
                        <a:t>15.0%</a:t>
                      </a:r>
                    </a:p>
                  </a:txBody>
                  <a:tcPr marL="142875" marR="114300" marT="114300" marB="114300">
                    <a:solidFill>
                      <a:srgbClr val="EBF0EC"/>
                    </a:solidFill>
                  </a:tcPr>
                </a:tc>
                <a:tc>
                  <a:txBody>
                    <a:bodyPr/>
                    <a:lstStyle/>
                    <a:p>
                      <a:r>
                        <a:rPr sz="1800">
                          <a:solidFill>
                            <a:srgbClr val="182D35"/>
                          </a:solidFill>
                          <a:latin typeface="Arial"/>
                          <a:ea typeface="Arial"/>
                          <a:cs typeface="Arial"/>
                        </a:rPr>
                        <a:t>76.5%</a:t>
                      </a:r>
                    </a:p>
                  </a:txBody>
                  <a:tcPr marL="142875" marR="114300" marT="114300" marB="114300">
                    <a:solidFill>
                      <a:srgbClr val="EBF0EC"/>
                    </a:solidFill>
                  </a:tcPr>
                </a:tc>
                <a:tc>
                  <a:txBody>
                    <a:bodyPr/>
                    <a:lstStyle/>
                    <a:p>
                      <a:r>
                        <a:rPr sz="1800">
                          <a:solidFill>
                            <a:srgbClr val="182D35"/>
                          </a:solidFill>
                          <a:latin typeface="Arial"/>
                          <a:ea typeface="Arial"/>
                          <a:cs typeface="Arial"/>
                        </a:rPr>
                        <a:t>19.1%</a:t>
                      </a:r>
                    </a:p>
                  </a:txBody>
                  <a:tcPr marL="142875" marR="114300" marT="114300" marB="114300">
                    <a:solidFill>
                      <a:srgbClr val="EBF0EC"/>
                    </a:solidFill>
                  </a:tcPr>
                </a:tc>
                <a:tc>
                  <a:txBody>
                    <a:bodyPr/>
                    <a:lstStyle/>
                    <a:p>
                      <a:r>
                        <a:rPr sz="1800">
                          <a:solidFill>
                            <a:srgbClr val="182D35"/>
                          </a:solidFill>
                          <a:latin typeface="Arial"/>
                          <a:ea typeface="Arial"/>
                          <a:cs typeface="Arial"/>
                        </a:rPr>
                        <a:t>78.5%</a:t>
                      </a:r>
                    </a:p>
                  </a:txBody>
                  <a:tcPr marL="142875" marR="114300" marT="114300" marB="114300">
                    <a:solidFill>
                      <a:srgbClr val="EBF0EC"/>
                    </a:solidFill>
                  </a:tcPr>
                </a:tc>
              </a:tr>
              <a:tr h="592138">
                <a:tc>
                  <a:txBody>
                    <a:bodyPr/>
                    <a:lstStyle/>
                    <a:p>
                      <a:r>
                        <a:rPr sz="1800">
                          <a:solidFill>
                            <a:srgbClr val="182D35"/>
                          </a:solidFill>
                          <a:latin typeface="Arial"/>
                          <a:ea typeface="Arial"/>
                          <a:cs typeface="Arial"/>
                        </a:rPr>
                        <a:t>Limb loss, 5 frames</a:t>
                      </a:r>
                    </a:p>
                  </a:txBody>
                  <a:tcPr marL="142875" marR="114300" marT="114300" marB="114300">
                    <a:solidFill>
                      <a:srgbClr val="FFFFFF"/>
                    </a:solidFill>
                  </a:tcPr>
                </a:tc>
                <a:tc>
                  <a:txBody>
                    <a:bodyPr/>
                    <a:lstStyle/>
                    <a:p>
                      <a:r>
                        <a:rPr sz="1800">
                          <a:solidFill>
                            <a:srgbClr val="182D35"/>
                          </a:solidFill>
                          <a:latin typeface="Arial"/>
                          <a:ea typeface="Arial"/>
                          <a:cs typeface="Arial"/>
                        </a:rPr>
                        <a:t>18.2%</a:t>
                      </a:r>
                    </a:p>
                  </a:txBody>
                  <a:tcPr marL="142875" marR="114300" marT="114300" marB="114300">
                    <a:solidFill>
                      <a:srgbClr val="FFFFFF"/>
                    </a:solidFill>
                  </a:tcPr>
                </a:tc>
                <a:tc>
                  <a:txBody>
                    <a:bodyPr/>
                    <a:lstStyle/>
                    <a:p>
                      <a:r>
                        <a:rPr sz="1800">
                          <a:solidFill>
                            <a:srgbClr val="182D35"/>
                          </a:solidFill>
                          <a:latin typeface="Arial"/>
                          <a:ea typeface="Arial"/>
                          <a:cs typeface="Arial"/>
                        </a:rPr>
                        <a:t>79.8%</a:t>
                      </a:r>
                    </a:p>
                  </a:txBody>
                  <a:tcPr marL="142875" marR="114300" marT="114300" marB="114300">
                    <a:solidFill>
                      <a:srgbClr val="FFFFFF"/>
                    </a:solidFill>
                  </a:tcPr>
                </a:tc>
                <a:tc>
                  <a:txBody>
                    <a:bodyPr/>
                    <a:lstStyle/>
                    <a:p>
                      <a:r>
                        <a:rPr sz="1800">
                          <a:solidFill>
                            <a:srgbClr val="182D35"/>
                          </a:solidFill>
                          <a:latin typeface="Arial"/>
                          <a:ea typeface="Arial"/>
                          <a:cs typeface="Arial"/>
                        </a:rPr>
                        <a:t>22.0%</a:t>
                      </a:r>
                    </a:p>
                  </a:txBody>
                  <a:tcPr marL="142875" marR="114300" marT="114300" marB="114300">
                    <a:solidFill>
                      <a:srgbClr val="FFFFFF"/>
                    </a:solidFill>
                  </a:tcPr>
                </a:tc>
                <a:tc>
                  <a:txBody>
                    <a:bodyPr/>
                    <a:lstStyle/>
                    <a:p>
                      <a:r>
                        <a:rPr sz="1800">
                          <a:solidFill>
                            <a:srgbClr val="182D35"/>
                          </a:solidFill>
                          <a:latin typeface="Arial"/>
                          <a:ea typeface="Arial"/>
                          <a:cs typeface="Arial"/>
                        </a:rPr>
                        <a:t>80.8%</a:t>
                      </a:r>
                    </a:p>
                  </a:txBody>
                  <a:tcPr marL="142875" marR="114300" marT="114300" marB="114300">
                    <a:solidFill>
                      <a:srgbClr val="FFFFFF"/>
                    </a:solidFill>
                  </a:tcPr>
                </a:tc>
              </a:tr>
              <a:tr h="592138">
                <a:tc>
                  <a:txBody>
                    <a:bodyPr/>
                    <a:lstStyle/>
                    <a:p>
                      <a:r>
                        <a:rPr sz="1800">
                          <a:solidFill>
                            <a:srgbClr val="182D35"/>
                          </a:solidFill>
                          <a:latin typeface="Arial"/>
                          <a:ea typeface="Arial"/>
                          <a:cs typeface="Arial"/>
                        </a:rPr>
                        <a:t>Joint loss, 15 frames</a:t>
                      </a:r>
                    </a:p>
                  </a:txBody>
                  <a:tcPr marL="142875" marR="114300" marT="114300" marB="114300">
                    <a:solidFill>
                      <a:srgbClr val="EBF0EC"/>
                    </a:solidFill>
                  </a:tcPr>
                </a:tc>
                <a:tc>
                  <a:txBody>
                    <a:bodyPr/>
                    <a:lstStyle/>
                    <a:p>
                      <a:r>
                        <a:rPr sz="1800">
                          <a:solidFill>
                            <a:srgbClr val="182D35"/>
                          </a:solidFill>
                          <a:latin typeface="Arial"/>
                          <a:ea typeface="Arial"/>
                          <a:cs typeface="Arial"/>
                        </a:rPr>
                        <a:t>18.5%</a:t>
                      </a:r>
                    </a:p>
                  </a:txBody>
                  <a:tcPr marL="142875" marR="114300" marT="114300" marB="114300">
                    <a:solidFill>
                      <a:srgbClr val="EBF0EC"/>
                    </a:solidFill>
                  </a:tcPr>
                </a:tc>
                <a:tc>
                  <a:txBody>
                    <a:bodyPr/>
                    <a:lstStyle/>
                    <a:p>
                      <a:r>
                        <a:rPr sz="1800">
                          <a:solidFill>
                            <a:srgbClr val="182D35"/>
                          </a:solidFill>
                          <a:latin typeface="Arial"/>
                          <a:ea typeface="Arial"/>
                          <a:cs typeface="Arial"/>
                        </a:rPr>
                        <a:t>78.3%</a:t>
                      </a:r>
                    </a:p>
                  </a:txBody>
                  <a:tcPr marL="142875" marR="114300" marT="114300" marB="114300">
                    <a:solidFill>
                      <a:srgbClr val="EBF0EC"/>
                    </a:solidFill>
                  </a:tcPr>
                </a:tc>
                <a:tc>
                  <a:txBody>
                    <a:bodyPr/>
                    <a:lstStyle/>
                    <a:p>
                      <a:r>
                        <a:rPr sz="1800">
                          <a:solidFill>
                            <a:srgbClr val="182D35"/>
                          </a:solidFill>
                          <a:latin typeface="Arial"/>
                          <a:ea typeface="Arial"/>
                          <a:cs typeface="Arial"/>
                        </a:rPr>
                        <a:t>18.4%</a:t>
                      </a:r>
                    </a:p>
                  </a:txBody>
                  <a:tcPr marL="142875" marR="114300" marT="114300" marB="114300">
                    <a:solidFill>
                      <a:srgbClr val="EBF0EC"/>
                    </a:solidFill>
                  </a:tcPr>
                </a:tc>
                <a:tc>
                  <a:txBody>
                    <a:bodyPr/>
                    <a:lstStyle/>
                    <a:p>
                      <a:r>
                        <a:rPr sz="1800">
                          <a:solidFill>
                            <a:srgbClr val="182D35"/>
                          </a:solidFill>
                          <a:latin typeface="Arial"/>
                          <a:ea typeface="Arial"/>
                          <a:cs typeface="Arial"/>
                        </a:rPr>
                        <a:t>80.0%</a:t>
                      </a:r>
                    </a:p>
                  </a:txBody>
                  <a:tcPr marL="142875" marR="114300" marT="114300" marB="114300">
                    <a:solidFill>
                      <a:srgbClr val="EBF0EC"/>
                    </a:solidFill>
                  </a:tcPr>
                </a:tc>
              </a:tr>
              <a:tr h="592138">
                <a:tc>
                  <a:txBody>
                    <a:bodyPr/>
                    <a:lstStyle/>
                    <a:p>
                      <a:r>
                        <a:rPr sz="1800">
                          <a:solidFill>
                            <a:srgbClr val="182D35"/>
                          </a:solidFill>
                          <a:latin typeface="Arial"/>
                          <a:ea typeface="Arial"/>
                          <a:cs typeface="Arial"/>
                        </a:rPr>
                        <a:t>Coordinate noise</a:t>
                      </a:r>
                    </a:p>
                  </a:txBody>
                  <a:tcPr marL="142875" marR="114300" marT="114300" marB="114300">
                    <a:solidFill>
                      <a:srgbClr val="FFFFFF"/>
                    </a:solidFill>
                  </a:tcPr>
                </a:tc>
                <a:tc>
                  <a:txBody>
                    <a:bodyPr/>
                    <a:lstStyle/>
                    <a:p>
                      <a:r>
                        <a:rPr sz="1800">
                          <a:solidFill>
                            <a:srgbClr val="182D35"/>
                          </a:solidFill>
                          <a:latin typeface="Arial"/>
                          <a:ea typeface="Arial"/>
                          <a:cs typeface="Arial"/>
                        </a:rPr>
                        <a:t>11.5%</a:t>
                      </a:r>
                    </a:p>
                  </a:txBody>
                  <a:tcPr marL="142875" marR="114300" marT="114300" marB="114300">
                    <a:solidFill>
                      <a:srgbClr val="FFFFFF"/>
                    </a:solidFill>
                  </a:tcPr>
                </a:tc>
                <a:tc>
                  <a:txBody>
                    <a:bodyPr/>
                    <a:lstStyle/>
                    <a:p>
                      <a:r>
                        <a:rPr sz="1800">
                          <a:solidFill>
                            <a:srgbClr val="182D35"/>
                          </a:solidFill>
                          <a:latin typeface="Arial"/>
                          <a:ea typeface="Arial"/>
                          <a:cs typeface="Arial"/>
                        </a:rPr>
                        <a:t>86.8%</a:t>
                      </a:r>
                    </a:p>
                  </a:txBody>
                  <a:tcPr marL="142875" marR="114300" marT="114300" marB="114300">
                    <a:solidFill>
                      <a:srgbClr val="FFFFFF"/>
                    </a:solidFill>
                  </a:tcPr>
                </a:tc>
                <a:tc>
                  <a:txBody>
                    <a:bodyPr/>
                    <a:lstStyle/>
                    <a:p>
                      <a:r>
                        <a:rPr sz="1800">
                          <a:solidFill>
                            <a:srgbClr val="182D35"/>
                          </a:solidFill>
                          <a:latin typeface="Arial"/>
                          <a:ea typeface="Arial"/>
                          <a:cs typeface="Arial"/>
                        </a:rPr>
                        <a:t>12.6%</a:t>
                      </a:r>
                    </a:p>
                  </a:txBody>
                  <a:tcPr marL="142875" marR="114300" marT="114300" marB="114300">
                    <a:solidFill>
                      <a:srgbClr val="FFFFFF"/>
                    </a:solidFill>
                  </a:tcPr>
                </a:tc>
                <a:tc>
                  <a:txBody>
                    <a:bodyPr/>
                    <a:lstStyle/>
                    <a:p>
                      <a:r>
                        <a:rPr sz="1800">
                          <a:solidFill>
                            <a:srgbClr val="182D35"/>
                          </a:solidFill>
                          <a:latin typeface="Arial"/>
                          <a:ea typeface="Arial"/>
                          <a:cs typeface="Arial"/>
                        </a:rPr>
                        <a:t>85.5%</a:t>
                      </a:r>
                    </a:p>
                  </a:txBody>
                  <a:tcPr marL="142875" marR="11430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CF40ABD-6592-410A-826F-412F80B12C6D}"/>
              </a:ext>
            </a:extLst>
          </p:cNvPr>
          <p:cNvSpPr>
            <a:spLocks xmlns:a="http://schemas.openxmlformats.org/drawingml/2006/main" noGrp="1"/>
          </p:cNvSpPr>
          <p:nvPr/>
        </p:nvSpPr>
        <p:spPr>
          <a:xfrm xmlns:a="http://schemas.openxmlformats.org/drawingml/2006/main">
            <a:off x="6858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82D35"/>
                </a:solidFill>
                <a:latin typeface="Arial"/>
                <a:ea typeface="Arial"/>
                <a:cs typeface="Arial"/>
              </a:defRPr>
            </a:defPPr>
          </a:lstStyle>
          <a:p xmlns:a="http://schemas.openxmlformats.org/drawingml/2006/main">
            <a:pPr>
              <a:defRPr sz="1950" b="0">
                <a:solidFill>
                  <a:srgbClr val="182D35"/>
                </a:solidFill>
                <a:latin typeface="Arial"/>
                <a:ea typeface="Arial"/>
                <a:cs typeface="Arial"/>
              </a:defRPr>
            </a:pPr>
            <a:r>
              <a:rPr sz="1950" b="0">
                <a:solidFill>
                  <a:srgbClr val="182D35"/>
                </a:solidFill>
                <a:latin typeface="Arial"/>
                <a:ea typeface="Arial"/>
                <a:cs typeface="Arial"/>
              </a:rPr>
              <a:t>Score thresholds: 0.08 original, 0.08 with recovery</a:t>
            </a:r>
          </a:p>
        </p:txBody>
      </p:sp>
    </p:spTree>
    <p:extLst>
      <p:ext uri="{BB962C8B-B14F-4D97-AF65-F5344CB8AC3E}">
        <p14:creationId xmlns:p14="http://schemas.microsoft.com/office/powerpoint/2010/main" val="1993239998"/>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68889C-4EB1-49BE-B3CF-FFFC3054C0BE}"/>
              </a:ext>
            </a:extLst>
          </p:cNvPr>
          <p:cNvSpPr>
            <a:spLocks xmlns:a="http://schemas.openxmlformats.org/drawingml/2006/main" noGrp="1"/>
          </p:cNvSpPr>
          <p:nvPr/>
        </p:nvSpPr>
        <p:spPr>
          <a:xfrm xmlns:a="http://schemas.openxmlformats.org/drawingml/2006/main">
            <a:off x="647700" y="4572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D35"/>
                </a:solidFill>
                <a:latin typeface="Arial"/>
                <a:ea typeface="Arial"/>
                <a:cs typeface="Arial"/>
              </a:defRPr>
            </a:defPPr>
          </a:lstStyle>
          <a:p xmlns:a="http://schemas.openxmlformats.org/drawingml/2006/main">
            <a:pPr>
              <a:defRPr sz="3300" b="1">
                <a:solidFill>
                  <a:srgbClr val="182D35"/>
                </a:solidFill>
                <a:latin typeface="Arial"/>
                <a:ea typeface="Arial"/>
                <a:cs typeface="Arial"/>
              </a:defRPr>
            </a:pPr>
            <a:r>
              <a:rPr sz="3300" b="1">
                <a:solidFill>
                  <a:srgbClr val="182D35"/>
                </a:solidFill>
                <a:latin typeface="Arial"/>
                <a:ea typeface="Arial"/>
                <a:cs typeface="Arial"/>
              </a:rPr>
              <a:t>Limits and demonstration</a:t>
            </a:r>
          </a:p>
        </p:txBody>
      </p:sp>
      <p:sp>
        <p:nvSpPr>
          <p:cNvPr id="2" name="">
            <a:extLst xmlns:a="http://schemas.openxmlformats.org/drawingml/2006/main">
              <a:ext uri="{FF2B5EF4-FFF2-40B4-BE49-F238E27FC236}">
                <a16:creationId xmlns:a16="http://schemas.microsoft.com/office/drawing/2014/main" id="{6A22C8C2-DA26-473A-8835-B5EB97554905}"/>
              </a:ext>
            </a:extLst>
          </p:cNvPr>
          <p:cNvSpPr>
            <a:spLocks xmlns:a="http://schemas.openxmlformats.org/drawingml/2006/main" noGrp="1"/>
          </p:cNvSpPr>
          <p:nvPr/>
        </p:nvSpPr>
        <p:spPr>
          <a:xfrm xmlns:a="http://schemas.openxmlformats.org/drawingml/2006/main">
            <a:off x="666750" y="63627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65767B"/>
                </a:solidFill>
                <a:latin typeface="Arial"/>
                <a:ea typeface="Arial"/>
                <a:cs typeface="Arial"/>
              </a:defRPr>
            </a:defPPr>
          </a:lstStyle>
          <a:p xmlns:a="http://schemas.openxmlformats.org/drawingml/2006/main">
            <a:pPr>
              <a:defRPr sz="1275" b="0">
                <a:solidFill>
                  <a:srgbClr val="65767B"/>
                </a:solidFill>
                <a:latin typeface="Arial"/>
                <a:ea typeface="Arial"/>
                <a:cs typeface="Arial"/>
              </a:defRPr>
            </a:pPr>
            <a:r>
              <a:rPr sz="1275" b="0">
                <a:solidFill>
                  <a:srgbClr val="65767B"/>
                </a:solidFill>
                <a:latin typeface="Arial"/>
                <a:ea typeface="Arial"/>
                <a:cs typeface="Arial"/>
              </a:rPr>
              <a:t>PoseLab  /  IIIT Dharwad</a:t>
            </a:r>
          </a:p>
        </p:txBody>
      </p:sp>
      <p:sp>
        <p:nvSpPr>
          <p:cNvPr id="3" name="">
            <a:extLst xmlns:a="http://schemas.openxmlformats.org/drawingml/2006/main">
              <a:ext uri="{FF2B5EF4-FFF2-40B4-BE49-F238E27FC236}">
                <a16:creationId xmlns:a16="http://schemas.microsoft.com/office/drawing/2014/main" id="{54B97873-21C3-40D3-A472-45BABA545173}"/>
              </a:ext>
            </a:extLst>
          </p:cNvPr>
          <p:cNvSpPr>
            <a:spLocks xmlns:a="http://schemas.openxmlformats.org/drawingml/2006/main" noGrp="1"/>
          </p:cNvSpPr>
          <p:nvPr/>
        </p:nvSpPr>
        <p:spPr>
          <a:xfrm xmlns:a="http://schemas.openxmlformats.org/drawingml/2006/main">
            <a:off x="11144250" y="63246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67B"/>
                </a:solidFill>
                <a:latin typeface="Arial"/>
                <a:ea typeface="Arial"/>
                <a:cs typeface="Arial"/>
              </a:defRPr>
            </a:defPPr>
          </a:lstStyle>
          <a:p xmlns:a="http://schemas.openxmlformats.org/drawingml/2006/main">
            <a:pPr>
              <a:defRPr sz="1575" b="0">
                <a:solidFill>
                  <a:srgbClr val="65767B"/>
                </a:solidFill>
                <a:latin typeface="Arial"/>
                <a:ea typeface="Arial"/>
                <a:cs typeface="Arial"/>
              </a:defRPr>
            </a:pPr>
            <a:r>
              <a:rPr sz="1575" b="0">
                <a:solidFill>
                  <a:srgbClr val="65767B"/>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9C26160A-47EC-40EF-BA9D-F8863A7735A1}"/>
              </a:ext>
            </a:extLst>
          </p:cNvPr>
          <p:cNvSpPr>
            <a:spLocks xmlns:a="http://schemas.openxmlformats.org/drawingml/2006/main" noGrp="1"/>
          </p:cNvSpPr>
          <p:nvPr/>
        </p:nvSpPr>
        <p:spPr>
          <a:xfrm xmlns:a="http://schemas.openxmlformats.org/drawingml/2006/main">
            <a:off x="685800" y="15525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55C4D"/>
                </a:solidFill>
                <a:latin typeface="Arial"/>
                <a:ea typeface="Arial"/>
                <a:cs typeface="Arial"/>
              </a:defRPr>
            </a:defPPr>
          </a:lstStyle>
          <a:p xmlns:a="http://schemas.openxmlformats.org/drawingml/2006/main">
            <a:pPr>
              <a:defRPr sz="2250" b="1">
                <a:solidFill>
                  <a:srgbClr val="255C4D"/>
                </a:solidFill>
                <a:latin typeface="Arial"/>
                <a:ea typeface="Arial"/>
                <a:cs typeface="Arial"/>
              </a:defRPr>
            </a:pPr>
            <a:r>
              <a:rPr sz="2250" b="1">
                <a:solidFill>
                  <a:srgbClr val="255C4D"/>
                </a:solidFill>
                <a:latin typeface="Arial"/>
                <a:ea typeface="Arial"/>
                <a:cs typeface="Arial"/>
              </a:rPr>
              <a:t>What the experiment supports</a:t>
            </a:r>
          </a:p>
        </p:txBody>
      </p:sp>
      <p:sp>
        <p:nvSpPr>
          <p:cNvPr id="5" name="">
            <a:extLst xmlns:a="http://schemas.openxmlformats.org/drawingml/2006/main">
              <a:ext uri="{FF2B5EF4-FFF2-40B4-BE49-F238E27FC236}">
                <a16:creationId xmlns:a16="http://schemas.microsoft.com/office/drawing/2014/main" id="{2D90A82D-EFBD-4E8F-B933-CEB02765D30F}"/>
              </a:ext>
            </a:extLst>
          </p:cNvPr>
          <p:cNvSpPr>
            <a:spLocks xmlns:a="http://schemas.openxmlformats.org/drawingml/2006/main" noGrp="1"/>
          </p:cNvSpPr>
          <p:nvPr/>
        </p:nvSpPr>
        <p:spPr>
          <a:xfrm xmlns:a="http://schemas.openxmlformats.org/drawingml/2006/main">
            <a:off x="685800" y="231457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82D35"/>
                </a:solidFill>
                <a:latin typeface="Arial"/>
                <a:ea typeface="Arial"/>
                <a:cs typeface="Arial"/>
              </a:defRPr>
            </a:defPPr>
          </a:lstStyle>
          <a:p xmlns:a="http://schemas.openxmlformats.org/drawingml/2006/main">
            <a:pPr>
              <a:defRPr sz="2325" b="0">
                <a:solidFill>
                  <a:srgbClr val="182D35"/>
                </a:solidFill>
                <a:latin typeface="Arial"/>
                <a:ea typeface="Arial"/>
                <a:cs typeface="Arial"/>
              </a:defRPr>
            </a:pPr>
            <a:r>
              <a:rPr sz="2325" b="0">
                <a:solidFill>
                  <a:srgbClr val="182D35"/>
                </a:solidFill>
                <a:latin typeface="Arial"/>
                <a:ea typeface="Arial"/>
                <a:cs typeface="Arial"/>
              </a:rPr>
              <a:t>A measured study of a small</a:t>
            </a:r>
          </a:p>
          <a:p xmlns:a="http://schemas.openxmlformats.org/drawingml/2006/main">
            <a:pPr>
              <a:defRPr sz="2325" b="0">
                <a:solidFill>
                  <a:srgbClr val="182D35"/>
                </a:solidFill>
                <a:latin typeface="Arial"/>
                <a:ea typeface="Arial"/>
                <a:cs typeface="Arial"/>
              </a:defRPr>
            </a:pPr>
            <a:r>
              <a:rPr sz="2325" b="0">
                <a:solidFill>
                  <a:srgbClr val="182D35"/>
                </a:solidFill>
                <a:latin typeface="Arial"/>
                <a:ea typeface="Arial"/>
                <a:cs typeface="Arial"/>
              </a:rPr>
              <a:t>recovery extension</a:t>
            </a:r>
          </a:p>
        </p:txBody>
      </p:sp>
      <p:sp>
        <p:nvSpPr>
          <p:cNvPr id="6" name="">
            <a:extLst xmlns:a="http://schemas.openxmlformats.org/drawingml/2006/main">
              <a:ext uri="{FF2B5EF4-FFF2-40B4-BE49-F238E27FC236}">
                <a16:creationId xmlns:a16="http://schemas.microsoft.com/office/drawing/2014/main" id="{28AB0DBA-1CE3-4F6B-8CBD-593B6FC9332D}"/>
              </a:ext>
            </a:extLst>
          </p:cNvPr>
          <p:cNvSpPr>
            <a:spLocks xmlns:a="http://schemas.openxmlformats.org/drawingml/2006/main" noGrp="1"/>
          </p:cNvSpPr>
          <p:nvPr/>
        </p:nvSpPr>
        <p:spPr>
          <a:xfrm xmlns:a="http://schemas.openxmlformats.org/drawingml/2006/main">
            <a:off x="685800" y="3829050"/>
            <a:ext cx="5238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65767B"/>
                </a:solidFill>
                <a:latin typeface="Arial"/>
                <a:ea typeface="Arial"/>
                <a:cs typeface="Arial"/>
              </a:defRPr>
            </a:defPPr>
          </a:lstStyle>
          <a:p xmlns:a="http://schemas.openxmlformats.org/drawingml/2006/main">
            <a:pPr>
              <a:defRPr sz="2025" b="0">
                <a:solidFill>
                  <a:srgbClr val="65767B"/>
                </a:solidFill>
                <a:latin typeface="Arial"/>
                <a:ea typeface="Arial"/>
                <a:cs typeface="Arial"/>
              </a:defRPr>
            </a:pPr>
            <a:r>
              <a:rPr sz="2025" b="0">
                <a:solidFill>
                  <a:srgbClr val="65767B"/>
                </a:solidFill>
                <a:latin typeface="Arial"/>
                <a:ea typeface="Arial"/>
                <a:cs typeface="Arial"/>
              </a:rPr>
              <a:t>Sampled validation clips</a:t>
            </a:r>
          </a:p>
          <a:p xmlns:a="http://schemas.openxmlformats.org/drawingml/2006/main">
            <a:pPr>
              <a:defRPr sz="2025" b="0">
                <a:solidFill>
                  <a:srgbClr val="65767B"/>
                </a:solidFill>
                <a:latin typeface="Arial"/>
                <a:ea typeface="Arial"/>
                <a:cs typeface="Arial"/>
              </a:defRPr>
            </a:pPr>
            <a:r>
              <a:rPr sz="2025" b="0">
                <a:solidFill>
                  <a:srgbClr val="65767B"/>
                </a:solidFill>
                <a:latin typeface="Arial"/>
                <a:ea typeface="Arial"/>
                <a:cs typeface="Arial"/>
              </a:rPr>
              <a:t>Synthetic missing joints and noise</a:t>
            </a:r>
          </a:p>
          <a:p xmlns:a="http://schemas.openxmlformats.org/drawingml/2006/main">
            <a:pPr>
              <a:defRPr sz="2025" b="0">
                <a:solidFill>
                  <a:srgbClr val="65767B"/>
                </a:solidFill>
                <a:latin typeface="Arial"/>
                <a:ea typeface="Arial"/>
                <a:cs typeface="Arial"/>
              </a:defRPr>
            </a:pPr>
            <a:r>
              <a:rPr sz="2025" b="0">
                <a:solidFill>
                  <a:srgbClr val="65767B"/>
                </a:solidFill>
                <a:latin typeface="Arial"/>
                <a:ea typeface="Arial"/>
                <a:cs typeface="Arial"/>
              </a:rPr>
              <a:t>Person slots can change identity</a:t>
            </a:r>
          </a:p>
        </p:txBody>
      </p:sp>
      <p:sp>
        <p:nvSpPr>
          <p:cNvPr id="7" name="">
            <a:extLst xmlns:a="http://schemas.openxmlformats.org/drawingml/2006/main">
              <a:ext uri="{FF2B5EF4-FFF2-40B4-BE49-F238E27FC236}">
                <a16:creationId xmlns:a16="http://schemas.microsoft.com/office/drawing/2014/main" id="{EC23571D-B858-4D2A-98AE-AFA41C04227C}"/>
              </a:ext>
            </a:extLst>
          </p:cNvPr>
          <p:cNvSpPr>
            <a:spLocks xmlns:a="http://schemas.openxmlformats.org/drawingml/2006/main" noGrp="1"/>
          </p:cNvSpPr>
          <p:nvPr/>
        </p:nvSpPr>
        <p:spPr>
          <a:xfrm xmlns:a="http://schemas.openxmlformats.org/drawingml/2006/main">
            <a:off x="6810375" y="1552575"/>
            <a:ext cx="4724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55C4D"/>
                </a:solidFill>
                <a:latin typeface="Arial"/>
                <a:ea typeface="Arial"/>
                <a:cs typeface="Arial"/>
              </a:defRPr>
            </a:defPPr>
          </a:lstStyle>
          <a:p xmlns:a="http://schemas.openxmlformats.org/drawingml/2006/main">
            <a:pPr>
              <a:defRPr sz="2250" b="1">
                <a:solidFill>
                  <a:srgbClr val="255C4D"/>
                </a:solidFill>
                <a:latin typeface="Arial"/>
                <a:ea typeface="Arial"/>
                <a:cs typeface="Arial"/>
              </a:defRPr>
            </a:pPr>
            <a:r>
              <a:rPr sz="2250" b="1">
                <a:solidFill>
                  <a:srgbClr val="255C4D"/>
                </a:solidFill>
                <a:latin typeface="Arial"/>
                <a:ea typeface="Arial"/>
                <a:cs typeface="Arial"/>
              </a:rPr>
              <a:t>Dashboard demonstration</a:t>
            </a:r>
          </a:p>
        </p:txBody>
      </p:sp>
      <p:sp>
        <p:nvSpPr>
          <p:cNvPr id="8" name="">
            <a:extLst xmlns:a="http://schemas.openxmlformats.org/drawingml/2006/main">
              <a:ext uri="{FF2B5EF4-FFF2-40B4-BE49-F238E27FC236}">
                <a16:creationId xmlns:a16="http://schemas.microsoft.com/office/drawing/2014/main" id="{1264C0AA-FF9E-4742-9B64-F2535C026F78}"/>
              </a:ext>
            </a:extLst>
          </p:cNvPr>
          <p:cNvSpPr>
            <a:spLocks xmlns:a="http://schemas.openxmlformats.org/drawingml/2006/main" noGrp="1"/>
          </p:cNvSpPr>
          <p:nvPr/>
        </p:nvSpPr>
        <p:spPr>
          <a:xfrm xmlns:a="http://schemas.openxmlformats.org/drawingml/2006/main">
            <a:off x="6810375" y="2314575"/>
            <a:ext cx="469582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82D35"/>
                </a:solidFill>
                <a:latin typeface="Arial"/>
                <a:ea typeface="Arial"/>
                <a:cs typeface="Arial"/>
              </a:defRPr>
            </a:defPPr>
          </a:lstStyle>
          <a:p xmlns:a="http://schemas.openxmlformats.org/drawingml/2006/main">
            <a:pPr>
              <a:defRPr sz="2175" b="0">
                <a:solidFill>
                  <a:srgbClr val="182D35"/>
                </a:solidFill>
                <a:latin typeface="Arial"/>
                <a:ea typeface="Arial"/>
                <a:cs typeface="Arial"/>
              </a:defRPr>
            </a:pPr>
            <a:r>
              <a:rPr sz="2175" b="0">
                <a:solidFill>
                  <a:srgbClr val="182D35"/>
                </a:solidFill>
                <a:latin typeface="Arial"/>
                <a:ea typeface="Arial"/>
                <a:cs typeface="Arial"/>
              </a:rPr>
              <a:t>Open /research</a:t>
            </a:r>
          </a:p>
          <a:p xmlns:a="http://schemas.openxmlformats.org/drawingml/2006/main">
            <a:pPr>
              <a:defRPr sz="2175" b="0">
                <a:solidFill>
                  <a:srgbClr val="182D35"/>
                </a:solidFill>
                <a:latin typeface="Arial"/>
                <a:ea typeface="Arial"/>
                <a:cs typeface="Arial"/>
              </a:defRPr>
            </a:pPr>
            <a:r>
              <a:rPr sz="2175" b="0">
                <a:solidFill>
                  <a:srgbClr val="182D35"/>
                </a:solidFill>
                <a:latin typeface="Arial"/>
                <a:ea typeface="Arial"/>
                <a:cs typeface="Arial"/>
              </a:rPr>
              <a:t>Compare all five conditions</a:t>
            </a:r>
          </a:p>
          <a:p xmlns:a="http://schemas.openxmlformats.org/drawingml/2006/main">
            <a:pPr>
              <a:defRPr sz="2175" b="0">
                <a:solidFill>
                  <a:srgbClr val="182D35"/>
                </a:solidFill>
                <a:latin typeface="Arial"/>
                <a:ea typeface="Arial"/>
                <a:cs typeface="Arial"/>
              </a:defRPr>
            </a:pPr>
            <a:r>
              <a:rPr sz="2175" b="0">
                <a:solidFill>
                  <a:srgbClr val="182D35"/>
                </a:solidFill>
                <a:latin typeface="Arial"/>
                <a:ea typeface="Arial"/>
                <a:cs typeface="Arial"/>
              </a:rPr>
              <a:t>Play corrected and failed examples</a:t>
            </a:r>
          </a:p>
          <a:p xmlns:a="http://schemas.openxmlformats.org/drawingml/2006/main">
            <a:pPr>
              <a:defRPr sz="2175" b="0">
                <a:solidFill>
                  <a:srgbClr val="182D35"/>
                </a:solidFill>
                <a:latin typeface="Arial"/>
                <a:ea typeface="Arial"/>
                <a:cs typeface="Arial"/>
              </a:defRPr>
            </a:pPr>
            <a:r>
              <a:rPr sz="2175" b="0">
                <a:solidFill>
                  <a:srgbClr val="182D35"/>
                </a:solidFill>
                <a:latin typeface="Arial"/>
                <a:ea typeface="Arial"/>
                <a:cs typeface="Arial"/>
              </a:rPr>
              <a:t>Inspect or download the results</a:t>
            </a:r>
          </a:p>
        </p:txBody>
      </p:sp>
      <p:sp>
        <p:nvSpPr>
          <p:cNvPr id="9" name="">
            <a:extLst xmlns:a="http://schemas.openxmlformats.org/drawingml/2006/main">
              <a:ext uri="{FF2B5EF4-FFF2-40B4-BE49-F238E27FC236}">
                <a16:creationId xmlns:a16="http://schemas.microsoft.com/office/drawing/2014/main" id="{0A76B470-1AAA-4C63-A082-A94C159EC647}"/>
              </a:ext>
            </a:extLst>
          </p:cNvPr>
          <p:cNvSpPr>
            <a:spLocks xmlns:a="http://schemas.openxmlformats.org/drawingml/2006/main" noGrp="1"/>
          </p:cNvSpPr>
          <p:nvPr/>
        </p:nvSpPr>
        <p:spPr>
          <a:xfrm xmlns:a="http://schemas.openxmlformats.org/drawingml/2006/main">
            <a:off x="6810375" y="5029200"/>
            <a:ext cx="4695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65767B"/>
                </a:solidFill>
                <a:latin typeface="Arial"/>
                <a:ea typeface="Arial"/>
                <a:cs typeface="Arial"/>
              </a:defRPr>
            </a:defPPr>
          </a:lstStyle>
          <a:p xmlns:a="http://schemas.openxmlformats.org/drawingml/2006/main">
            <a:pPr>
              <a:defRPr sz="1875" b="0">
                <a:solidFill>
                  <a:srgbClr val="65767B"/>
                </a:solidFill>
                <a:latin typeface="Arial"/>
                <a:ea typeface="Arial"/>
                <a:cs typeface="Arial"/>
              </a:defRPr>
            </a:pPr>
            <a:r>
              <a:rPr sz="1875" b="0">
                <a:solidFill>
                  <a:srgbClr val="65767B"/>
                </a:solidFill>
                <a:latin typeface="Arial"/>
                <a:ea typeface="Arial"/>
                <a:cs typeface="Arial"/>
              </a:rPr>
              <a:t>The webcam lab is a separate prototype.</a:t>
            </a:r>
          </a:p>
        </p:txBody>
      </p:sp>
    </p:spTree>
    <p:extLst>
      <p:ext uri="{BB962C8B-B14F-4D97-AF65-F5344CB8AC3E}">
        <p14:creationId xmlns:p14="http://schemas.microsoft.com/office/powerpoint/2010/main" val="507713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2026-10-11T17:53:06.3120000Z</dcterms:created>
  <dcterms:modified xsi:type="dcterms:W3CDTF">2026-10-11T17:53:06.3120000Z</dcterms:modified>
</coreProperties>
</file>